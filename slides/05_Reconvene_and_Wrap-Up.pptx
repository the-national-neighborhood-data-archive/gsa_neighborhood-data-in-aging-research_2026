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autoCompressPictures="0">
  <p:sldMasterIdLst>
    <p:sldMasterId id="2147483662" r:id="rId1"/>
  </p:sldMasterIdLst>
  <p:notesMasterIdLst>
    <p:notesMasterId r:id="rId11"/>
  </p:notesMasterIdLst>
  <p:sldIdLst>
    <p:sldId id="256" r:id="rId2"/>
    <p:sldId id="259" r:id="rId3"/>
    <p:sldId id="283" r:id="rId4"/>
    <p:sldId id="262" r:id="rId5"/>
    <p:sldId id="263" r:id="rId6"/>
    <p:sldId id="264" r:id="rId7"/>
    <p:sldId id="261" r:id="rId8"/>
    <p:sldId id="286" r:id="rId9"/>
    <p:sldId id="282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9" autoAdjust="0"/>
    <p:restoredTop sz="94660"/>
  </p:normalViewPr>
  <p:slideViewPr>
    <p:cSldViewPr snapToGrid="0">
      <p:cViewPr>
        <p:scale>
          <a:sx n="124" d="100"/>
          <a:sy n="124" d="100"/>
        </p:scale>
        <p:origin x="90" y="4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Verdana"/>
      <a:defRPr sz="1400" b="0" i="0" u="none" strike="noStrike" cap="none" spc="0">
        <a:solidFill>
          <a:srgbClr val="000000"/>
        </a:solidFill>
        <a:latin typeface="Verdana"/>
        <a:ea typeface="Verdana"/>
        <a:cs typeface="Verdana"/>
        <a:sym typeface="Verdana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66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maiz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E6F4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946950" y="1097425"/>
            <a:ext cx="7250100" cy="17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Tahoma"/>
              <a:buNone/>
              <a:defRPr sz="5200" b="0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946950" y="2910325"/>
            <a:ext cx="7250100" cy="1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708"/>
              </a:buClr>
              <a:buSzPts val="2000"/>
              <a:buFont typeface="Tahoma"/>
              <a:buNone/>
              <a:defRPr sz="2000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290508" y="44450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5C666D"/>
                </a:solidFill>
              </a:defRPr>
            </a:lvl1pPr>
            <a:lvl2pPr lvl="1">
              <a:buNone/>
              <a:defRPr>
                <a:solidFill>
                  <a:srgbClr val="5C666D"/>
                </a:solidFill>
              </a:defRPr>
            </a:lvl2pPr>
            <a:lvl3pPr lvl="2">
              <a:buNone/>
              <a:defRPr>
                <a:solidFill>
                  <a:srgbClr val="5C666D"/>
                </a:solidFill>
              </a:defRPr>
            </a:lvl3pPr>
            <a:lvl4pPr lvl="3">
              <a:buNone/>
              <a:defRPr>
                <a:solidFill>
                  <a:srgbClr val="5C666D"/>
                </a:solidFill>
              </a:defRPr>
            </a:lvl4pPr>
            <a:lvl5pPr lvl="4">
              <a:buNone/>
              <a:defRPr>
                <a:solidFill>
                  <a:srgbClr val="5C666D"/>
                </a:solidFill>
              </a:defRPr>
            </a:lvl5pPr>
            <a:lvl6pPr lvl="5">
              <a:buNone/>
              <a:defRPr>
                <a:solidFill>
                  <a:srgbClr val="5C666D"/>
                </a:solidFill>
              </a:defRPr>
            </a:lvl6pPr>
            <a:lvl7pPr lvl="6">
              <a:buNone/>
              <a:defRPr>
                <a:solidFill>
                  <a:srgbClr val="5C666D"/>
                </a:solidFill>
              </a:defRPr>
            </a:lvl7pPr>
            <a:lvl8pPr lvl="7">
              <a:buNone/>
              <a:defRPr>
                <a:solidFill>
                  <a:srgbClr val="5C666D"/>
                </a:solidFill>
              </a:defRPr>
            </a:lvl8pPr>
            <a:lvl9pPr lvl="8">
              <a:buNone/>
              <a:defRPr>
                <a:solidFill>
                  <a:srgbClr val="5C666D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46825" y="644113"/>
            <a:ext cx="3186000" cy="453300"/>
          </a:xfrm>
          <a:prstGeom prst="roundRect">
            <a:avLst>
              <a:gd name="adj" fmla="val 16667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6825" y="600000"/>
            <a:ext cx="1975867" cy="43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Dark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718350" y="1149888"/>
            <a:ext cx="7250100" cy="175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Tahoma"/>
              <a:buNone/>
              <a:defRPr sz="5200" b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718350" y="3010431"/>
            <a:ext cx="7250100" cy="1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000"/>
              <a:buFont typeface="Tahoma"/>
              <a:buNone/>
              <a:defRPr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290508" y="44450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6825" y="620000"/>
            <a:ext cx="2315151" cy="4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E6F4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DE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800"/>
              <a:buChar char="●"/>
              <a:defRPr>
                <a:solidFill>
                  <a:srgbClr val="FFFEFE"/>
                </a:solidFill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600"/>
              <a:buChar char="○"/>
              <a:defRPr>
                <a:solidFill>
                  <a:srgbClr val="FFFEFE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EFE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EFE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EFE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EFE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EFE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EFE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EFE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EFE"/>
                </a:solidFill>
              </a:defRPr>
            </a:lvl1pPr>
            <a:lvl2pPr lvl="1">
              <a:buNone/>
              <a:defRPr>
                <a:solidFill>
                  <a:srgbClr val="FFFEFE"/>
                </a:solidFill>
              </a:defRPr>
            </a:lvl2pPr>
            <a:lvl3pPr lvl="2">
              <a:buNone/>
              <a:defRPr>
                <a:solidFill>
                  <a:srgbClr val="FFFEFE"/>
                </a:solidFill>
              </a:defRPr>
            </a:lvl3pPr>
            <a:lvl4pPr lvl="3">
              <a:buNone/>
              <a:defRPr>
                <a:solidFill>
                  <a:srgbClr val="FFFEFE"/>
                </a:solidFill>
              </a:defRPr>
            </a:lvl4pPr>
            <a:lvl5pPr lvl="4">
              <a:buNone/>
              <a:defRPr>
                <a:solidFill>
                  <a:srgbClr val="FFFEFE"/>
                </a:solidFill>
              </a:defRPr>
            </a:lvl5pPr>
            <a:lvl6pPr lvl="5">
              <a:buNone/>
              <a:defRPr>
                <a:solidFill>
                  <a:srgbClr val="FFFEFE"/>
                </a:solidFill>
              </a:defRPr>
            </a:lvl6pPr>
            <a:lvl7pPr lvl="6">
              <a:buNone/>
              <a:defRPr>
                <a:solidFill>
                  <a:srgbClr val="FFFEFE"/>
                </a:solidFill>
              </a:defRPr>
            </a:lvl7pPr>
            <a:lvl8pPr lvl="7">
              <a:buNone/>
              <a:defRPr>
                <a:solidFill>
                  <a:srgbClr val="FFFEFE"/>
                </a:solidFill>
              </a:defRPr>
            </a:lvl8pPr>
            <a:lvl9pPr lvl="8">
              <a:buNone/>
              <a:defRPr>
                <a:solidFill>
                  <a:srgbClr val="FFFEFE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004A9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311700" y="1251250"/>
            <a:ext cx="8520600" cy="28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412310" y="976975"/>
            <a:ext cx="1195800" cy="723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311700" y="1259600"/>
            <a:ext cx="3999900" cy="30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4832400" y="1259600"/>
            <a:ext cx="3999900" cy="30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004A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412310" y="976975"/>
            <a:ext cx="1195800" cy="723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004A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412310" y="976975"/>
            <a:ext cx="1195800" cy="723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1732050"/>
            <a:ext cx="4295700" cy="24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4295700" cy="11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004A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/>
          <p:nvPr/>
        </p:nvSpPr>
        <p:spPr>
          <a:xfrm>
            <a:off x="412310" y="1434175"/>
            <a:ext cx="1195800" cy="723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11"/>
          <p:cNvGrpSpPr/>
          <p:nvPr/>
        </p:nvGrpSpPr>
        <p:grpSpPr>
          <a:xfrm>
            <a:off x="5044267" y="1091842"/>
            <a:ext cx="3719100" cy="2949300"/>
            <a:chOff x="5044267" y="1091842"/>
            <a:chExt cx="3719100" cy="2949300"/>
          </a:xfrm>
        </p:grpSpPr>
        <p:sp>
          <p:nvSpPr>
            <p:cNvPr id="63" name="Google Shape;63;p11"/>
            <p:cNvSpPr/>
            <p:nvPr/>
          </p:nvSpPr>
          <p:spPr>
            <a:xfrm>
              <a:off x="5196667" y="1244242"/>
              <a:ext cx="3566700" cy="2796900"/>
            </a:xfrm>
            <a:prstGeom prst="rect">
              <a:avLst/>
            </a:prstGeom>
            <a:solidFill>
              <a:srgbClr val="1D9A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5044267" y="1091842"/>
              <a:ext cx="3566700" cy="279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5" name="Google Shape;65;p11"/>
            <p:cNvPicPr preferRelativeResize="0"/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6000549" y="2000313"/>
              <a:ext cx="1654150" cy="1284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311700" y="468625"/>
            <a:ext cx="5998800" cy="43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708"/>
              </a:buClr>
              <a:buSzPts val="4800"/>
              <a:buNone/>
              <a:defRPr sz="4800" b="1">
                <a:solidFill>
                  <a:srgbClr val="FFFFFF"/>
                </a:solidFill>
              </a:defRPr>
            </a:lvl1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 hasCustomPrompt="1"/>
          </p:nvPr>
        </p:nvSpPr>
        <p:spPr>
          <a:xfrm>
            <a:off x="970200" y="1116425"/>
            <a:ext cx="7203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1"/>
          </p:nvPr>
        </p:nvSpPr>
        <p:spPr>
          <a:xfrm>
            <a:off x="970200" y="3152225"/>
            <a:ext cx="7203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marL="914400" lvl="1" indent="-3302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6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35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0708"/>
              </a:buClr>
              <a:buSzPts val="3200"/>
              <a:buFont typeface="Tahoma"/>
              <a:buNone/>
              <a:defRPr sz="3200" b="1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50708"/>
              </a:buClr>
              <a:buSzPts val="1800"/>
              <a:buFont typeface="Tahoma"/>
              <a:buChar char="●"/>
              <a:defRPr sz="1800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302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600"/>
              <a:buFont typeface="Tahoma"/>
              <a:buChar char="○"/>
              <a:defRPr sz="1600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lvl="2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■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lvl="3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●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lvl="4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○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lvl="5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■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lvl="6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●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lvl="7" indent="-3175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○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lvl="8" indent="-317500">
              <a:lnSpc>
                <a:spcPct val="130000"/>
              </a:lnSpc>
              <a:spcBef>
                <a:spcPts val="1600"/>
              </a:spcBef>
              <a:spcAft>
                <a:spcPts val="1600"/>
              </a:spcAft>
              <a:buClr>
                <a:srgbClr val="050708"/>
              </a:buClr>
              <a:buSzPts val="1400"/>
              <a:buFont typeface="Tahoma"/>
              <a:buChar char="■"/>
              <a:defRPr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rgbClr val="5C666D"/>
                </a:solidFill>
              </a:defRPr>
            </a:lvl1pPr>
            <a:lvl2pPr lvl="1" algn="r">
              <a:buNone/>
              <a:defRPr sz="1000">
                <a:solidFill>
                  <a:srgbClr val="5C666D"/>
                </a:solidFill>
              </a:defRPr>
            </a:lvl2pPr>
            <a:lvl3pPr lvl="2" algn="r">
              <a:buNone/>
              <a:defRPr sz="1000">
                <a:solidFill>
                  <a:srgbClr val="5C666D"/>
                </a:solidFill>
              </a:defRPr>
            </a:lvl3pPr>
            <a:lvl4pPr lvl="3" algn="r">
              <a:buNone/>
              <a:defRPr sz="1000">
                <a:solidFill>
                  <a:srgbClr val="5C666D"/>
                </a:solidFill>
              </a:defRPr>
            </a:lvl4pPr>
            <a:lvl5pPr lvl="4" algn="r">
              <a:buNone/>
              <a:defRPr sz="1000">
                <a:solidFill>
                  <a:srgbClr val="5C666D"/>
                </a:solidFill>
              </a:defRPr>
            </a:lvl5pPr>
            <a:lvl6pPr lvl="5" algn="r">
              <a:buNone/>
              <a:defRPr sz="1000">
                <a:solidFill>
                  <a:srgbClr val="5C666D"/>
                </a:solidFill>
              </a:defRPr>
            </a:lvl6pPr>
            <a:lvl7pPr lvl="6" algn="r">
              <a:buNone/>
              <a:defRPr sz="1000">
                <a:solidFill>
                  <a:srgbClr val="5C666D"/>
                </a:solidFill>
              </a:defRPr>
            </a:lvl7pPr>
            <a:lvl8pPr lvl="7" algn="r">
              <a:buNone/>
              <a:defRPr sz="1000">
                <a:solidFill>
                  <a:srgbClr val="5C666D"/>
                </a:solidFill>
              </a:defRPr>
            </a:lvl8pPr>
            <a:lvl9pPr lvl="8" algn="r">
              <a:buNone/>
              <a:defRPr sz="1000">
                <a:solidFill>
                  <a:srgbClr val="5C666D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nanda.isr.umich.edu/2025/03/25/understanding-geographies-in-nanda-tract10-tract20-zcta10-and-zcta20/" TargetMode="External"/><Relationship Id="rId3" Type="http://schemas.openxmlformats.org/officeDocument/2006/relationships/hyperlink" Target="https://nanda.isr.umich.edu/contact-us/" TargetMode="External"/><Relationship Id="rId7" Type="http://schemas.openxmlformats.org/officeDocument/2006/relationships/hyperlink" Target="https://nanda.isr.umich.edu/data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icpsr.umich.edu/sites/nanda" TargetMode="External"/><Relationship Id="rId5" Type="http://schemas.openxmlformats.org/officeDocument/2006/relationships/hyperlink" Target="mailto:nanda-admin@umich.edu" TargetMode="External"/><Relationship Id="rId4" Type="http://schemas.openxmlformats.org/officeDocument/2006/relationships/hyperlink" Target="https://nanda.isr.umich.edu/faq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anda.isr.umich.edu/faq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>
                <a:solidFill>
                  <a:srgbClr val="FFFFFF"/>
                </a:solidFill>
              </a:rPr>
              <a:t>Welcome back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</a:rPr>
              <a:t>Using Neighborhood Data in Aging Research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</a:rPr>
              <a:t>Report back, wrap-up, and resources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</a:rPr>
              <a:t>GSA Annual Scientific Meeting Online Workshop Series 2026, October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600123"/>
              </p:ext>
            </p:extLst>
          </p:nvPr>
        </p:nvGraphicFramePr>
        <p:xfrm>
          <a:off x="411480" y="1234440"/>
          <a:ext cx="8321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Time (ET)</a:t>
                      </a:r>
                    </a:p>
                  </a:txBody>
                  <a:tcPr marR="73152" marT="27432" marB="27432">
                    <a:solidFill>
                      <a:srgbClr val="004A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What we are doing</a:t>
                      </a:r>
                    </a:p>
                  </a:txBody>
                  <a:tcPr marR="73152" marT="27432" marB="27432">
                    <a:solidFill>
                      <a:srgbClr val="004A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Who</a:t>
                      </a:r>
                    </a:p>
                  </a:txBody>
                  <a:tcPr marR="73152" marT="27432" marB="27432">
                    <a:solidFill>
                      <a:srgbClr val="004A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66D"/>
                          </a:solidFill>
                          <a:latin typeface="Tahoma"/>
                        </a:rPr>
                        <a:t>12:00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66D"/>
                          </a:solidFill>
                          <a:latin typeface="Tahoma"/>
                        </a:rPr>
                        <a:t>Welcome and logistics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5C666D"/>
                          </a:solidFill>
                          <a:latin typeface="Tahoma"/>
                        </a:rPr>
                        <a:t>Philippa &amp; Lindsay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66D"/>
                          </a:solidFill>
                          <a:latin typeface="Tahoma"/>
                        </a:rPr>
                        <a:t>12:05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5C666D"/>
                          </a:solidFill>
                          <a:latin typeface="Tahoma"/>
                        </a:rPr>
                        <a:t>What is </a:t>
                      </a:r>
                      <a:r>
                        <a:rPr sz="1400" b="0" dirty="0" err="1">
                          <a:solidFill>
                            <a:srgbClr val="5C666D"/>
                          </a:solidFill>
                          <a:latin typeface="Tahoma"/>
                        </a:rPr>
                        <a:t>NaNDA</a:t>
                      </a:r>
                      <a:r>
                        <a:rPr sz="1400" b="0" dirty="0">
                          <a:solidFill>
                            <a:srgbClr val="5C666D"/>
                          </a:solidFill>
                          <a:latin typeface="Tahoma"/>
                        </a:rPr>
                        <a:t>? Overview and repository tour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5C666D"/>
                          </a:solidFill>
                          <a:latin typeface="Tahoma"/>
                        </a:rPr>
                        <a:t>Lindsay &amp; Philippa</a:t>
                      </a:r>
                      <a:endParaRPr sz="1400" dirty="0">
                        <a:solidFill>
                          <a:srgbClr val="050708"/>
                        </a:solidFill>
                        <a:latin typeface="Tahoma"/>
                      </a:endParaRP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66D"/>
                          </a:solidFill>
                          <a:latin typeface="Tahoma"/>
                        </a:rPr>
                        <a:t>12:30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5C666D"/>
                          </a:solidFill>
                          <a:latin typeface="Tahoma"/>
                        </a:rPr>
                        <a:t>NaNDA</a:t>
                      </a:r>
                      <a:r>
                        <a:rPr sz="1400" b="0" dirty="0">
                          <a:solidFill>
                            <a:srgbClr val="5C666D"/>
                          </a:solidFill>
                          <a:latin typeface="Tahoma"/>
                        </a:rPr>
                        <a:t> in action: examples from aging research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5C666D"/>
                          </a:solidFill>
                          <a:latin typeface="Tahoma"/>
                        </a:rPr>
                        <a:t>Philippa &amp; Grace</a:t>
                      </a:r>
                      <a:endParaRPr sz="1400" dirty="0">
                        <a:solidFill>
                          <a:srgbClr val="050708"/>
                        </a:solidFill>
                        <a:latin typeface="Tahoma"/>
                      </a:endParaRP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5C666D"/>
                          </a:solidFill>
                          <a:latin typeface="Tahoma"/>
                        </a:rPr>
                        <a:t>12:55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66D"/>
                          </a:solidFill>
                          <a:latin typeface="Tahoma"/>
                        </a:rPr>
                        <a:t>Choose your breakout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66D"/>
                          </a:solidFill>
                          <a:latin typeface="Tahoma"/>
                        </a:rPr>
                        <a:t>Lindsay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66D"/>
                          </a:solidFill>
                          <a:latin typeface="Tahoma"/>
                        </a:rPr>
                        <a:t>1:00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66D"/>
                          </a:solidFill>
                          <a:latin typeface="Tahoma"/>
                        </a:rPr>
                        <a:t>Breakouts: beginner and intermediate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66D"/>
                          </a:solidFill>
                          <a:latin typeface="Tahoma"/>
                        </a:rPr>
                        <a:t>All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50708"/>
                          </a:solidFill>
                          <a:latin typeface="Tahoma"/>
                        </a:rPr>
                        <a:t>1:45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50708"/>
                          </a:solidFill>
                          <a:latin typeface="Tahoma"/>
                        </a:rPr>
                        <a:t>Reconvene and report back</a:t>
                      </a: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50708"/>
                          </a:solidFill>
                          <a:latin typeface="Tahoma"/>
                        </a:rPr>
                        <a:t>Grace</a:t>
                      </a:r>
                      <a:endParaRPr sz="1400" dirty="0">
                        <a:solidFill>
                          <a:srgbClr val="050708"/>
                        </a:solidFill>
                        <a:latin typeface="Tahoma"/>
                      </a:endParaRPr>
                    </a:p>
                  </a:txBody>
                  <a:tcPr marR="73152" marT="27432" marB="27432">
                    <a:solidFill>
                      <a:srgbClr val="E6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50708"/>
                          </a:solidFill>
                          <a:latin typeface="Tahoma"/>
                        </a:rPr>
                        <a:t>1:55</a:t>
                      </a: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50708"/>
                          </a:solidFill>
                          <a:latin typeface="Tahoma"/>
                        </a:rPr>
                        <a:t>Wrap-up and resources</a:t>
                      </a:r>
                      <a:endParaRPr sz="1400" dirty="0">
                        <a:solidFill>
                          <a:srgbClr val="050708"/>
                        </a:solidFill>
                        <a:latin typeface="Tahoma"/>
                      </a:endParaRP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50708"/>
                          </a:solidFill>
                          <a:latin typeface="Tahoma"/>
                        </a:rPr>
                        <a:t>Lindsay</a:t>
                      </a:r>
                      <a:endParaRPr sz="1400" dirty="0">
                        <a:solidFill>
                          <a:srgbClr val="050708"/>
                        </a:solidFill>
                        <a:latin typeface="Tahoma"/>
                      </a:endParaRPr>
                    </a:p>
                  </a:txBody>
                  <a:tcPr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12DF112A-B131-4082-88E7-D6CAC8240958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2</a:t>
            </a:fld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back</a:t>
            </a:r>
          </a:p>
        </p:txBody>
      </p:sp>
      <p:sp>
        <p:nvSpPr>
          <p:cNvPr id="3" name="Reconvene time"/>
          <p:cNvSpPr/>
          <p:nvPr/>
        </p:nvSpPr>
        <p:spPr>
          <a:xfrm>
            <a:off x="6431690" y="400000"/>
            <a:ext cx="2300000" cy="340000"/>
          </a:xfrm>
          <a:prstGeom prst="roundRect">
            <a:avLst>
              <a:gd name="adj" fmla="val 50000"/>
            </a:avLst>
          </a:prstGeom>
          <a:solidFill>
            <a:srgbClr val="E6F4FC"/>
          </a:solidFill>
          <a:ln>
            <a:noFill/>
          </a:ln>
        </p:spPr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A98"/>
                </a:solidFill>
                <a:latin typeface="Tahoma"/>
              </a:rPr>
              <a:t>About 10 minutes</a:t>
            </a:r>
          </a:p>
        </p:txBody>
      </p:sp>
      <p:sp>
        <p:nvSpPr>
          <p:cNvPr id="4" name="Beginner track card"/>
          <p:cNvSpPr/>
          <p:nvPr/>
        </p:nvSpPr>
        <p:spPr>
          <a:xfrm>
            <a:off x="412310" y="1170000"/>
            <a:ext cx="4045390" cy="2120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3736" tIns="173736" rIns="173736" bIns="9144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00" dirty="0">
                <a:solidFill>
                  <a:srgbClr val="004A98"/>
                </a:solidFill>
                <a:latin typeface="Tahoma"/>
              </a:rPr>
              <a:t>BEGINNER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 dirty="0">
                <a:solidFill>
                  <a:srgbClr val="004A98"/>
                </a:solidFill>
                <a:latin typeface="Tahoma"/>
              </a:rPr>
              <a:t>Choosing Your First </a:t>
            </a:r>
            <a:r>
              <a:rPr sz="1400" b="1" dirty="0" err="1">
                <a:solidFill>
                  <a:srgbClr val="004A98"/>
                </a:solidFill>
                <a:latin typeface="Tahoma"/>
              </a:rPr>
              <a:t>NaNDA</a:t>
            </a:r>
            <a:r>
              <a:rPr sz="1400" b="1" dirty="0">
                <a:solidFill>
                  <a:srgbClr val="004A98"/>
                </a:solidFill>
                <a:latin typeface="Tahoma"/>
              </a:rPr>
              <a:t> Dataset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100" b="1" dirty="0">
                <a:solidFill>
                  <a:srgbClr val="103333"/>
                </a:solidFill>
                <a:latin typeface="Tahoma"/>
              </a:rPr>
              <a:t>Share one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dirty="0">
                <a:solidFill>
                  <a:srgbClr val="103333"/>
                </a:solidFill>
                <a:latin typeface="Tahoma"/>
              </a:rPr>
              <a:t>The dataset you found for your own project, with its geography and years.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100" b="1" dirty="0">
                <a:solidFill>
                  <a:srgbClr val="103333"/>
                </a:solidFill>
                <a:latin typeface="Tahoma"/>
              </a:rPr>
              <a:t>Or ask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dirty="0">
                <a:solidFill>
                  <a:srgbClr val="103333"/>
                </a:solidFill>
                <a:latin typeface="Tahoma"/>
              </a:rPr>
              <a:t>Anything still unclear about tracts, ZCTAs, or geographic boundaries.</a:t>
            </a:r>
          </a:p>
        </p:txBody>
      </p:sp>
      <p:sp>
        <p:nvSpPr>
          <p:cNvPr id="5" name="Beginner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2310" y="1170000"/>
            <a:ext cx="4045390" cy="4572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Intermediate track card"/>
          <p:cNvSpPr/>
          <p:nvPr/>
        </p:nvSpPr>
        <p:spPr>
          <a:xfrm>
            <a:off x="4686300" y="1170000"/>
            <a:ext cx="4045390" cy="2120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3736" tIns="173736" rIns="173736" bIns="9144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004A98"/>
                </a:solidFill>
                <a:latin typeface="Tahoma"/>
              </a:rPr>
              <a:t>INTERMEDIATE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>
                <a:solidFill>
                  <a:srgbClr val="004A98"/>
                </a:solidFill>
                <a:latin typeface="Tahoma"/>
              </a:rPr>
              <a:t>Linking NaNDA with Your Data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100" b="1">
                <a:solidFill>
                  <a:srgbClr val="103333"/>
                </a:solidFill>
                <a:latin typeface="Tahoma"/>
              </a:rPr>
              <a:t>Share one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103333"/>
                </a:solidFill>
                <a:latin typeface="Tahoma"/>
              </a:rPr>
              <a:t>A snag you hit in the merge, and how you worked through it.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100" b="1">
                <a:solidFill>
                  <a:srgbClr val="103333"/>
                </a:solidFill>
                <a:latin typeface="Tahoma"/>
              </a:rPr>
              <a:t>Or ask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103333"/>
                </a:solidFill>
                <a:latin typeface="Tahoma"/>
              </a:rPr>
              <a:t>Anything about identifiers, crosswalks, or linking your own data.</a:t>
            </a:r>
          </a:p>
        </p:txBody>
      </p:sp>
      <p:sp>
        <p:nvSpPr>
          <p:cNvPr id="7" name="Intermediate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170000"/>
            <a:ext cx="4045390" cy="4572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How to join"/>
          <p:cNvSpPr/>
          <p:nvPr/>
        </p:nvSpPr>
        <p:spPr>
          <a:xfrm>
            <a:off x="412310" y="3420000"/>
            <a:ext cx="8319380" cy="7200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wrap="square" lIns="173736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</a:rPr>
              <a:t>How to share</a:t>
            </a:r>
          </a:p>
        </p:txBody>
      </p:sp>
      <p:sp>
        <p:nvSpPr>
          <p:cNvPr id="9" name="Step 1 number"/>
          <p:cNvSpPr/>
          <p:nvPr/>
        </p:nvSpPr>
        <p:spPr>
          <a:xfrm>
            <a:off x="1862310" y="361998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A98"/>
                </a:solidFill>
                <a:latin typeface="Tahoma"/>
              </a:rPr>
              <a:t>1</a:t>
            </a:r>
          </a:p>
        </p:txBody>
      </p:sp>
      <p:sp>
        <p:nvSpPr>
          <p:cNvPr id="10" name="Step 1"/>
          <p:cNvSpPr txBox="1"/>
          <p:nvPr/>
        </p:nvSpPr>
        <p:spPr>
          <a:xfrm>
            <a:off x="2273790" y="3420000"/>
            <a:ext cx="178136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ahoma"/>
              </a:rPr>
              <a:t>Raise your hand in Zoom, then unmute when called on.</a:t>
            </a:r>
          </a:p>
        </p:txBody>
      </p:sp>
      <p:sp>
        <p:nvSpPr>
          <p:cNvPr id="11" name="Step 2 number"/>
          <p:cNvSpPr/>
          <p:nvPr/>
        </p:nvSpPr>
        <p:spPr>
          <a:xfrm>
            <a:off x="4192310" y="361998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A98"/>
                </a:solidFill>
                <a:latin typeface="Tahoma"/>
              </a:rPr>
              <a:t>2</a:t>
            </a:r>
          </a:p>
        </p:txBody>
      </p:sp>
      <p:sp>
        <p:nvSpPr>
          <p:cNvPr id="12" name="Step 2"/>
          <p:cNvSpPr txBox="1"/>
          <p:nvPr/>
        </p:nvSpPr>
        <p:spPr>
          <a:xfrm>
            <a:off x="4603790" y="3420000"/>
            <a:ext cx="178136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ahoma"/>
              </a:rPr>
              <a:t>Or type it in the chat. We will read some aloud.</a:t>
            </a:r>
          </a:p>
        </p:txBody>
      </p:sp>
      <p:sp>
        <p:nvSpPr>
          <p:cNvPr id="13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2310" y="3570000"/>
            <a:ext cx="19050" cy="4200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ip"/>
          <p:cNvSpPr txBox="1"/>
          <p:nvPr/>
        </p:nvSpPr>
        <p:spPr>
          <a:xfrm>
            <a:off x="6705190" y="3420000"/>
            <a:ext cx="188934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ahoma"/>
              </a:rPr>
              <a:t>One sentence is plenty. Questions count too.</a:t>
            </a:r>
          </a:p>
        </p:txBody>
      </p:sp>
      <p:sp>
        <p:nvSpPr>
          <p:cNvPr id="15" name="Slide Number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EBA70D93-50D0-44B0-B696-A604FFBC6501}" type="slidenum">
              <a:rPr lang="en-US" sz="900" dirty="0">
                <a:solidFill>
                  <a:srgbClr val="4F6B8A"/>
                </a:solidFill>
                <a:latin typeface="Tahoma" pitchFamily="34" charset="0"/>
              </a:rPr>
              <a:t>3</a:t>
            </a:fld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685800"/>
            <a:ext cx="5532120" cy="3566160"/>
          </a:xfrm>
        </p:spPr>
        <p:txBody>
          <a:bodyPr/>
          <a:lstStyle/>
          <a:p>
            <a:r>
              <a:rPr sz="3000" dirty="0">
                <a:solidFill>
                  <a:srgbClr val="FFFFFF"/>
                </a:solidFill>
              </a:rPr>
              <a:t>Questions? Put them in the Q&amp;A, or unmute and ask.</a:t>
            </a:r>
          </a:p>
        </p:txBody>
      </p:sp>
      <p:pic>
        <p:nvPicPr>
          <p:cNvPr id="3" name="Picture 2" descr="Frankie, the NaNDA globe mascot, think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2240280" cy="2240280"/>
          </a:xfrm>
          <a:prstGeom prst="rect">
            <a:avLst/>
          </a:prstGeom>
        </p:spPr>
      </p:pic>
      <p:sp>
        <p:nvSpPr>
          <p:cNvPr id="4" name="Slide Number"/>
          <p:cNvSpPr txBox="1"/>
          <p:nvPr/>
        </p:nvSpPr>
        <p:spPr>
          <a:xfrm>
            <a:off x="8420000" y="4640000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5AD87857-6D6B-4F43-8B1C-C95EBF5DB71A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4</a:t>
            </a:fld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practiced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dirty="0"/>
              <a:t>Identify which </a:t>
            </a:r>
            <a:r>
              <a:rPr sz="1700" dirty="0" err="1"/>
              <a:t>NaNDA</a:t>
            </a:r>
            <a:r>
              <a:rPr sz="1700" dirty="0"/>
              <a:t> datasets </a:t>
            </a:r>
            <a:r>
              <a:rPr sz="1700" b="0" dirty="0"/>
              <a:t>fit your research question, by geographic level, years covered, and topic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700" b="0" dirty="0"/>
              <a:t>Link </a:t>
            </a:r>
            <a:r>
              <a:rPr sz="1700" b="0" dirty="0" err="1"/>
              <a:t>NaNDA</a:t>
            </a:r>
            <a:r>
              <a:rPr sz="1700" b="0" dirty="0"/>
              <a:t> to your own data using geographic identifiers, including when to use tract_fips10 or tract_fips20, and how ZIP codes differ from ZCTAs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700" b="0" dirty="0"/>
              <a:t>Frame a research question that combines neighborhood measures with your individual-level aging outcomes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2547B218-423A-44A5-9D40-82EC22D9DBC9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5</a:t>
            </a:fld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go from here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/>
              <a:t>Get help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hlinkClick r:id="rId3"/>
              </a:rPr>
              <a:t>NaNDA Office Hours</a:t>
            </a:r>
            <a:r>
              <a:rPr sz="1400" b="0"/>
              <a:t>: virtual, 1 to 2 PM ET. Next one is October 13.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hlinkClick r:id="rId4"/>
              </a:rPr>
              <a:t>NaNDA FAQs</a:t>
            </a:r>
            <a:r>
              <a:rPr sz="1400" b="0"/>
              <a:t>: choosing datasets, geographies, missing data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hlinkClick r:id="rId5"/>
              </a:rPr>
              <a:t>Email nanda-admin@umich.edu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/>
              <a:t>Keep exploring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/>
              <a:t>Your workshop materials, including the sample merge code. The link is in the chat.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hlinkClick r:id="rId6"/>
              </a:rPr>
              <a:t>NaNDA repository on ICPSR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/>
              <a:t>Browse topics on the </a:t>
            </a:r>
            <a:r>
              <a:rPr sz="1400" b="0">
                <a:hlinkClick r:id="rId7"/>
              </a:rPr>
              <a:t>NaNDA data page</a:t>
            </a:r>
          </a:p>
          <a:p>
            <a:pPr lvl="1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hlinkClick r:id="rId8"/>
              </a:rPr>
              <a:t>NaNDA's guide to geographies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09A3B6D9-6E7F-44C4-8123-FAD3604AF48D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6</a:t>
            </a:fld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Cite the dataset you 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/>
              <a:t>Every NaNDA dataset has its own DOI. Include it in your citation.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/>
              <a:t>Cite each dataset you used, rather than NaNDA as a whole.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/>
              <a:t>Copy the ready-made citation from the dataset's page on ICPSR.</a:t>
            </a:r>
          </a:p>
          <a:p>
            <a:pPr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/>
              <a:t>More on citing in the </a:t>
            </a:r>
            <a:r>
              <a:rPr sz="1600" b="0">
                <a:hlinkClick r:id="rId3"/>
              </a:rPr>
              <a:t>NaNDA FAQs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19F4863A-DB88-42F1-8993-0E0D54FB0EAA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7</a:t>
            </a:fld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91D4-1C29-C579-78F1-7FA9AF4A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one thing you learned today that you can use tomorrow? </a:t>
            </a:r>
          </a:p>
        </p:txBody>
      </p:sp>
    </p:spTree>
    <p:extLst>
      <p:ext uri="{BB962C8B-B14F-4D97-AF65-F5344CB8AC3E}">
        <p14:creationId xmlns:p14="http://schemas.microsoft.com/office/powerpoint/2010/main" val="3123425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111768" y="1763316"/>
            <a:ext cx="3048000" cy="381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1" dirty="0">
                <a:solidFill>
                  <a:srgbClr val="004A98"/>
                </a:solidFill>
                <a:latin typeface="Tahoma"/>
              </a:rPr>
              <a:t>Contact NaNDA</a:t>
            </a:r>
          </a:p>
        </p:txBody>
      </p:sp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0250" y="-952500"/>
            <a:ext cx="4286250" cy="4286250"/>
          </a:xfrm>
          <a:prstGeom prst="ellipse">
            <a:avLst/>
          </a:prstGeom>
          <a:solidFill>
            <a:srgbClr val="0A5BB0"/>
          </a:solidFill>
          <a:ln/>
        </p:spPr>
      </p:sp>
      <p:pic>
        <p:nvPicPr>
          <p:cNvPr id="3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5500" y="2095500"/>
            <a:ext cx="2667000" cy="2667000"/>
          </a:xfrm>
          <a:prstGeom prst="rect">
            <a:avLst/>
          </a:prstGeom>
        </p:spPr>
      </p:pic>
      <p:pic>
        <p:nvPicPr>
          <p:cNvPr id="4" name="Contact NaN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8625"/>
            <a:ext cx="1809750" cy="1429941"/>
          </a:xfrm>
          <a:prstGeom prst="rect">
            <a:avLst/>
          </a:prstGeom>
        </p:spPr>
      </p:pic>
      <p:pic>
        <p:nvPicPr>
          <p:cNvPr id="5" name="Websi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2238375"/>
            <a:ext cx="247650" cy="2476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71550" y="2247900"/>
            <a:ext cx="20054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</a:rPr>
              <a:t>nanda.isr.umich.edu</a:t>
            </a:r>
            <a:endParaRPr lang="en-US" sz="1500" dirty="0"/>
          </a:p>
        </p:txBody>
      </p:sp>
      <p:pic>
        <p:nvPicPr>
          <p:cNvPr id="7" name="Emai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" y="2647950"/>
            <a:ext cx="247650" cy="2476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71550" y="2657475"/>
            <a:ext cx="2515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</a:rPr>
              <a:t>nanda-admin@umich.edu</a:t>
            </a:r>
            <a:endParaRPr lang="en-US" sz="1500" dirty="0"/>
          </a:p>
        </p:txBody>
      </p:sp>
      <p:pic>
        <p:nvPicPr>
          <p:cNvPr id="9" name="Instagra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1500" y="3057525"/>
            <a:ext cx="247650" cy="24765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971550" y="3067050"/>
            <a:ext cx="13284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</a:rPr>
              <a:t>@UM_NaNDA</a:t>
            </a:r>
            <a:endParaRPr lang="en-US" sz="1500" dirty="0"/>
          </a:p>
        </p:txBody>
      </p:sp>
      <p:pic>
        <p:nvPicPr>
          <p:cNvPr id="11" name="Thread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1500" y="3467100"/>
            <a:ext cx="247650" cy="2476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71550" y="3476625"/>
            <a:ext cx="13284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</a:rPr>
              <a:t>@UM_NaNDA</a:t>
            </a:r>
            <a:endParaRPr lang="en-US" sz="1500" dirty="0"/>
          </a:p>
        </p:txBody>
      </p:sp>
      <p:pic>
        <p:nvPicPr>
          <p:cNvPr id="13" name="Linked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1500" y="3876675"/>
            <a:ext cx="247650" cy="24765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971550" y="3886200"/>
            <a:ext cx="33847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</a:rPr>
              <a:t>linkedin.com/company/um-nanda</a:t>
            </a:r>
            <a:endParaRPr lang="en-US" sz="15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C2CBB8-53A3-A359-93CD-09AEA9544D5A}"/>
              </a:ext>
            </a:extLst>
          </p:cNvPr>
          <p:cNvSpPr txBox="1"/>
          <p:nvPr/>
        </p:nvSpPr>
        <p:spPr>
          <a:xfrm>
            <a:off x="6141122" y="403892"/>
            <a:ext cx="29293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 for joining us!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r">
              <a:buNone/>
            </a:pPr>
            <a:fld id="{9E86C144-1DFD-442B-A8F2-7A4A1EE22E59}" type="slidenum">
              <a:rPr lang="en-US" sz="900" dirty="0">
                <a:solidFill>
                  <a:srgbClr val="DDEBF7"/>
                </a:solidFill>
                <a:latin typeface="Tahoma" pitchFamily="34" charset="0"/>
              </a:rPr>
              <a:t>9</a:t>
            </a:fld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50708"/>
      </a:dk1>
      <a:lt1>
        <a:srgbClr val="FFFFFF"/>
      </a:lt1>
      <a:dk2>
        <a:srgbClr val="5C666D"/>
      </a:dk2>
      <a:lt2>
        <a:srgbClr val="F5F8FA"/>
      </a:lt2>
      <a:accent1>
        <a:srgbClr val="004A98"/>
      </a:accent1>
      <a:accent2>
        <a:srgbClr val="1D9ADD"/>
      </a:accent2>
      <a:accent3>
        <a:srgbClr val="16B1C1"/>
      </a:accent3>
      <a:accent4>
        <a:srgbClr val="49AA31"/>
      </a:accent4>
      <a:accent5>
        <a:srgbClr val="59D3EF"/>
      </a:accent5>
      <a:accent6>
        <a:srgbClr val="103333"/>
      </a:accent6>
      <a:hlink>
        <a:srgbClr val="004A98"/>
      </a:hlink>
      <a:folHlink>
        <a:srgbClr val="003A77"/>
      </a:folHlink>
    </a:clrScheme>
    <a:fontScheme name="Office">
      <a:maj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ahoma"/>
        <a:font script="Hebr" typeface="Tahom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ahoma"/>
        <a:font script="Hebr" typeface="Tahom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On-screen Show (16:9)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Tahoma</vt:lpstr>
      <vt:lpstr>Verdana</vt:lpstr>
      <vt:lpstr>Simple Light</vt:lpstr>
      <vt:lpstr>Welcome back</vt:lpstr>
      <vt:lpstr>Where we are</vt:lpstr>
      <vt:lpstr>Report back</vt:lpstr>
      <vt:lpstr>Questions? Put them in the Q&amp;A, or unmute and ask.</vt:lpstr>
      <vt:lpstr>What you practiced today</vt:lpstr>
      <vt:lpstr>Where to go from here</vt:lpstr>
      <vt:lpstr>Cite the dataset you use</vt:lpstr>
      <vt:lpstr>What’s one thing you learned today that you can use tomorrow? </vt:lpstr>
      <vt:lpstr>Contact NaNDA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25</cp:revision>
  <dcterms:modified xsi:type="dcterms:W3CDTF">2026-09-30T21:01:24Z</dcterms:modified>
</cp:coreProperties>
</file>