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8"/>
  </p:notesMasterIdLst>
  <p:sldIdLst>
    <p:sldId id="277" r:id="rId2"/>
    <p:sldId id="271" r:id="rId3"/>
    <p:sldId id="275" r:id="rId4"/>
    <p:sldId id="276" r:id="rId5"/>
    <p:sldId id="258" r:id="rId6"/>
    <p:sldId id="259" r:id="rId7"/>
    <p:sldId id="260" r:id="rId8"/>
    <p:sldId id="261" r:id="rId9"/>
    <p:sldId id="262" r:id="rId10"/>
    <p:sldId id="263" r:id="rId11"/>
    <p:sldId id="265" r:id="rId12"/>
    <p:sldId id="272" r:id="rId13"/>
    <p:sldId id="273" r:id="rId14"/>
    <p:sldId id="274" r:id="rId15"/>
    <p:sldId id="267" r:id="rId16"/>
    <p:sldId id="269" r:id="rId17"/>
  </p:sldIdLst>
  <p:sldSz cx="9144000" cy="5143500" type="screen16x9"/>
  <p:notesSz cx="10287000" cy="18288000"/>
  <p:defaultTextStyle>
    <a:lvl1pPr marL="0" algn="l" defTabSz="457200" rtl="0" eaLnBrk="1" latinLnBrk="0" hangingPunct="1">
      <a:defRPr sz="900" kern="600">
        <a:solidFill>
          <a:schemeClr val="tx1"/>
        </a:solidFill>
        <a:latin typeface="+mn-lt"/>
        <a:ea typeface="+mn-ea"/>
        <a:cs typeface="+mn-cs"/>
      </a:defRPr>
    </a:lvl1pPr>
    <a:lvl2pPr marL="228600" algn="l" defTabSz="457200" rtl="0" eaLnBrk="1" latinLnBrk="0" hangingPunct="1">
      <a:defRPr sz="900" kern="600">
        <a:solidFill>
          <a:schemeClr val="tx1"/>
        </a:solidFill>
        <a:latin typeface="+mn-lt"/>
        <a:ea typeface="+mn-ea"/>
        <a:cs typeface="+mn-cs"/>
      </a:defRPr>
    </a:lvl2pPr>
    <a:lvl3pPr marL="457200" algn="l" defTabSz="457200" rtl="0" eaLnBrk="1" latinLnBrk="0" hangingPunct="1">
      <a:defRPr sz="900" kern="600">
        <a:solidFill>
          <a:schemeClr val="tx1"/>
        </a:solidFill>
        <a:latin typeface="+mn-lt"/>
        <a:ea typeface="+mn-ea"/>
        <a:cs typeface="+mn-cs"/>
      </a:defRPr>
    </a:lvl3pPr>
    <a:lvl4pPr marL="685800" algn="l" defTabSz="457200" rtl="0" eaLnBrk="1" latinLnBrk="0" hangingPunct="1">
      <a:defRPr sz="900" kern="600">
        <a:solidFill>
          <a:schemeClr val="tx1"/>
        </a:solidFill>
        <a:latin typeface="+mn-lt"/>
        <a:ea typeface="+mn-ea"/>
        <a:cs typeface="+mn-cs"/>
      </a:defRPr>
    </a:lvl4pPr>
    <a:lvl5pPr marL="914400" algn="l" defTabSz="457200" rtl="0" eaLnBrk="1" latinLnBrk="0" hangingPunct="1">
      <a:defRPr sz="900" kern="600">
        <a:solidFill>
          <a:schemeClr val="tx1"/>
        </a:solidFill>
        <a:latin typeface="+mn-lt"/>
        <a:ea typeface="+mn-ea"/>
        <a:cs typeface="+mn-cs"/>
      </a:defRPr>
    </a:lvl5pPr>
    <a:lvl6pPr marL="1143000" algn="l" defTabSz="457200" rtl="0" eaLnBrk="1" latinLnBrk="0" hangingPunct="1">
      <a:defRPr sz="900" kern="600">
        <a:solidFill>
          <a:schemeClr val="tx1"/>
        </a:solidFill>
        <a:latin typeface="+mn-lt"/>
        <a:ea typeface="+mn-ea"/>
        <a:cs typeface="+mn-cs"/>
      </a:defRPr>
    </a:lvl6pPr>
    <a:lvl7pPr marL="1371600" algn="l" defTabSz="457200" rtl="0" eaLnBrk="1" latinLnBrk="0" hangingPunct="1">
      <a:defRPr sz="900" kern="600">
        <a:solidFill>
          <a:schemeClr val="tx1"/>
        </a:solidFill>
        <a:latin typeface="+mn-lt"/>
        <a:ea typeface="+mn-ea"/>
        <a:cs typeface="+mn-cs"/>
      </a:defRPr>
    </a:lvl7pPr>
    <a:lvl8pPr marL="1600200" algn="l" defTabSz="457200" rtl="0" eaLnBrk="1" latinLnBrk="0" hangingPunct="1">
      <a:defRPr sz="900" kern="600">
        <a:solidFill>
          <a:schemeClr val="tx1"/>
        </a:solidFill>
        <a:latin typeface="+mn-lt"/>
        <a:ea typeface="+mn-ea"/>
        <a:cs typeface="+mn-cs"/>
      </a:defRPr>
    </a:lvl8pPr>
    <a:lvl9pPr marL="1828800" algn="l" defTabSz="457200" rtl="0" eaLnBrk="1" latinLnBrk="0" hangingPunct="1">
      <a:defRPr sz="900" kern="6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E2925-5ECE-4113-80A3-4F991F9C6302}" v="64" dt="2026-09-27T16:21:04.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267" autoAdjust="0"/>
  </p:normalViewPr>
  <p:slideViewPr>
    <p:cSldViewPr snapToGrid="0" snapToObjects="1">
      <p:cViewPr varScale="1">
        <p:scale>
          <a:sx n="181" d="100"/>
          <a:sy n="181" d="100"/>
        </p:scale>
        <p:origin x="122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3ACC1F-F2A0-45DA-8BB4-A26CA7B317EA}" type="doc">
      <dgm:prSet loTypeId="urn:microsoft.com/office/officeart/2005/8/layout/hierarchy1" loCatId="hierarchy" qsTypeId="urn:microsoft.com/office/officeart/2005/8/quickstyle/simple1#6" qsCatId="simple" csTypeId="urn:microsoft.com/office/officeart/2005/8/colors/accent1_2#6" csCatId="accent1" phldr="1"/>
      <dgm:spPr/>
      <dgm:t>
        <a:bodyPr/>
        <a:lstStyle/>
        <a:p>
          <a:endParaRPr lang="en-US"/>
        </a:p>
      </dgm:t>
    </dgm:pt>
    <dgm:pt modelId="{FD499E31-7101-498D-BD0D-E776E6973AF4}">
      <dgm:prSet custT="1"/>
      <dgm:spPr/>
      <dgm:t>
        <a:bodyPr/>
        <a:lstStyle/>
        <a:p>
          <a:pPr>
            <a:lnSpc>
              <a:spcPct val="100000"/>
            </a:lnSpc>
          </a:pPr>
          <a:r>
            <a:rPr lang="en-US" sz="1300" dirty="0">
              <a:latin typeface="Tahoma"/>
              <a:cs typeface="Tahoma"/>
            </a:rPr>
            <a:t>The average age of people living with disability-associated conditions is increasing.</a:t>
          </a:r>
        </a:p>
      </dgm:t>
    </dgm:pt>
    <dgm:pt modelId="{D8E7D6A2-63F2-46B1-A828-2D9B197E5E51}" type="parTrans" cxnId="{9EF87637-B468-474D-94E2-5D6B7530D68F}">
      <dgm:prSet/>
      <dgm:spPr/>
      <dgm:t>
        <a:bodyPr/>
        <a:lstStyle/>
        <a:p>
          <a:endParaRPr lang="en-US"/>
        </a:p>
      </dgm:t>
    </dgm:pt>
    <dgm:pt modelId="{BD0DDBDB-A0CD-4046-8245-F1D06274AA42}" type="sibTrans" cxnId="{9EF87637-B468-474D-94E2-5D6B7530D68F}">
      <dgm:prSet/>
      <dgm:spPr/>
      <dgm:t>
        <a:bodyPr/>
        <a:lstStyle/>
        <a:p>
          <a:endParaRPr lang="en-US"/>
        </a:p>
      </dgm:t>
    </dgm:pt>
    <dgm:pt modelId="{383FD574-6F47-4DA7-B3E5-EEF24D0D43B0}">
      <dgm:prSet custT="1"/>
      <dgm:spPr/>
      <dgm:t>
        <a:bodyPr/>
        <a:lstStyle/>
        <a:p>
          <a:pPr>
            <a:lnSpc>
              <a:spcPct val="100000"/>
            </a:lnSpc>
          </a:pPr>
          <a:r>
            <a:rPr lang="en-US" sz="1300" dirty="0">
              <a:latin typeface="Tahoma"/>
              <a:cs typeface="Tahoma"/>
            </a:rPr>
            <a:t>Conditions </a:t>
          </a:r>
          <a:r>
            <a:rPr lang="en-US" sz="1300" b="0" dirty="0">
              <a:latin typeface="Tahoma"/>
              <a:cs typeface="Tahoma"/>
            </a:rPr>
            <a:t>acquired at birth, childhood, or before midlife</a:t>
          </a:r>
        </a:p>
      </dgm:t>
    </dgm:pt>
    <dgm:pt modelId="{28851151-8B17-47C6-A095-B3B83B607B1D}" type="parTrans" cxnId="{95E11E7F-167C-415E-B365-BCA236B33CFE}">
      <dgm:prSet/>
      <dgm:spPr/>
      <dgm:t>
        <a:bodyPr/>
        <a:lstStyle/>
        <a:p>
          <a:endParaRPr lang="en-US"/>
        </a:p>
      </dgm:t>
    </dgm:pt>
    <dgm:pt modelId="{306D099B-2E1A-4406-9341-B2D3A80CBA3A}" type="sibTrans" cxnId="{95E11E7F-167C-415E-B365-BCA236B33CFE}">
      <dgm:prSet/>
      <dgm:spPr/>
      <dgm:t>
        <a:bodyPr/>
        <a:lstStyle/>
        <a:p>
          <a:endParaRPr lang="en-US"/>
        </a:p>
      </dgm:t>
    </dgm:pt>
    <dgm:pt modelId="{2001123D-45D4-4E79-9CD4-00B7EE4ACCDE}">
      <dgm:prSet custT="1"/>
      <dgm:spPr/>
      <dgm:t>
        <a:bodyPr/>
        <a:lstStyle/>
        <a:p>
          <a:r>
            <a:rPr lang="en-US" sz="1300" dirty="0">
              <a:latin typeface="Tahoma"/>
              <a:cs typeface="Tahoma"/>
            </a:rPr>
            <a:t>Can experience “premature aging”:</a:t>
          </a:r>
        </a:p>
      </dgm:t>
    </dgm:pt>
    <dgm:pt modelId="{29ACE589-95B0-43BE-B98E-FBEE796BFCF9}" type="parTrans" cxnId="{1DF0987E-09E4-4327-A3B7-DBA57D11E625}">
      <dgm:prSet/>
      <dgm:spPr/>
      <dgm:t>
        <a:bodyPr/>
        <a:lstStyle/>
        <a:p>
          <a:endParaRPr lang="en-US"/>
        </a:p>
      </dgm:t>
    </dgm:pt>
    <dgm:pt modelId="{46D83486-3F0C-420D-A58F-3141B97F53F8}" type="sibTrans" cxnId="{1DF0987E-09E4-4327-A3B7-DBA57D11E625}">
      <dgm:prSet/>
      <dgm:spPr/>
      <dgm:t>
        <a:bodyPr/>
        <a:lstStyle/>
        <a:p>
          <a:endParaRPr lang="en-US"/>
        </a:p>
      </dgm:t>
    </dgm:pt>
    <dgm:pt modelId="{C3ABB139-6C6E-4D74-9183-A2DAB7D59A6C}">
      <dgm:prSet custT="1"/>
      <dgm:spPr/>
      <dgm:t>
        <a:bodyPr/>
        <a:lstStyle/>
        <a:p>
          <a:r>
            <a:rPr lang="en-US" sz="1200" dirty="0">
              <a:latin typeface="Tahoma"/>
              <a:cs typeface="Tahoma"/>
            </a:rPr>
            <a:t>Medical conditions are more prevalent in people aging with disability </a:t>
          </a:r>
        </a:p>
        <a:p>
          <a:r>
            <a:rPr lang="en-US" sz="1200" dirty="0">
              <a:latin typeface="Tahoma"/>
              <a:cs typeface="Tahoma"/>
            </a:rPr>
            <a:t>(hypertension, obesity, heart disease, diabetes)</a:t>
          </a:r>
        </a:p>
      </dgm:t>
    </dgm:pt>
    <dgm:pt modelId="{DB8D793E-9A14-41DD-9AA9-C13899A34B89}" type="parTrans" cxnId="{861F9EB0-9A74-4F0F-AD30-4395F36EC0DE}">
      <dgm:prSet/>
      <dgm:spPr/>
      <dgm:t>
        <a:bodyPr/>
        <a:lstStyle/>
        <a:p>
          <a:endParaRPr lang="en-US"/>
        </a:p>
      </dgm:t>
    </dgm:pt>
    <dgm:pt modelId="{31DDE246-1A71-4D27-8E25-5BED4724ED32}" type="sibTrans" cxnId="{861F9EB0-9A74-4F0F-AD30-4395F36EC0DE}">
      <dgm:prSet/>
      <dgm:spPr/>
      <dgm:t>
        <a:bodyPr/>
        <a:lstStyle/>
        <a:p>
          <a:endParaRPr lang="en-US"/>
        </a:p>
      </dgm:t>
    </dgm:pt>
    <dgm:pt modelId="{698EA2D1-3CFE-412E-9BB5-3B43A4D9077A}">
      <dgm:prSet custT="1"/>
      <dgm:spPr/>
      <dgm:t>
        <a:bodyPr/>
        <a:lstStyle/>
        <a:p>
          <a:r>
            <a:rPr lang="en-US" sz="1200" dirty="0">
              <a:latin typeface="Tahoma"/>
              <a:cs typeface="Tahoma"/>
            </a:rPr>
            <a:t>Secondary health conditions (bone loss, fractures, rotator cuff injuries, pain)</a:t>
          </a:r>
        </a:p>
      </dgm:t>
    </dgm:pt>
    <dgm:pt modelId="{A069EFDD-8FE3-428E-96D1-34FF3FD62735}" type="parTrans" cxnId="{57349C01-C1A9-43B7-9F11-819A2BCEFC4C}">
      <dgm:prSet/>
      <dgm:spPr/>
      <dgm:t>
        <a:bodyPr/>
        <a:lstStyle/>
        <a:p>
          <a:endParaRPr lang="en-US"/>
        </a:p>
      </dgm:t>
    </dgm:pt>
    <dgm:pt modelId="{7A4448C4-995C-4931-BE32-255C995F1EAB}" type="sibTrans" cxnId="{57349C01-C1A9-43B7-9F11-819A2BCEFC4C}">
      <dgm:prSet/>
      <dgm:spPr/>
      <dgm:t>
        <a:bodyPr/>
        <a:lstStyle/>
        <a:p>
          <a:endParaRPr lang="en-US"/>
        </a:p>
      </dgm:t>
    </dgm:pt>
    <dgm:pt modelId="{57DD0F72-3997-42B6-9E19-52A2F9316A6A}" type="pres">
      <dgm:prSet presAssocID="{683ACC1F-F2A0-45DA-8BB4-A26CA7B317EA}" presName="hierChild1" presStyleCnt="0">
        <dgm:presLayoutVars>
          <dgm:chPref val="1"/>
          <dgm:dir/>
          <dgm:animOne val="branch"/>
          <dgm:animLvl val="lvl"/>
          <dgm:resizeHandles/>
        </dgm:presLayoutVars>
      </dgm:prSet>
      <dgm:spPr/>
    </dgm:pt>
    <dgm:pt modelId="{3231A9F6-B499-424A-82F0-5D06C004BB41}" type="pres">
      <dgm:prSet presAssocID="{FD499E31-7101-498D-BD0D-E776E6973AF4}" presName="hierRoot1" presStyleCnt="0"/>
      <dgm:spPr/>
    </dgm:pt>
    <dgm:pt modelId="{E985C772-545A-4731-BC6A-772874D34880}" type="pres">
      <dgm:prSet presAssocID="{FD499E31-7101-498D-BD0D-E776E6973AF4}" presName="composite" presStyleCnt="0"/>
      <dgm:spPr/>
    </dgm:pt>
    <dgm:pt modelId="{E00FE4C7-984B-4CFA-97DA-532AA120806C}" type="pres">
      <dgm:prSet presAssocID="{FD499E31-7101-498D-BD0D-E776E6973AF4}" presName="background" presStyleLbl="node0" presStyleIdx="0" presStyleCnt="3"/>
      <dgm:spPr/>
    </dgm:pt>
    <dgm:pt modelId="{B0228507-6D9F-457D-9396-86F8CAD54325}" type="pres">
      <dgm:prSet presAssocID="{FD499E31-7101-498D-BD0D-E776E6973AF4}" presName="text" presStyleLbl="fgAcc0" presStyleIdx="0" presStyleCnt="3">
        <dgm:presLayoutVars>
          <dgm:chPref val="3"/>
        </dgm:presLayoutVars>
      </dgm:prSet>
      <dgm:spPr/>
    </dgm:pt>
    <dgm:pt modelId="{082F03B8-2AFA-4B61-BB64-53390A8E87E9}" type="pres">
      <dgm:prSet presAssocID="{FD499E31-7101-498D-BD0D-E776E6973AF4}" presName="hierChild2" presStyleCnt="0"/>
      <dgm:spPr/>
    </dgm:pt>
    <dgm:pt modelId="{F1E56810-8C93-4ED8-92A9-315E016A8541}" type="pres">
      <dgm:prSet presAssocID="{383FD574-6F47-4DA7-B3E5-EEF24D0D43B0}" presName="hierRoot1" presStyleCnt="0"/>
      <dgm:spPr/>
    </dgm:pt>
    <dgm:pt modelId="{1F489D16-848D-4AA0-B072-A07EA8019B43}" type="pres">
      <dgm:prSet presAssocID="{383FD574-6F47-4DA7-B3E5-EEF24D0D43B0}" presName="composite" presStyleCnt="0"/>
      <dgm:spPr/>
    </dgm:pt>
    <dgm:pt modelId="{60C092AD-637F-4D34-9456-FC16E606D8D8}" type="pres">
      <dgm:prSet presAssocID="{383FD574-6F47-4DA7-B3E5-EEF24D0D43B0}" presName="background" presStyleLbl="node0" presStyleIdx="1" presStyleCnt="3"/>
      <dgm:spPr/>
    </dgm:pt>
    <dgm:pt modelId="{CE0D9406-D1B1-412B-AC7E-684A8F11E9C8}" type="pres">
      <dgm:prSet presAssocID="{383FD574-6F47-4DA7-B3E5-EEF24D0D43B0}" presName="text" presStyleLbl="fgAcc0" presStyleIdx="1" presStyleCnt="3">
        <dgm:presLayoutVars>
          <dgm:chPref val="3"/>
        </dgm:presLayoutVars>
      </dgm:prSet>
      <dgm:spPr/>
    </dgm:pt>
    <dgm:pt modelId="{7A6103B1-B06A-4ED7-A60C-87F47825EDFE}" type="pres">
      <dgm:prSet presAssocID="{383FD574-6F47-4DA7-B3E5-EEF24D0D43B0}" presName="hierChild2" presStyleCnt="0"/>
      <dgm:spPr/>
    </dgm:pt>
    <dgm:pt modelId="{6E4684BB-1FDB-4BDF-919F-10FAB85BAF6B}" type="pres">
      <dgm:prSet presAssocID="{2001123D-45D4-4E79-9CD4-00B7EE4ACCDE}" presName="hierRoot1" presStyleCnt="0"/>
      <dgm:spPr/>
    </dgm:pt>
    <dgm:pt modelId="{33C96E64-E3F6-48D7-8F8E-112DA1513000}" type="pres">
      <dgm:prSet presAssocID="{2001123D-45D4-4E79-9CD4-00B7EE4ACCDE}" presName="composite" presStyleCnt="0"/>
      <dgm:spPr/>
    </dgm:pt>
    <dgm:pt modelId="{F4378EE8-44BB-4CF2-8895-9724F43CAEB5}" type="pres">
      <dgm:prSet presAssocID="{2001123D-45D4-4E79-9CD4-00B7EE4ACCDE}" presName="background" presStyleLbl="node0" presStyleIdx="2" presStyleCnt="3"/>
      <dgm:spPr/>
    </dgm:pt>
    <dgm:pt modelId="{E6EC00F1-275F-40F0-8960-38DABC664461}" type="pres">
      <dgm:prSet presAssocID="{2001123D-45D4-4E79-9CD4-00B7EE4ACCDE}" presName="text" presStyleLbl="fgAcc0" presStyleIdx="2" presStyleCnt="3">
        <dgm:presLayoutVars>
          <dgm:chPref val="3"/>
        </dgm:presLayoutVars>
      </dgm:prSet>
      <dgm:spPr/>
    </dgm:pt>
    <dgm:pt modelId="{1B155F98-D6AB-4648-ABF5-004F284D399C}" type="pres">
      <dgm:prSet presAssocID="{2001123D-45D4-4E79-9CD4-00B7EE4ACCDE}" presName="hierChild2" presStyleCnt="0"/>
      <dgm:spPr/>
    </dgm:pt>
    <dgm:pt modelId="{959B1965-6BFC-4831-8106-7D2B3859F310}" type="pres">
      <dgm:prSet presAssocID="{DB8D793E-9A14-41DD-9AA9-C13899A34B89}" presName="Name10" presStyleLbl="parChTrans1D2" presStyleIdx="0" presStyleCnt="2"/>
      <dgm:spPr/>
    </dgm:pt>
    <dgm:pt modelId="{9DA3D118-94E5-462A-BC45-C9B241A9A109}" type="pres">
      <dgm:prSet presAssocID="{C3ABB139-6C6E-4D74-9183-A2DAB7D59A6C}" presName="hierRoot2" presStyleCnt="0"/>
      <dgm:spPr/>
    </dgm:pt>
    <dgm:pt modelId="{837FAC84-F992-41A8-9F4B-CD1AC5AD6F11}" type="pres">
      <dgm:prSet presAssocID="{C3ABB139-6C6E-4D74-9183-A2DAB7D59A6C}" presName="composite2" presStyleCnt="0"/>
      <dgm:spPr/>
    </dgm:pt>
    <dgm:pt modelId="{190CC1A9-F4B1-4151-8F9C-DDB918192213}" type="pres">
      <dgm:prSet presAssocID="{C3ABB139-6C6E-4D74-9183-A2DAB7D59A6C}" presName="background2" presStyleLbl="node2" presStyleIdx="0" presStyleCnt="2"/>
      <dgm:spPr/>
    </dgm:pt>
    <dgm:pt modelId="{800A9A94-529E-4AFA-A3D1-D017C9DC132F}" type="pres">
      <dgm:prSet presAssocID="{C3ABB139-6C6E-4D74-9183-A2DAB7D59A6C}" presName="text2" presStyleLbl="fgAcc2" presStyleIdx="0" presStyleCnt="2" custScaleX="115095" custScaleY="125191">
        <dgm:presLayoutVars>
          <dgm:chPref val="3"/>
        </dgm:presLayoutVars>
      </dgm:prSet>
      <dgm:spPr/>
    </dgm:pt>
    <dgm:pt modelId="{27ABDA94-805A-4413-93C7-F5358E324054}" type="pres">
      <dgm:prSet presAssocID="{C3ABB139-6C6E-4D74-9183-A2DAB7D59A6C}" presName="hierChild3" presStyleCnt="0"/>
      <dgm:spPr/>
    </dgm:pt>
    <dgm:pt modelId="{2BD60D8B-8912-4C79-8957-8D326F8423F1}" type="pres">
      <dgm:prSet presAssocID="{A069EFDD-8FE3-428E-96D1-34FF3FD62735}" presName="Name10" presStyleLbl="parChTrans1D2" presStyleIdx="1" presStyleCnt="2"/>
      <dgm:spPr/>
    </dgm:pt>
    <dgm:pt modelId="{67924D88-AE66-43CE-822F-330DD11DDB5E}" type="pres">
      <dgm:prSet presAssocID="{698EA2D1-3CFE-412E-9BB5-3B43A4D9077A}" presName="hierRoot2" presStyleCnt="0"/>
      <dgm:spPr/>
    </dgm:pt>
    <dgm:pt modelId="{CAB3BFCB-4CD8-4557-829A-79F1A3D5DA25}" type="pres">
      <dgm:prSet presAssocID="{698EA2D1-3CFE-412E-9BB5-3B43A4D9077A}" presName="composite2" presStyleCnt="0"/>
      <dgm:spPr/>
    </dgm:pt>
    <dgm:pt modelId="{55E7A427-5B9C-4E3D-9DC9-A3BB5BCAC4E0}" type="pres">
      <dgm:prSet presAssocID="{698EA2D1-3CFE-412E-9BB5-3B43A4D9077A}" presName="background2" presStyleLbl="node2" presStyleIdx="1" presStyleCnt="2"/>
      <dgm:spPr/>
    </dgm:pt>
    <dgm:pt modelId="{9F9EB9C9-D442-42E8-B5B3-419804102731}" type="pres">
      <dgm:prSet presAssocID="{698EA2D1-3CFE-412E-9BB5-3B43A4D9077A}" presName="text2" presStyleLbl="fgAcc2" presStyleIdx="1" presStyleCnt="2">
        <dgm:presLayoutVars>
          <dgm:chPref val="3"/>
        </dgm:presLayoutVars>
      </dgm:prSet>
      <dgm:spPr/>
    </dgm:pt>
    <dgm:pt modelId="{4E5D1707-642F-4629-8FA7-404ED3995C84}" type="pres">
      <dgm:prSet presAssocID="{698EA2D1-3CFE-412E-9BB5-3B43A4D9077A}" presName="hierChild3" presStyleCnt="0"/>
      <dgm:spPr/>
    </dgm:pt>
  </dgm:ptLst>
  <dgm:cxnLst>
    <dgm:cxn modelId="{57349C01-C1A9-43B7-9F11-819A2BCEFC4C}" srcId="{2001123D-45D4-4E79-9CD4-00B7EE4ACCDE}" destId="{698EA2D1-3CFE-412E-9BB5-3B43A4D9077A}" srcOrd="1" destOrd="0" parTransId="{A069EFDD-8FE3-428E-96D1-34FF3FD62735}" sibTransId="{7A4448C4-995C-4931-BE32-255C995F1EAB}"/>
    <dgm:cxn modelId="{F02BE60D-6168-43B3-AD99-CAE7F57161D2}" type="presOf" srcId="{2001123D-45D4-4E79-9CD4-00B7EE4ACCDE}" destId="{E6EC00F1-275F-40F0-8960-38DABC664461}" srcOrd="0" destOrd="0" presId="urn:microsoft.com/office/officeart/2005/8/layout/hierarchy1"/>
    <dgm:cxn modelId="{FF400116-1FCF-4326-9BC3-116E4769CD89}" type="presOf" srcId="{DB8D793E-9A14-41DD-9AA9-C13899A34B89}" destId="{959B1965-6BFC-4831-8106-7D2B3859F310}" srcOrd="0" destOrd="0" presId="urn:microsoft.com/office/officeart/2005/8/layout/hierarchy1"/>
    <dgm:cxn modelId="{28C7A119-92FA-422C-AB91-EAF7B4734DD5}" type="presOf" srcId="{383FD574-6F47-4DA7-B3E5-EEF24D0D43B0}" destId="{CE0D9406-D1B1-412B-AC7E-684A8F11E9C8}" srcOrd="0" destOrd="0" presId="urn:microsoft.com/office/officeart/2005/8/layout/hierarchy1"/>
    <dgm:cxn modelId="{A2944620-503C-4685-ABAB-6F7569BC7E57}" type="presOf" srcId="{FD499E31-7101-498D-BD0D-E776E6973AF4}" destId="{B0228507-6D9F-457D-9396-86F8CAD54325}" srcOrd="0" destOrd="0" presId="urn:microsoft.com/office/officeart/2005/8/layout/hierarchy1"/>
    <dgm:cxn modelId="{8A488F23-AA10-4D41-A9DA-9974668C6444}" type="presOf" srcId="{C3ABB139-6C6E-4D74-9183-A2DAB7D59A6C}" destId="{800A9A94-529E-4AFA-A3D1-D017C9DC132F}" srcOrd="0" destOrd="0" presId="urn:microsoft.com/office/officeart/2005/8/layout/hierarchy1"/>
    <dgm:cxn modelId="{9EF87637-B468-474D-94E2-5D6B7530D68F}" srcId="{683ACC1F-F2A0-45DA-8BB4-A26CA7B317EA}" destId="{FD499E31-7101-498D-BD0D-E776E6973AF4}" srcOrd="0" destOrd="0" parTransId="{D8E7D6A2-63F2-46B1-A828-2D9B197E5E51}" sibTransId="{BD0DDBDB-A0CD-4046-8245-F1D06274AA42}"/>
    <dgm:cxn modelId="{1DF0987E-09E4-4327-A3B7-DBA57D11E625}" srcId="{683ACC1F-F2A0-45DA-8BB4-A26CA7B317EA}" destId="{2001123D-45D4-4E79-9CD4-00B7EE4ACCDE}" srcOrd="2" destOrd="0" parTransId="{29ACE589-95B0-43BE-B98E-FBEE796BFCF9}" sibTransId="{46D83486-3F0C-420D-A58F-3141B97F53F8}"/>
    <dgm:cxn modelId="{95E11E7F-167C-415E-B365-BCA236B33CFE}" srcId="{683ACC1F-F2A0-45DA-8BB4-A26CA7B317EA}" destId="{383FD574-6F47-4DA7-B3E5-EEF24D0D43B0}" srcOrd="1" destOrd="0" parTransId="{28851151-8B17-47C6-A095-B3B83B607B1D}" sibTransId="{306D099B-2E1A-4406-9341-B2D3A80CBA3A}"/>
    <dgm:cxn modelId="{E81D89A5-CC74-4D98-8C05-CF8FA7220E17}" type="presOf" srcId="{A069EFDD-8FE3-428E-96D1-34FF3FD62735}" destId="{2BD60D8B-8912-4C79-8957-8D326F8423F1}" srcOrd="0" destOrd="0" presId="urn:microsoft.com/office/officeart/2005/8/layout/hierarchy1"/>
    <dgm:cxn modelId="{861F9EB0-9A74-4F0F-AD30-4395F36EC0DE}" srcId="{2001123D-45D4-4E79-9CD4-00B7EE4ACCDE}" destId="{C3ABB139-6C6E-4D74-9183-A2DAB7D59A6C}" srcOrd="0" destOrd="0" parTransId="{DB8D793E-9A14-41DD-9AA9-C13899A34B89}" sibTransId="{31DDE246-1A71-4D27-8E25-5BED4724ED32}"/>
    <dgm:cxn modelId="{90EE56DB-82E2-4058-B5EB-5D4A8EC61ABF}" type="presOf" srcId="{698EA2D1-3CFE-412E-9BB5-3B43A4D9077A}" destId="{9F9EB9C9-D442-42E8-B5B3-419804102731}" srcOrd="0" destOrd="0" presId="urn:microsoft.com/office/officeart/2005/8/layout/hierarchy1"/>
    <dgm:cxn modelId="{F09FECEC-F239-4FD7-8AB8-41030A13EF94}" type="presOf" srcId="{683ACC1F-F2A0-45DA-8BB4-A26CA7B317EA}" destId="{57DD0F72-3997-42B6-9E19-52A2F9316A6A}" srcOrd="0" destOrd="0" presId="urn:microsoft.com/office/officeart/2005/8/layout/hierarchy1"/>
    <dgm:cxn modelId="{697958BA-5571-49FF-847B-12F0F20BCBAE}" type="presParOf" srcId="{57DD0F72-3997-42B6-9E19-52A2F9316A6A}" destId="{3231A9F6-B499-424A-82F0-5D06C004BB41}" srcOrd="0" destOrd="0" presId="urn:microsoft.com/office/officeart/2005/8/layout/hierarchy1"/>
    <dgm:cxn modelId="{58C5895F-D152-4849-9C62-F7F2A71E6A05}" type="presParOf" srcId="{3231A9F6-B499-424A-82F0-5D06C004BB41}" destId="{E985C772-545A-4731-BC6A-772874D34880}" srcOrd="0" destOrd="0" presId="urn:microsoft.com/office/officeart/2005/8/layout/hierarchy1"/>
    <dgm:cxn modelId="{BD5B680F-C3B4-4E4C-B06E-77E36C37EE17}" type="presParOf" srcId="{E985C772-545A-4731-BC6A-772874D34880}" destId="{E00FE4C7-984B-4CFA-97DA-532AA120806C}" srcOrd="0" destOrd="0" presId="urn:microsoft.com/office/officeart/2005/8/layout/hierarchy1"/>
    <dgm:cxn modelId="{915E2AAC-09CC-476D-B478-652580A67B93}" type="presParOf" srcId="{E985C772-545A-4731-BC6A-772874D34880}" destId="{B0228507-6D9F-457D-9396-86F8CAD54325}" srcOrd="1" destOrd="0" presId="urn:microsoft.com/office/officeart/2005/8/layout/hierarchy1"/>
    <dgm:cxn modelId="{8F9E2D6A-F0F7-4C18-9DF8-F25DEF09CEFD}" type="presParOf" srcId="{3231A9F6-B499-424A-82F0-5D06C004BB41}" destId="{082F03B8-2AFA-4B61-BB64-53390A8E87E9}" srcOrd="1" destOrd="0" presId="urn:microsoft.com/office/officeart/2005/8/layout/hierarchy1"/>
    <dgm:cxn modelId="{7AAC16DC-16FB-443B-A889-C782B491E711}" type="presParOf" srcId="{57DD0F72-3997-42B6-9E19-52A2F9316A6A}" destId="{F1E56810-8C93-4ED8-92A9-315E016A8541}" srcOrd="1" destOrd="0" presId="urn:microsoft.com/office/officeart/2005/8/layout/hierarchy1"/>
    <dgm:cxn modelId="{9634FE39-FB0C-43B2-BED1-D1DE3DB808B7}" type="presParOf" srcId="{F1E56810-8C93-4ED8-92A9-315E016A8541}" destId="{1F489D16-848D-4AA0-B072-A07EA8019B43}" srcOrd="0" destOrd="0" presId="urn:microsoft.com/office/officeart/2005/8/layout/hierarchy1"/>
    <dgm:cxn modelId="{2F7CAC26-FD71-4828-B7D1-8929F52D8A60}" type="presParOf" srcId="{1F489D16-848D-4AA0-B072-A07EA8019B43}" destId="{60C092AD-637F-4D34-9456-FC16E606D8D8}" srcOrd="0" destOrd="0" presId="urn:microsoft.com/office/officeart/2005/8/layout/hierarchy1"/>
    <dgm:cxn modelId="{EF0325D6-C60D-42D4-B61D-F9897EF97DEA}" type="presParOf" srcId="{1F489D16-848D-4AA0-B072-A07EA8019B43}" destId="{CE0D9406-D1B1-412B-AC7E-684A8F11E9C8}" srcOrd="1" destOrd="0" presId="urn:microsoft.com/office/officeart/2005/8/layout/hierarchy1"/>
    <dgm:cxn modelId="{DF9AC841-0E12-4BA9-873A-376CDF2526CE}" type="presParOf" srcId="{F1E56810-8C93-4ED8-92A9-315E016A8541}" destId="{7A6103B1-B06A-4ED7-A60C-87F47825EDFE}" srcOrd="1" destOrd="0" presId="urn:microsoft.com/office/officeart/2005/8/layout/hierarchy1"/>
    <dgm:cxn modelId="{2B889B17-2DB5-4DCA-9FF8-153E8020AEA0}" type="presParOf" srcId="{57DD0F72-3997-42B6-9E19-52A2F9316A6A}" destId="{6E4684BB-1FDB-4BDF-919F-10FAB85BAF6B}" srcOrd="2" destOrd="0" presId="urn:microsoft.com/office/officeart/2005/8/layout/hierarchy1"/>
    <dgm:cxn modelId="{043AD214-D59C-43AA-89D6-EDB5DBE2F988}" type="presParOf" srcId="{6E4684BB-1FDB-4BDF-919F-10FAB85BAF6B}" destId="{33C96E64-E3F6-48D7-8F8E-112DA1513000}" srcOrd="0" destOrd="0" presId="urn:microsoft.com/office/officeart/2005/8/layout/hierarchy1"/>
    <dgm:cxn modelId="{BD1146DA-7931-40E4-91BD-21FF4CBF01BD}" type="presParOf" srcId="{33C96E64-E3F6-48D7-8F8E-112DA1513000}" destId="{F4378EE8-44BB-4CF2-8895-9724F43CAEB5}" srcOrd="0" destOrd="0" presId="urn:microsoft.com/office/officeart/2005/8/layout/hierarchy1"/>
    <dgm:cxn modelId="{D376ED71-8B8C-40DE-9400-BCA9569BD004}" type="presParOf" srcId="{33C96E64-E3F6-48D7-8F8E-112DA1513000}" destId="{E6EC00F1-275F-40F0-8960-38DABC664461}" srcOrd="1" destOrd="0" presId="urn:microsoft.com/office/officeart/2005/8/layout/hierarchy1"/>
    <dgm:cxn modelId="{35F11BF7-DA25-4096-9E3D-B67AE8CA0665}" type="presParOf" srcId="{6E4684BB-1FDB-4BDF-919F-10FAB85BAF6B}" destId="{1B155F98-D6AB-4648-ABF5-004F284D399C}" srcOrd="1" destOrd="0" presId="urn:microsoft.com/office/officeart/2005/8/layout/hierarchy1"/>
    <dgm:cxn modelId="{F1FA8F69-3859-49C1-B765-9F136F789A7D}" type="presParOf" srcId="{1B155F98-D6AB-4648-ABF5-004F284D399C}" destId="{959B1965-6BFC-4831-8106-7D2B3859F310}" srcOrd="0" destOrd="0" presId="urn:microsoft.com/office/officeart/2005/8/layout/hierarchy1"/>
    <dgm:cxn modelId="{B8B55FC8-324E-462A-A650-DC0EA24A97CC}" type="presParOf" srcId="{1B155F98-D6AB-4648-ABF5-004F284D399C}" destId="{9DA3D118-94E5-462A-BC45-C9B241A9A109}" srcOrd="1" destOrd="0" presId="urn:microsoft.com/office/officeart/2005/8/layout/hierarchy1"/>
    <dgm:cxn modelId="{5AF05FAB-99EA-402E-8240-02984C76AEBB}" type="presParOf" srcId="{9DA3D118-94E5-462A-BC45-C9B241A9A109}" destId="{837FAC84-F992-41A8-9F4B-CD1AC5AD6F11}" srcOrd="0" destOrd="0" presId="urn:microsoft.com/office/officeart/2005/8/layout/hierarchy1"/>
    <dgm:cxn modelId="{45D1709B-6A1E-4D25-82C8-381EB2CCFAB8}" type="presParOf" srcId="{837FAC84-F992-41A8-9F4B-CD1AC5AD6F11}" destId="{190CC1A9-F4B1-4151-8F9C-DDB918192213}" srcOrd="0" destOrd="0" presId="urn:microsoft.com/office/officeart/2005/8/layout/hierarchy1"/>
    <dgm:cxn modelId="{B86128AA-9D3D-4FA7-9DFD-CD3D16BC1DCD}" type="presParOf" srcId="{837FAC84-F992-41A8-9F4B-CD1AC5AD6F11}" destId="{800A9A94-529E-4AFA-A3D1-D017C9DC132F}" srcOrd="1" destOrd="0" presId="urn:microsoft.com/office/officeart/2005/8/layout/hierarchy1"/>
    <dgm:cxn modelId="{BD78BF91-4F2B-4656-A22F-14F804729090}" type="presParOf" srcId="{9DA3D118-94E5-462A-BC45-C9B241A9A109}" destId="{27ABDA94-805A-4413-93C7-F5358E324054}" srcOrd="1" destOrd="0" presId="urn:microsoft.com/office/officeart/2005/8/layout/hierarchy1"/>
    <dgm:cxn modelId="{61BB8055-2333-47FE-9B0F-5303E9B5F615}" type="presParOf" srcId="{1B155F98-D6AB-4648-ABF5-004F284D399C}" destId="{2BD60D8B-8912-4C79-8957-8D326F8423F1}" srcOrd="2" destOrd="0" presId="urn:microsoft.com/office/officeart/2005/8/layout/hierarchy1"/>
    <dgm:cxn modelId="{AB144634-A1E2-43E3-9077-4B065851D412}" type="presParOf" srcId="{1B155F98-D6AB-4648-ABF5-004F284D399C}" destId="{67924D88-AE66-43CE-822F-330DD11DDB5E}" srcOrd="3" destOrd="0" presId="urn:microsoft.com/office/officeart/2005/8/layout/hierarchy1"/>
    <dgm:cxn modelId="{9A3E3C8B-AF13-4AB5-BAD1-DADA03C81CE5}" type="presParOf" srcId="{67924D88-AE66-43CE-822F-330DD11DDB5E}" destId="{CAB3BFCB-4CD8-4557-829A-79F1A3D5DA25}" srcOrd="0" destOrd="0" presId="urn:microsoft.com/office/officeart/2005/8/layout/hierarchy1"/>
    <dgm:cxn modelId="{BCD51192-6228-4F00-999C-8BBEC5665B5A}" type="presParOf" srcId="{CAB3BFCB-4CD8-4557-829A-79F1A3D5DA25}" destId="{55E7A427-5B9C-4E3D-9DC9-A3BB5BCAC4E0}" srcOrd="0" destOrd="0" presId="urn:microsoft.com/office/officeart/2005/8/layout/hierarchy1"/>
    <dgm:cxn modelId="{F0378E6F-C89C-42E8-BFDA-1005061F4757}" type="presParOf" srcId="{CAB3BFCB-4CD8-4557-829A-79F1A3D5DA25}" destId="{9F9EB9C9-D442-42E8-B5B3-419804102731}" srcOrd="1" destOrd="0" presId="urn:microsoft.com/office/officeart/2005/8/layout/hierarchy1"/>
    <dgm:cxn modelId="{46034549-6C30-46AB-82EF-DE5CD3E597BB}" type="presParOf" srcId="{67924D88-AE66-43CE-822F-330DD11DDB5E}" destId="{4E5D1707-642F-4629-8FA7-404ED3995C84}"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D60D8B-8912-4C79-8957-8D326F8423F1}">
      <dsp:nvSpPr>
        <dsp:cNvPr id="0" name=""/>
        <dsp:cNvSpPr/>
      </dsp:nvSpPr>
      <dsp:spPr>
        <a:xfrm>
          <a:off x="4914105" y="1094334"/>
          <a:ext cx="1145230" cy="485112"/>
        </a:xfrm>
        <a:custGeom>
          <a:avLst/>
          <a:gdLst/>
          <a:ahLst/>
          <a:cxnLst/>
          <a:rect l="0" t="0" r="0" b="0"/>
          <a:pathLst>
            <a:path>
              <a:moveTo>
                <a:pt x="0" y="0"/>
              </a:moveTo>
              <a:lnTo>
                <a:pt x="0" y="330589"/>
              </a:lnTo>
              <a:lnTo>
                <a:pt x="1145230" y="330589"/>
              </a:lnTo>
              <a:lnTo>
                <a:pt x="1145230" y="485112"/>
              </a:lnTo>
            </a:path>
          </a:pathLst>
        </a:custGeom>
        <a:noFill/>
        <a:ln w="63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9B1965-6BFC-4831-8106-7D2B3859F310}">
      <dsp:nvSpPr>
        <dsp:cNvPr id="0" name=""/>
        <dsp:cNvSpPr/>
      </dsp:nvSpPr>
      <dsp:spPr>
        <a:xfrm>
          <a:off x="3894767" y="1094334"/>
          <a:ext cx="1019337" cy="485112"/>
        </a:xfrm>
        <a:custGeom>
          <a:avLst/>
          <a:gdLst/>
          <a:ahLst/>
          <a:cxnLst/>
          <a:rect l="0" t="0" r="0" b="0"/>
          <a:pathLst>
            <a:path>
              <a:moveTo>
                <a:pt x="1019337" y="0"/>
              </a:moveTo>
              <a:lnTo>
                <a:pt x="1019337" y="330589"/>
              </a:lnTo>
              <a:lnTo>
                <a:pt x="0" y="330589"/>
              </a:lnTo>
              <a:lnTo>
                <a:pt x="0" y="485112"/>
              </a:lnTo>
            </a:path>
          </a:pathLst>
        </a:custGeom>
        <a:noFill/>
        <a:ln w="63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0FE4C7-984B-4CFA-97DA-532AA120806C}">
      <dsp:nvSpPr>
        <dsp:cNvPr id="0" name=""/>
        <dsp:cNvSpPr/>
      </dsp:nvSpPr>
      <dsp:spPr>
        <a:xfrm>
          <a:off x="2750" y="35149"/>
          <a:ext cx="1668007" cy="1059184"/>
        </a:xfrm>
        <a:prstGeom prst="roundRect">
          <a:avLst>
            <a:gd name="adj" fmla="val 10000"/>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228507-6D9F-457D-9396-86F8CAD54325}">
      <dsp:nvSpPr>
        <dsp:cNvPr id="0" name=""/>
        <dsp:cNvSpPr/>
      </dsp:nvSpPr>
      <dsp:spPr>
        <a:xfrm>
          <a:off x="188084" y="211217"/>
          <a:ext cx="1668007" cy="105918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dirty="0">
              <a:latin typeface="Tahoma"/>
              <a:cs typeface="Tahoma"/>
            </a:rPr>
            <a:t>The average age of people living with disability-associated conditions is increasing.</a:t>
          </a:r>
        </a:p>
      </dsp:txBody>
      <dsp:txXfrm>
        <a:off x="219106" y="242239"/>
        <a:ext cx="1605963" cy="997140"/>
      </dsp:txXfrm>
    </dsp:sp>
    <dsp:sp modelId="{60C092AD-637F-4D34-9456-FC16E606D8D8}">
      <dsp:nvSpPr>
        <dsp:cNvPr id="0" name=""/>
        <dsp:cNvSpPr/>
      </dsp:nvSpPr>
      <dsp:spPr>
        <a:xfrm>
          <a:off x="2041425" y="35149"/>
          <a:ext cx="1668007" cy="1059184"/>
        </a:xfrm>
        <a:prstGeom prst="roundRect">
          <a:avLst>
            <a:gd name="adj" fmla="val 10000"/>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0D9406-D1B1-412B-AC7E-684A8F11E9C8}">
      <dsp:nvSpPr>
        <dsp:cNvPr id="0" name=""/>
        <dsp:cNvSpPr/>
      </dsp:nvSpPr>
      <dsp:spPr>
        <a:xfrm>
          <a:off x="2226760" y="211217"/>
          <a:ext cx="1668007" cy="105918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dirty="0">
              <a:latin typeface="Tahoma"/>
              <a:cs typeface="Tahoma"/>
            </a:rPr>
            <a:t>Conditions </a:t>
          </a:r>
          <a:r>
            <a:rPr lang="en-US" sz="1300" b="0" kern="1200" dirty="0">
              <a:latin typeface="Tahoma"/>
              <a:cs typeface="Tahoma"/>
            </a:rPr>
            <a:t>acquired at birth, childhood, or before midlife</a:t>
          </a:r>
        </a:p>
      </dsp:txBody>
      <dsp:txXfrm>
        <a:off x="2257782" y="242239"/>
        <a:ext cx="1605963" cy="997140"/>
      </dsp:txXfrm>
    </dsp:sp>
    <dsp:sp modelId="{F4378EE8-44BB-4CF2-8895-9724F43CAEB5}">
      <dsp:nvSpPr>
        <dsp:cNvPr id="0" name=""/>
        <dsp:cNvSpPr/>
      </dsp:nvSpPr>
      <dsp:spPr>
        <a:xfrm>
          <a:off x="4080101" y="35149"/>
          <a:ext cx="1668007" cy="1059184"/>
        </a:xfrm>
        <a:prstGeom prst="roundRect">
          <a:avLst>
            <a:gd name="adj" fmla="val 10000"/>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EC00F1-275F-40F0-8960-38DABC664461}">
      <dsp:nvSpPr>
        <dsp:cNvPr id="0" name=""/>
        <dsp:cNvSpPr/>
      </dsp:nvSpPr>
      <dsp:spPr>
        <a:xfrm>
          <a:off x="4265435" y="211217"/>
          <a:ext cx="1668007" cy="105918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Tahoma"/>
              <a:cs typeface="Tahoma"/>
            </a:rPr>
            <a:t>Can experience “premature aging”:</a:t>
          </a:r>
        </a:p>
      </dsp:txBody>
      <dsp:txXfrm>
        <a:off x="4296457" y="242239"/>
        <a:ext cx="1605963" cy="997140"/>
      </dsp:txXfrm>
    </dsp:sp>
    <dsp:sp modelId="{190CC1A9-F4B1-4151-8F9C-DDB918192213}">
      <dsp:nvSpPr>
        <dsp:cNvPr id="0" name=""/>
        <dsp:cNvSpPr/>
      </dsp:nvSpPr>
      <dsp:spPr>
        <a:xfrm>
          <a:off x="2934870" y="1579446"/>
          <a:ext cx="1919792" cy="1326003"/>
        </a:xfrm>
        <a:prstGeom prst="roundRect">
          <a:avLst>
            <a:gd name="adj" fmla="val 10000"/>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0A9A94-529E-4AFA-A3D1-D017C9DC132F}">
      <dsp:nvSpPr>
        <dsp:cNvPr id="0" name=""/>
        <dsp:cNvSpPr/>
      </dsp:nvSpPr>
      <dsp:spPr>
        <a:xfrm>
          <a:off x="3120205" y="1755514"/>
          <a:ext cx="1919792" cy="132600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ahoma"/>
              <a:cs typeface="Tahoma"/>
            </a:rPr>
            <a:t>Medical conditions are more prevalent in people aging with disability </a:t>
          </a:r>
        </a:p>
        <a:p>
          <a:pPr marL="0" lvl="0" indent="0" algn="ctr" defTabSz="533400">
            <a:lnSpc>
              <a:spcPct val="90000"/>
            </a:lnSpc>
            <a:spcBef>
              <a:spcPct val="0"/>
            </a:spcBef>
            <a:spcAft>
              <a:spcPct val="35000"/>
            </a:spcAft>
            <a:buNone/>
          </a:pPr>
          <a:r>
            <a:rPr lang="en-US" sz="1200" kern="1200" dirty="0">
              <a:latin typeface="Tahoma"/>
              <a:cs typeface="Tahoma"/>
            </a:rPr>
            <a:t>(hypertension, obesity, heart disease, diabetes)</a:t>
          </a:r>
        </a:p>
      </dsp:txBody>
      <dsp:txXfrm>
        <a:off x="3159042" y="1794351"/>
        <a:ext cx="1842118" cy="1248329"/>
      </dsp:txXfrm>
    </dsp:sp>
    <dsp:sp modelId="{55E7A427-5B9C-4E3D-9DC9-A3BB5BCAC4E0}">
      <dsp:nvSpPr>
        <dsp:cNvPr id="0" name=""/>
        <dsp:cNvSpPr/>
      </dsp:nvSpPr>
      <dsp:spPr>
        <a:xfrm>
          <a:off x="5225332" y="1579446"/>
          <a:ext cx="1668007" cy="1059184"/>
        </a:xfrm>
        <a:prstGeom prst="roundRect">
          <a:avLst>
            <a:gd name="adj" fmla="val 10000"/>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9EB9C9-D442-42E8-B5B3-419804102731}">
      <dsp:nvSpPr>
        <dsp:cNvPr id="0" name=""/>
        <dsp:cNvSpPr/>
      </dsp:nvSpPr>
      <dsp:spPr>
        <a:xfrm>
          <a:off x="5410666" y="1755514"/>
          <a:ext cx="1668007" cy="105918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ahoma"/>
              <a:cs typeface="Tahoma"/>
            </a:rPr>
            <a:t>Secondary health conditions (bone loss, fractures, rotator cuff injuries, pain)</a:t>
          </a:r>
        </a:p>
      </dsp:txBody>
      <dsp:txXfrm>
        <a:off x="5441688" y="1786536"/>
        <a:ext cx="1605963" cy="9971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719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18384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E092AE-5BC0-1242-B5C0-231EE3E36117}" type="slidenum">
              <a:rPr lang="en-US" smtClean="0"/>
              <a:t>2</a:t>
            </a:fld>
            <a:endParaRPr lang="en-US"/>
          </a:p>
        </p:txBody>
      </p:sp>
    </p:spTree>
    <p:extLst>
      <p:ext uri="{BB962C8B-B14F-4D97-AF65-F5344CB8AC3E}">
        <p14:creationId xmlns:p14="http://schemas.microsoft.com/office/powerpoint/2010/main" val="494561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2F02-527F-F12C-940C-F79F648CA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A9F10-3E92-6818-471B-C8B37141E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97CE8-E711-8F5E-AD30-1BD2468C81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2ECC7D-FCB3-8760-ABDC-BF45B0C5D42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17246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D416B-5110-13DA-17B3-283C1086C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D0D70-FEF8-08F3-DEF1-12B93010B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5ECDF-FFE9-78E0-AE1C-C78859E496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A973D4-2A89-30BC-97A6-921F1C8B9F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044279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endParaRPr lang="en-US"/>
          </a:p>
        </p:txBody>
      </p:sp>
    </p:spTree>
    <p:extLst>
      <p:ext uri="{BB962C8B-B14F-4D97-AF65-F5344CB8AC3E}">
        <p14:creationId xmlns:p14="http://schemas.microsoft.com/office/powerpoint/2010/main" val="738578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662E-942E-7CF9-EF34-D086A38EE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E737D-2669-40F0-1C0D-907FAEB11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06959-44B2-67B5-4B4B-693B859624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CF75B5-6BE1-58B1-7C75-63D5BD89B04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26362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78D06-F7DA-94E4-A072-8BDA46E41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99C33-19F9-0770-EC49-53AD45A56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CA2AE-092D-04FC-3770-23C6D60D14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E3E390-1D24-DE54-C075-7797B425CD5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06422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463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457200" rtl="0" eaLnBrk="1" latinLnBrk="0" hangingPunct="1">
        <a:spcBef>
          <a:spcPct val="0"/>
        </a:spcBef>
        <a:buNone/>
        <a:defRPr sz="2200" kern="6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Tahoma"/>
        <a:buChar char="•"/>
        <a:defRPr sz="1600" kern="600">
          <a:solidFill>
            <a:schemeClr val="tx1"/>
          </a:solidFill>
          <a:latin typeface="+mn-lt"/>
          <a:ea typeface="+mn-ea"/>
          <a:cs typeface="+mn-cs"/>
        </a:defRPr>
      </a:lvl1pPr>
      <a:lvl2pPr marL="371475" indent="-142875" algn="l" defTabSz="457200" rtl="0" eaLnBrk="1" latinLnBrk="0" hangingPunct="1">
        <a:spcBef>
          <a:spcPct val="20000"/>
        </a:spcBef>
        <a:buFont typeface="Tahoma"/>
        <a:buChar char="–"/>
        <a:defRPr sz="1400" kern="600">
          <a:solidFill>
            <a:schemeClr val="tx1"/>
          </a:solidFill>
          <a:latin typeface="+mn-lt"/>
          <a:ea typeface="+mn-ea"/>
          <a:cs typeface="+mn-cs"/>
        </a:defRPr>
      </a:lvl2pPr>
      <a:lvl3pPr marL="571500" indent="-114300" algn="l" defTabSz="457200" rtl="0" eaLnBrk="1" latinLnBrk="0" hangingPunct="1">
        <a:spcBef>
          <a:spcPct val="20000"/>
        </a:spcBef>
        <a:buFont typeface="Tahoma"/>
        <a:buChar char="•"/>
        <a:defRPr sz="1200" kern="600">
          <a:solidFill>
            <a:schemeClr val="tx1"/>
          </a:solidFill>
          <a:latin typeface="+mn-lt"/>
          <a:ea typeface="+mn-ea"/>
          <a:cs typeface="+mn-cs"/>
        </a:defRPr>
      </a:lvl3pPr>
      <a:lvl4pPr marL="800100" indent="-114300" algn="l" defTabSz="457200" rtl="0" eaLnBrk="1" latinLnBrk="0" hangingPunct="1">
        <a:spcBef>
          <a:spcPct val="20000"/>
        </a:spcBef>
        <a:buFont typeface="Tahoma"/>
        <a:buChar char="–"/>
        <a:defRPr sz="1000" kern="600">
          <a:solidFill>
            <a:schemeClr val="tx1"/>
          </a:solidFill>
          <a:latin typeface="+mn-lt"/>
          <a:ea typeface="+mn-ea"/>
          <a:cs typeface="+mn-cs"/>
        </a:defRPr>
      </a:lvl4pPr>
      <a:lvl5pPr marL="1028700" indent="-114300" algn="l" defTabSz="457200" rtl="0" eaLnBrk="1" latinLnBrk="0" hangingPunct="1">
        <a:spcBef>
          <a:spcPct val="20000"/>
        </a:spcBef>
        <a:buFont typeface="Tahoma"/>
        <a:buChar char="»"/>
        <a:defRPr sz="1000" kern="600">
          <a:solidFill>
            <a:schemeClr val="tx1"/>
          </a:solidFill>
          <a:latin typeface="+mn-lt"/>
          <a:ea typeface="+mn-ea"/>
          <a:cs typeface="+mn-cs"/>
        </a:defRPr>
      </a:lvl5pPr>
      <a:lvl6pPr marL="1257300" indent="-114300" algn="l" defTabSz="457200" rtl="0" eaLnBrk="1" latinLnBrk="0" hangingPunct="1">
        <a:spcBef>
          <a:spcPct val="20000"/>
        </a:spcBef>
        <a:buFont typeface="Tahoma"/>
        <a:buChar char="•"/>
        <a:defRPr sz="1000" kern="600">
          <a:solidFill>
            <a:schemeClr val="tx1"/>
          </a:solidFill>
          <a:latin typeface="+mn-lt"/>
          <a:ea typeface="+mn-ea"/>
          <a:cs typeface="+mn-cs"/>
        </a:defRPr>
      </a:lvl6pPr>
      <a:lvl7pPr marL="1485900" indent="-114300" algn="l" defTabSz="457200" rtl="0" eaLnBrk="1" latinLnBrk="0" hangingPunct="1">
        <a:spcBef>
          <a:spcPct val="20000"/>
        </a:spcBef>
        <a:buFont typeface="Tahoma"/>
        <a:buChar char="•"/>
        <a:defRPr sz="1000" kern="600">
          <a:solidFill>
            <a:schemeClr val="tx1"/>
          </a:solidFill>
          <a:latin typeface="+mn-lt"/>
          <a:ea typeface="+mn-ea"/>
          <a:cs typeface="+mn-cs"/>
        </a:defRPr>
      </a:lvl7pPr>
      <a:lvl8pPr marL="1714500" indent="-114300" algn="l" defTabSz="457200" rtl="0" eaLnBrk="1" latinLnBrk="0" hangingPunct="1">
        <a:spcBef>
          <a:spcPct val="20000"/>
        </a:spcBef>
        <a:buFont typeface="Tahoma"/>
        <a:buChar char="•"/>
        <a:defRPr sz="1000" kern="600">
          <a:solidFill>
            <a:schemeClr val="tx1"/>
          </a:solidFill>
          <a:latin typeface="+mn-lt"/>
          <a:ea typeface="+mn-ea"/>
          <a:cs typeface="+mn-cs"/>
        </a:defRPr>
      </a:lvl8pPr>
      <a:lvl9pPr marL="1943100" indent="-114300" algn="l" defTabSz="457200" rtl="0" eaLnBrk="1" latinLnBrk="0" hangingPunct="1">
        <a:spcBef>
          <a:spcPct val="20000"/>
        </a:spcBef>
        <a:buFont typeface="Tahoma"/>
        <a:buChar char="•"/>
        <a:defRPr sz="1000" kern="600">
          <a:solidFill>
            <a:schemeClr val="tx1"/>
          </a:solidFill>
          <a:latin typeface="+mn-lt"/>
          <a:ea typeface="+mn-ea"/>
          <a:cs typeface="+mn-cs"/>
        </a:defRPr>
      </a:lvl9pPr>
    </p:bodyStyle>
    <p:otherStyle>
      <a:defPPr>
        <a:defRPr lang="en-US"/>
      </a:defPPr>
      <a:lvl1pPr marL="0" algn="l" defTabSz="457200" rtl="0" eaLnBrk="1" latinLnBrk="0" hangingPunct="1">
        <a:defRPr sz="900" kern="600">
          <a:solidFill>
            <a:schemeClr val="tx1"/>
          </a:solidFill>
          <a:latin typeface="+mn-lt"/>
          <a:ea typeface="+mn-ea"/>
          <a:cs typeface="+mn-cs"/>
        </a:defRPr>
      </a:lvl1pPr>
      <a:lvl2pPr marL="228600" algn="l" defTabSz="457200" rtl="0" eaLnBrk="1" latinLnBrk="0" hangingPunct="1">
        <a:defRPr sz="900" kern="600">
          <a:solidFill>
            <a:schemeClr val="tx1"/>
          </a:solidFill>
          <a:latin typeface="+mn-lt"/>
          <a:ea typeface="+mn-ea"/>
          <a:cs typeface="+mn-cs"/>
        </a:defRPr>
      </a:lvl2pPr>
      <a:lvl3pPr marL="457200" algn="l" defTabSz="457200" rtl="0" eaLnBrk="1" latinLnBrk="0" hangingPunct="1">
        <a:defRPr sz="900" kern="600">
          <a:solidFill>
            <a:schemeClr val="tx1"/>
          </a:solidFill>
          <a:latin typeface="+mn-lt"/>
          <a:ea typeface="+mn-ea"/>
          <a:cs typeface="+mn-cs"/>
        </a:defRPr>
      </a:lvl3pPr>
      <a:lvl4pPr marL="685800" algn="l" defTabSz="457200" rtl="0" eaLnBrk="1" latinLnBrk="0" hangingPunct="1">
        <a:defRPr sz="900" kern="600">
          <a:solidFill>
            <a:schemeClr val="tx1"/>
          </a:solidFill>
          <a:latin typeface="+mn-lt"/>
          <a:ea typeface="+mn-ea"/>
          <a:cs typeface="+mn-cs"/>
        </a:defRPr>
      </a:lvl4pPr>
      <a:lvl5pPr marL="914400" algn="l" defTabSz="457200" rtl="0" eaLnBrk="1" latinLnBrk="0" hangingPunct="1">
        <a:defRPr sz="900" kern="600">
          <a:solidFill>
            <a:schemeClr val="tx1"/>
          </a:solidFill>
          <a:latin typeface="+mn-lt"/>
          <a:ea typeface="+mn-ea"/>
          <a:cs typeface="+mn-cs"/>
        </a:defRPr>
      </a:lvl5pPr>
      <a:lvl6pPr marL="1143000" algn="l" defTabSz="457200" rtl="0" eaLnBrk="1" latinLnBrk="0" hangingPunct="1">
        <a:defRPr sz="900" kern="600">
          <a:solidFill>
            <a:schemeClr val="tx1"/>
          </a:solidFill>
          <a:latin typeface="+mn-lt"/>
          <a:ea typeface="+mn-ea"/>
          <a:cs typeface="+mn-cs"/>
        </a:defRPr>
      </a:lvl6pPr>
      <a:lvl7pPr marL="1371600" algn="l" defTabSz="457200" rtl="0" eaLnBrk="1" latinLnBrk="0" hangingPunct="1">
        <a:defRPr sz="900" kern="600">
          <a:solidFill>
            <a:schemeClr val="tx1"/>
          </a:solidFill>
          <a:latin typeface="+mn-lt"/>
          <a:ea typeface="+mn-ea"/>
          <a:cs typeface="+mn-cs"/>
        </a:defRPr>
      </a:lvl7pPr>
      <a:lvl8pPr marL="1600200" algn="l" defTabSz="457200" rtl="0" eaLnBrk="1" latinLnBrk="0" hangingPunct="1">
        <a:defRPr sz="900" kern="600">
          <a:solidFill>
            <a:schemeClr val="tx1"/>
          </a:solidFill>
          <a:latin typeface="+mn-lt"/>
          <a:ea typeface="+mn-ea"/>
          <a:cs typeface="+mn-cs"/>
        </a:defRPr>
      </a:lvl8pPr>
      <a:lvl9pPr marL="1828800" algn="l" defTabSz="457200" rtl="0" eaLnBrk="1" latinLnBrk="0" hangingPunct="1">
        <a:defRPr sz="900" kern="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amepre.2025.108001"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A98"/>
        </a:solidFill>
        <a:effectLst/>
      </p:bgPr>
    </p:bg>
    <p:spTree>
      <p:nvGrpSpPr>
        <p:cNvPr id="1" name=""/>
        <p:cNvGrpSpPr/>
        <p:nvPr/>
      </p:nvGrpSpPr>
      <p:grpSpPr>
        <a:xfrm>
          <a:off x="0" y="0"/>
          <a:ext cx="0" cy="0"/>
          <a:chOff x="0" y="0"/>
          <a:chExt cx="0" cy="0"/>
        </a:xfrm>
      </p:grpSpPr>
      <p:sp>
        <p:nvSpPr>
          <p:cNvPr id="6" name="Shape 3">
            <a:extLst>
              <a:ext uri="{C183D7F6-B498-43B3-948B-1728B52AA6E4}">
                <adec:decorative xmlns:adec="http://schemas.microsoft.com/office/drawing/2017/decorative" val="1"/>
              </a:ext>
            </a:extLst>
          </p:cNvPr>
          <p:cNvSpPr/>
          <p:nvPr/>
        </p:nvSpPr>
        <p:spPr>
          <a:xfrm>
            <a:off x="571500" y="4138612"/>
            <a:ext cx="3762375" cy="9525"/>
          </a:xfrm>
          <a:prstGeom prst="rect">
            <a:avLst/>
          </a:prstGeom>
          <a:solidFill>
            <a:srgbClr val="FFFFFF">
              <a:alpha val="35000"/>
            </a:srgbClr>
          </a:solidFill>
          <a:ln/>
        </p:spPr>
        <p:txBody>
          <a:bodyPr/>
          <a:lstStyle/>
          <a:p>
            <a:endParaRPr lang="en-US"/>
          </a:p>
        </p:txBody>
      </p:sp>
      <p:sp>
        <p:nvSpPr>
          <p:cNvPr id="4" name="Text 1"/>
          <p:cNvSpPr>
            <a:spLocks noGrp="1"/>
          </p:cNvSpPr>
          <p:nvPr>
            <p:ph type="title"/>
          </p:nvPr>
        </p:nvSpPr>
        <p:spPr>
          <a:xfrm>
            <a:off x="571500" y="1426294"/>
            <a:ext cx="3561230" cy="1512094"/>
          </a:xfrm>
          <a:prstGeom prst="rect">
            <a:avLst/>
          </a:prstGeom>
          <a:noFill/>
          <a:ln/>
        </p:spPr>
        <p:txBody>
          <a:bodyPr wrap="square" lIns="0" tIns="0" rIns="0" bIns="0" rtlCol="0" anchor="t">
            <a:normAutofit fontScale="90000"/>
          </a:bodyPr>
          <a:lstStyle/>
          <a:p>
            <a:pPr marL="0" indent="0" algn="l">
              <a:buNone/>
            </a:pPr>
            <a:r>
              <a:rPr lang="en-US" sz="3300" b="1" kern="0" spc="-66" dirty="0">
                <a:solidFill>
                  <a:srgbClr val="FFFFFF"/>
                </a:solidFill>
                <a:latin typeface="Tahoma"/>
                <a:ea typeface="Tahoma"/>
                <a:cs typeface="Tahoma"/>
              </a:rPr>
              <a:t>Maintaining Health while Aging with Disability:</a:t>
            </a:r>
            <a:endParaRPr lang="en-US" sz="3300" dirty="0"/>
          </a:p>
        </p:txBody>
      </p:sp>
      <p:sp>
        <p:nvSpPr>
          <p:cNvPr id="5" name="Text 2"/>
          <p:cNvSpPr txBox="1"/>
          <p:nvPr/>
        </p:nvSpPr>
        <p:spPr>
          <a:xfrm>
            <a:off x="547688" y="2848980"/>
            <a:ext cx="4000500" cy="689520"/>
          </a:xfrm>
          <a:prstGeom prst="rect">
            <a:avLst/>
          </a:prstGeom>
          <a:noFill/>
          <a:ln/>
        </p:spPr>
        <p:txBody>
          <a:bodyPr wrap="square" lIns="12700" tIns="12700" rIns="12700" bIns="12700" rtlCol="0" anchor="t">
            <a:normAutofit lnSpcReduction="10000"/>
          </a:bodyPr>
          <a:lstStyle/>
          <a:p>
            <a:pPr marL="0" indent="0" algn="l">
              <a:lnSpc>
                <a:spcPct val="95135"/>
              </a:lnSpc>
              <a:buNone/>
            </a:pPr>
            <a:r>
              <a:rPr lang="en-US" sz="2400" kern="0" spc="-66" dirty="0">
                <a:solidFill>
                  <a:srgbClr val="59D3EF"/>
                </a:solidFill>
                <a:latin typeface="Tahoma"/>
                <a:ea typeface="Tahoma"/>
                <a:cs typeface="Tahoma"/>
              </a:rPr>
              <a:t>The Role of the Neighborhood Environment</a:t>
            </a:r>
            <a:endParaRPr lang="en-US" sz="2400" dirty="0"/>
          </a:p>
        </p:txBody>
      </p:sp>
      <p:sp>
        <p:nvSpPr>
          <p:cNvPr id="3" name="Text 0"/>
          <p:cNvSpPr txBox="1"/>
          <p:nvPr/>
        </p:nvSpPr>
        <p:spPr>
          <a:xfrm>
            <a:off x="571500" y="899287"/>
            <a:ext cx="3561230" cy="365082"/>
          </a:xfrm>
          <a:prstGeom prst="rect">
            <a:avLst/>
          </a:prstGeom>
          <a:noFill/>
          <a:ln/>
        </p:spPr>
        <p:txBody>
          <a:bodyPr wrap="square" lIns="12700" tIns="12700" rIns="12700" bIns="12700" rtlCol="0" anchor="t">
            <a:normAutofit/>
          </a:bodyPr>
          <a:lstStyle/>
          <a:p>
            <a:pPr marL="0" indent="0" algn="l">
              <a:buNone/>
            </a:pPr>
            <a:r>
              <a:rPr lang="en-US" sz="975" kern="0" spc="117" dirty="0">
                <a:solidFill>
                  <a:srgbClr val="59D3EF"/>
                </a:solidFill>
                <a:latin typeface="Tahoma"/>
                <a:ea typeface="Tahoma"/>
                <a:cs typeface="Tahoma"/>
              </a:rPr>
              <a:t>GSA ANNUAL SCIENTIFIC MEETING ONLINE WORKSHOP SERIES 2026</a:t>
            </a:r>
            <a:endParaRPr lang="en-US" sz="975" dirty="0"/>
          </a:p>
        </p:txBody>
      </p:sp>
      <p:sp>
        <p:nvSpPr>
          <p:cNvPr id="7" name="Text 4"/>
          <p:cNvSpPr txBox="1"/>
          <p:nvPr/>
        </p:nvSpPr>
        <p:spPr>
          <a:xfrm>
            <a:off x="571500" y="4300538"/>
            <a:ext cx="4138612" cy="486727"/>
          </a:xfrm>
          <a:prstGeom prst="rect">
            <a:avLst/>
          </a:prstGeom>
          <a:noFill/>
          <a:ln/>
        </p:spPr>
        <p:txBody>
          <a:bodyPr wrap="square" lIns="12700" tIns="12700" rIns="12700" bIns="12700" rtlCol="0" anchor="t">
            <a:normAutofit/>
          </a:bodyPr>
          <a:lstStyle/>
          <a:p>
            <a:pPr marL="0" indent="0" algn="l">
              <a:buNone/>
            </a:pPr>
            <a:r>
              <a:rPr lang="en-US" sz="1350" b="1" dirty="0">
                <a:solidFill>
                  <a:srgbClr val="FFFFFF"/>
                </a:solidFill>
                <a:latin typeface="Tahoma"/>
                <a:ea typeface="Tahoma"/>
                <a:cs typeface="Tahoma"/>
              </a:rPr>
              <a:t>Philippa Clarke, PhD</a:t>
            </a:r>
          </a:p>
          <a:p>
            <a:pPr marL="0" indent="0" algn="l">
              <a:buNone/>
            </a:pPr>
            <a:r>
              <a:rPr lang="en-US" sz="1350" b="1" dirty="0">
                <a:solidFill>
                  <a:srgbClr val="FFFFFF"/>
                </a:solidFill>
                <a:latin typeface="Tahoma"/>
                <a:ea typeface="Tahoma"/>
                <a:cs typeface="Tahoma"/>
              </a:rPr>
              <a:t>Research Professor</a:t>
            </a:r>
            <a:endParaRPr lang="en-US" sz="1350" dirty="0"/>
          </a:p>
        </p:txBody>
      </p:sp>
      <p:pic>
        <p:nvPicPr>
          <p:cNvPr id="2" name="Image 0" descr="National Neighborhood Data Archive (NaNDA) logo"/>
          <p:cNvPicPr>
            <a:picLocks noChangeAspect="1"/>
          </p:cNvPicPr>
          <p:nvPr/>
        </p:nvPicPr>
        <p:blipFill>
          <a:blip r:embed="rId3"/>
          <a:stretch>
            <a:fillRect/>
          </a:stretch>
        </p:blipFill>
        <p:spPr>
          <a:xfrm>
            <a:off x="571500" y="523875"/>
            <a:ext cx="1543571" cy="266700"/>
          </a:xfrm>
          <a:prstGeom prst="rect">
            <a:avLst/>
          </a:prstGeom>
        </p:spPr>
      </p:pic>
      <p:pic>
        <p:nvPicPr>
          <p:cNvPr id="9" name="Image 1" descr="Aerial view of a suburban neighborhood of brick houses with tiled roofs, gardens, and trees"/>
          <p:cNvPicPr>
            <a:picLocks noChangeAspect="1"/>
          </p:cNvPicPr>
          <p:nvPr/>
        </p:nvPicPr>
        <p:blipFill>
          <a:blip r:embed="rId4"/>
          <a:srcRect l="21570" r="21570"/>
          <a:stretch/>
        </p:blipFill>
        <p:spPr>
          <a:xfrm>
            <a:off x="4762500" y="0"/>
            <a:ext cx="4381500" cy="5143500"/>
          </a:xfrm>
          <a:prstGeom prst="rect">
            <a:avLst/>
          </a:prstGeom>
        </p:spPr>
      </p:pic>
      <p:sp>
        <p:nvSpPr>
          <p:cNvPr id="10" name="Shape 6">
            <a:extLst>
              <a:ext uri="{C183D7F6-B498-43B3-948B-1728B52AA6E4}">
                <adec:decorative xmlns:adec="http://schemas.microsoft.com/office/drawing/2017/decorative" val="1"/>
              </a:ext>
            </a:extLst>
          </p:cNvPr>
          <p:cNvSpPr/>
          <p:nvPr/>
        </p:nvSpPr>
        <p:spPr>
          <a:xfrm>
            <a:off x="4762500" y="0"/>
            <a:ext cx="85725" cy="5143500"/>
          </a:xfrm>
          <a:prstGeom prst="rect">
            <a:avLst/>
          </a:prstGeom>
          <a:solidFill>
            <a:srgbClr val="49AA31"/>
          </a:solidFill>
          <a:ln/>
        </p:spPr>
        <p:txBody>
          <a:bodyPr/>
          <a:lstStyle/>
          <a:p>
            <a:endParaRPr lang="en-US"/>
          </a:p>
        </p:txBody>
      </p:sp>
    </p:spTree>
    <p:extLst>
      <p:ext uri="{BB962C8B-B14F-4D97-AF65-F5344CB8AC3E}">
        <p14:creationId xmlns:p14="http://schemas.microsoft.com/office/powerpoint/2010/main" val="177440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2373BC-D433-B348-81D7-A3FC70B4151D}"/>
              </a:ext>
              <a:ext uri="{C183D7F6-B498-43B3-948B-1728B52AA6E4}">
                <adec:decorative xmlns:adec="http://schemas.microsoft.com/office/drawing/2017/decorative" val="1"/>
              </a:ext>
            </a:extLst>
          </p:cNvPr>
          <p:cNvSpPr/>
          <p:nvPr/>
        </p:nvSpPr>
        <p:spPr>
          <a:xfrm>
            <a:off x="457200" y="0"/>
            <a:ext cx="8229600" cy="76630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82"/>
          </a:p>
        </p:txBody>
      </p:sp>
      <p:pic>
        <p:nvPicPr>
          <p:cNvPr id="7" name="Image 0">
            <a:extLst>
              <a:ext uri="{FF2B5EF4-FFF2-40B4-BE49-F238E27FC236}">
                <a16:creationId xmlns:a16="http://schemas.microsoft.com/office/drawing/2014/main" id="{7CBF3F60-6F45-AFFB-6158-B6AC35B57F2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3" name="Text 0">
            <a:extLst>
              <a:ext uri="{FF2B5EF4-FFF2-40B4-BE49-F238E27FC236}">
                <a16:creationId xmlns:a16="http://schemas.microsoft.com/office/drawing/2014/main" id="{940B6096-F597-D607-CA0D-37F089861170}"/>
              </a:ext>
            </a:extLst>
          </p:cNvPr>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Aging with disability</a:t>
            </a:r>
            <a:endParaRPr lang="en-US" sz="2850" dirty="0"/>
          </a:p>
        </p:txBody>
      </p:sp>
      <p:graphicFrame>
        <p:nvGraphicFramePr>
          <p:cNvPr id="17" name="Google Shape;140;p19" descr="Diagram of three points about aging with disability: the average age of people living with disability-associated conditions is increasing; conditions are acquired at birth, in childhood, or before midlife; and people can experience premature aging. Premature aging branches into two outcomes: medical conditions such as hypertension, obesity, heart disease, and diabetes are more prevalent in people aging with disability, and secondary health conditions such as bone loss, fractures, rotator cuff injuries, and pain.">
            <a:extLst>
              <a:ext uri="{FF2B5EF4-FFF2-40B4-BE49-F238E27FC236}">
                <a16:creationId xmlns:a16="http://schemas.microsoft.com/office/drawing/2014/main" id="{89CD167C-6E70-CEB9-5F37-FAE526D70FCC}"/>
              </a:ext>
            </a:extLst>
          </p:cNvPr>
          <p:cNvGraphicFramePr/>
          <p:nvPr>
            <p:extLst>
              <p:ext uri="{D42A27DB-BD31-4B8C-83A1-F6EECF244321}">
                <p14:modId xmlns:p14="http://schemas.microsoft.com/office/powerpoint/2010/main" val="698084738"/>
              </p:ext>
            </p:extLst>
          </p:nvPr>
        </p:nvGraphicFramePr>
        <p:xfrm>
          <a:off x="1031288" y="1097280"/>
          <a:ext cx="7081424" cy="31166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TextBox 14">
            <a:extLst>
              <a:ext uri="{FF2B5EF4-FFF2-40B4-BE49-F238E27FC236}">
                <a16:creationId xmlns:a16="http://schemas.microsoft.com/office/drawing/2014/main" id="{44D11282-09E3-E440-960F-B64515A60397}"/>
              </a:ext>
            </a:extLst>
          </p:cNvPr>
          <p:cNvSpPr txBox="1"/>
          <p:nvPr/>
        </p:nvSpPr>
        <p:spPr>
          <a:xfrm>
            <a:off x="571500" y="4764024"/>
            <a:ext cx="4416552" cy="173736"/>
          </a:xfrm>
          <a:prstGeom prst="rect">
            <a:avLst/>
          </a:prstGeom>
          <a:noFill/>
        </p:spPr>
        <p:txBody>
          <a:bodyPr wrap="square" lIns="12710" tIns="12710" rIns="12710" bIns="12710" rtlCol="0" anchor="t">
            <a:spAutoFit/>
          </a:bodyPr>
          <a:lstStyle/>
          <a:p>
            <a:r>
              <a:rPr lang="en-US" sz="900" dirty="0">
                <a:solidFill>
                  <a:srgbClr val="5C666D"/>
                </a:solidFill>
                <a:latin typeface="Tahoma"/>
                <a:ea typeface="Tahoma"/>
                <a:cs typeface="Tahoma"/>
              </a:rPr>
              <a:t>Source: </a:t>
            </a:r>
            <a:r>
              <a:rPr lang="en-US" sz="900" dirty="0" err="1">
                <a:solidFill>
                  <a:srgbClr val="5C666D"/>
                </a:solidFill>
                <a:latin typeface="Tahoma"/>
                <a:ea typeface="Tahoma"/>
                <a:cs typeface="Tahoma"/>
              </a:rPr>
              <a:t>Molton</a:t>
            </a:r>
            <a:r>
              <a:rPr lang="en-US" sz="900" dirty="0">
                <a:solidFill>
                  <a:srgbClr val="5C666D"/>
                </a:solidFill>
                <a:latin typeface="Tahoma"/>
                <a:ea typeface="Tahoma"/>
                <a:cs typeface="Tahoma"/>
              </a:rPr>
              <a:t> and Ordway, 2019</a:t>
            </a:r>
          </a:p>
        </p:txBody>
      </p:sp>
      <p:sp>
        <p:nvSpPr>
          <p:cNvPr id="18"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8AAFD675-6595-4DD5-8818-0C738B4E2A49}" type="slidenum">
              <a:rPr lang="en-US" sz="900" dirty="0">
                <a:solidFill>
                  <a:srgbClr val="4F6B8A"/>
                </a:solidFill>
                <a:latin typeface="Tahoma"/>
                <a:cs typeface="Tahoma"/>
              </a:rPr>
              <a:t>2</a:t>
            </a:fld>
            <a:endParaRPr lang="en-US" sz="900" dirty="0"/>
          </a:p>
        </p:txBody>
      </p:sp>
    </p:spTree>
    <p:extLst>
      <p:ext uri="{BB962C8B-B14F-4D97-AF65-F5344CB8AC3E}">
        <p14:creationId xmlns:p14="http://schemas.microsoft.com/office/powerpoint/2010/main" val="429109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9C9C-17CB-76DA-7535-2574D5715097}"/>
            </a:ext>
          </a:extLst>
        </p:cNvPr>
        <p:cNvGrpSpPr/>
        <p:nvPr/>
      </p:nvGrpSpPr>
      <p:grpSpPr>
        <a:xfrm>
          <a:off x="0" y="0"/>
          <a:ext cx="0" cy="0"/>
          <a:chOff x="0" y="0"/>
          <a:chExt cx="0" cy="0"/>
        </a:xfrm>
      </p:grpSpPr>
      <p:pic>
        <p:nvPicPr>
          <p:cNvPr id="28" name="Image 0">
            <a:extLst>
              <a:ext uri="{FF2B5EF4-FFF2-40B4-BE49-F238E27FC236}">
                <a16:creationId xmlns:a16="http://schemas.microsoft.com/office/drawing/2014/main" id="{1A1AC0F8-CE05-399A-6B7E-0015C19CAA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2" name="Text 0">
            <a:extLst>
              <a:ext uri="{FF2B5EF4-FFF2-40B4-BE49-F238E27FC236}">
                <a16:creationId xmlns:a16="http://schemas.microsoft.com/office/drawing/2014/main" id="{A01C1EE8-3806-98CA-63FD-DB087DA9B771}"/>
              </a:ext>
            </a:extLst>
          </p:cNvPr>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Health disparities and disability</a:t>
            </a:r>
            <a:endParaRPr lang="en-US" sz="2850" dirty="0"/>
          </a:p>
        </p:txBody>
      </p:sp>
      <p:sp>
        <p:nvSpPr>
          <p:cNvPr id="12" name="Text 10">
            <a:extLst>
              <a:ext uri="{FF2B5EF4-FFF2-40B4-BE49-F238E27FC236}">
                <a16:creationId xmlns:a16="http://schemas.microsoft.com/office/drawing/2014/main" id="{B71B9B73-A3C0-716D-2C8B-5E6310E184E7}"/>
              </a:ext>
            </a:extLst>
          </p:cNvPr>
          <p:cNvSpPr txBox="1"/>
          <p:nvPr/>
        </p:nvSpPr>
        <p:spPr>
          <a:xfrm>
            <a:off x="2231136" y="1300977"/>
            <a:ext cx="4877014" cy="293340"/>
          </a:xfrm>
          <a:prstGeom prst="rect">
            <a:avLst/>
          </a:prstGeom>
          <a:noFill/>
          <a:ln/>
        </p:spPr>
        <p:txBody>
          <a:bodyPr wrap="square" lIns="12700" tIns="12700" rIns="12700" bIns="12700" rtlCol="0" anchor="t">
            <a:noAutofit/>
          </a:bodyPr>
          <a:lstStyle/>
          <a:p>
            <a:pPr marL="0" indent="0" algn="l">
              <a:lnSpc>
                <a:spcPct val="112432"/>
              </a:lnSpc>
              <a:buNone/>
            </a:pPr>
            <a:r>
              <a:rPr lang="en-US" sz="1300" b="1" dirty="0">
                <a:solidFill>
                  <a:srgbClr val="050708"/>
                </a:solidFill>
                <a:latin typeface="Tahoma"/>
                <a:ea typeface="Tahoma"/>
                <a:cs typeface="Tahoma"/>
              </a:rPr>
              <a:t>Health conditions are more common in adults with disability:</a:t>
            </a:r>
            <a:endParaRPr lang="en-US" sz="1300" dirty="0"/>
          </a:p>
        </p:txBody>
      </p:sp>
      <p:grpSp>
        <p:nvGrpSpPr>
          <p:cNvPr id="29" name="Group 28" descr="Bar chart: cardiovascular disease prevalence is 10.3% in adults with disability and 3.7% in adults without disability">
            <a:extLst>
              <a:ext uri="{FF2B5EF4-FFF2-40B4-BE49-F238E27FC236}">
                <a16:creationId xmlns:a16="http://schemas.microsoft.com/office/drawing/2014/main" id="{E4DE2213-F03B-3702-C77C-08BA3C5F1909}"/>
              </a:ext>
            </a:extLst>
          </p:cNvPr>
          <p:cNvGrpSpPr/>
          <p:nvPr/>
        </p:nvGrpSpPr>
        <p:grpSpPr>
          <a:xfrm>
            <a:off x="2231998" y="1765958"/>
            <a:ext cx="4382186" cy="826740"/>
            <a:chOff x="4317950" y="2167905"/>
            <a:chExt cx="4382186" cy="826740"/>
          </a:xfrm>
        </p:grpSpPr>
        <p:sp>
          <p:nvSpPr>
            <p:cNvPr id="13" name="Text 11">
              <a:extLst>
                <a:ext uri="{FF2B5EF4-FFF2-40B4-BE49-F238E27FC236}">
                  <a16:creationId xmlns:a16="http://schemas.microsoft.com/office/drawing/2014/main" id="{968DF9B5-E422-D09E-13AD-F112190C7ACF}"/>
                </a:ext>
              </a:extLst>
            </p:cNvPr>
            <p:cNvSpPr txBox="1"/>
            <p:nvPr/>
          </p:nvSpPr>
          <p:spPr>
            <a:xfrm>
              <a:off x="4317950" y="2167905"/>
              <a:ext cx="4382186" cy="293340"/>
            </a:xfrm>
            <a:prstGeom prst="rect">
              <a:avLst/>
            </a:prstGeom>
            <a:noFill/>
            <a:ln/>
          </p:spPr>
          <p:txBody>
            <a:bodyPr wrap="square" lIns="12700" tIns="12700" rIns="12700" bIns="12700" rtlCol="0" anchor="t">
              <a:normAutofit fontScale="92500"/>
            </a:bodyPr>
            <a:lstStyle/>
            <a:p>
              <a:pPr marL="0" indent="0" algn="l">
                <a:lnSpc>
                  <a:spcPct val="114706"/>
                </a:lnSpc>
                <a:buNone/>
              </a:pPr>
              <a:r>
                <a:rPr lang="en-US" sz="1200" b="1" dirty="0">
                  <a:solidFill>
                    <a:srgbClr val="004A98"/>
                  </a:solidFill>
                  <a:latin typeface="Tahoma"/>
                  <a:ea typeface="Tahoma"/>
                  <a:cs typeface="Tahoma"/>
                </a:rPr>
                <a:t>Cardiovascular disease </a:t>
              </a:r>
              <a:r>
                <a:rPr lang="en-US" sz="1200" dirty="0">
                  <a:solidFill>
                    <a:srgbClr val="050708"/>
                  </a:solidFill>
                  <a:latin typeface="Tahoma"/>
                  <a:ea typeface="Tahoma"/>
                  <a:cs typeface="Tahoma"/>
                </a:rPr>
                <a:t>prevalence is almost three times higher </a:t>
              </a:r>
              <a:endParaRPr lang="en-US" sz="1200" dirty="0"/>
            </a:p>
          </p:txBody>
        </p:sp>
        <p:sp>
          <p:nvSpPr>
            <p:cNvPr id="14" name="Text 12">
              <a:extLst>
                <a:ext uri="{FF2B5EF4-FFF2-40B4-BE49-F238E27FC236}">
                  <a16:creationId xmlns:a16="http://schemas.microsoft.com/office/drawing/2014/main" id="{89EDE348-AAB0-1BC9-D3AD-885E69203C79}"/>
                </a:ext>
              </a:extLst>
            </p:cNvPr>
            <p:cNvSpPr txBox="1"/>
            <p:nvPr/>
          </p:nvSpPr>
          <p:spPr>
            <a:xfrm>
              <a:off x="4317950" y="2556495"/>
              <a:ext cx="1152525" cy="171450"/>
            </a:xfrm>
            <a:prstGeom prst="rect">
              <a:avLst/>
            </a:prstGeom>
            <a:noFill/>
            <a:ln/>
          </p:spPr>
          <p:txBody>
            <a:bodyPr wrap="square" lIns="12700" tIns="12700" rIns="12700" bIns="12700" rtlCol="0" anchor="t">
              <a:normAutofit/>
            </a:bodyPr>
            <a:lstStyle/>
            <a:p>
              <a:pPr marL="0" indent="0" algn="l">
                <a:buNone/>
              </a:pPr>
              <a:r>
                <a:rPr lang="en-US" sz="900" dirty="0">
                  <a:solidFill>
                    <a:srgbClr val="050708"/>
                  </a:solidFill>
                  <a:latin typeface="Tahoma"/>
                  <a:ea typeface="Tahoma"/>
                  <a:cs typeface="Tahoma"/>
                </a:rPr>
                <a:t>With disability</a:t>
              </a:r>
              <a:endParaRPr lang="en-US" sz="900" dirty="0"/>
            </a:p>
          </p:txBody>
        </p:sp>
        <p:sp>
          <p:nvSpPr>
            <p:cNvPr id="15" name="Shape 13">
              <a:extLst>
                <a:ext uri="{FF2B5EF4-FFF2-40B4-BE49-F238E27FC236}">
                  <a16:creationId xmlns:a16="http://schemas.microsoft.com/office/drawing/2014/main" id="{E3001661-3353-001A-F0DA-A4BEEEB972B0}"/>
                </a:ext>
                <a:ext uri="{C183D7F6-B498-43B3-948B-1728B52AA6E4}">
                  <adec:decorative xmlns:adec="http://schemas.microsoft.com/office/drawing/2017/decorative" val="1"/>
                </a:ext>
              </a:extLst>
            </p:cNvPr>
            <p:cNvSpPr/>
            <p:nvPr/>
          </p:nvSpPr>
          <p:spPr>
            <a:xfrm>
              <a:off x="5460950" y="2527920"/>
              <a:ext cx="1907307" cy="209550"/>
            </a:xfrm>
            <a:prstGeom prst="rect">
              <a:avLst/>
            </a:prstGeom>
            <a:solidFill>
              <a:srgbClr val="004A98"/>
            </a:solidFill>
            <a:ln/>
          </p:spPr>
          <p:txBody>
            <a:bodyPr/>
            <a:lstStyle/>
            <a:p>
              <a:endParaRPr lang="en-US"/>
            </a:p>
          </p:txBody>
        </p:sp>
        <p:sp>
          <p:nvSpPr>
            <p:cNvPr id="16" name="Text 14">
              <a:extLst>
                <a:ext uri="{FF2B5EF4-FFF2-40B4-BE49-F238E27FC236}">
                  <a16:creationId xmlns:a16="http://schemas.microsoft.com/office/drawing/2014/main" id="{E4133B0B-4F51-5E5F-6467-5749463F66CA}"/>
                </a:ext>
              </a:extLst>
            </p:cNvPr>
            <p:cNvSpPr txBox="1"/>
            <p:nvPr/>
          </p:nvSpPr>
          <p:spPr>
            <a:xfrm>
              <a:off x="7444457" y="2551732"/>
              <a:ext cx="443284" cy="180975"/>
            </a:xfrm>
            <a:prstGeom prst="rect">
              <a:avLst/>
            </a:prstGeom>
            <a:noFill/>
            <a:ln/>
          </p:spPr>
          <p:txBody>
            <a:bodyPr wrap="square" lIns="12700" tIns="12700" rIns="12700" bIns="12700" rtlCol="0" anchor="t">
              <a:normAutofit lnSpcReduction="10000"/>
            </a:bodyPr>
            <a:lstStyle/>
            <a:p>
              <a:pPr marL="0" indent="0" algn="l">
                <a:buNone/>
              </a:pPr>
              <a:r>
                <a:rPr lang="en-US" sz="1125" b="1" dirty="0">
                  <a:solidFill>
                    <a:srgbClr val="050708"/>
                  </a:solidFill>
                  <a:latin typeface="Tahoma"/>
                  <a:ea typeface="Tahoma"/>
                  <a:cs typeface="Tahoma"/>
                </a:rPr>
                <a:t>10.3%</a:t>
              </a:r>
              <a:endParaRPr lang="en-US" sz="1125" dirty="0"/>
            </a:p>
          </p:txBody>
        </p:sp>
        <p:sp>
          <p:nvSpPr>
            <p:cNvPr id="17" name="Text 15">
              <a:extLst>
                <a:ext uri="{FF2B5EF4-FFF2-40B4-BE49-F238E27FC236}">
                  <a16:creationId xmlns:a16="http://schemas.microsoft.com/office/drawing/2014/main" id="{8D552412-23AA-47F5-A7A3-0F9531452D2B}"/>
                </a:ext>
              </a:extLst>
            </p:cNvPr>
            <p:cNvSpPr txBox="1"/>
            <p:nvPr/>
          </p:nvSpPr>
          <p:spPr>
            <a:xfrm>
              <a:off x="4317950" y="2813670"/>
              <a:ext cx="1152525"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Without</a:t>
              </a:r>
              <a:endParaRPr lang="en-US" sz="900" dirty="0"/>
            </a:p>
          </p:txBody>
        </p:sp>
        <p:sp>
          <p:nvSpPr>
            <p:cNvPr id="18" name="Shape 16">
              <a:extLst>
                <a:ext uri="{FF2B5EF4-FFF2-40B4-BE49-F238E27FC236}">
                  <a16:creationId xmlns:a16="http://schemas.microsoft.com/office/drawing/2014/main" id="{349CE362-C42B-EAB0-CB13-3E5F20D783EB}"/>
                </a:ext>
                <a:ext uri="{C183D7F6-B498-43B3-948B-1728B52AA6E4}">
                  <adec:decorative xmlns:adec="http://schemas.microsoft.com/office/drawing/2017/decorative" val="1"/>
                </a:ext>
              </a:extLst>
            </p:cNvPr>
            <p:cNvSpPr/>
            <p:nvPr/>
          </p:nvSpPr>
          <p:spPr>
            <a:xfrm>
              <a:off x="5460950" y="2785095"/>
              <a:ext cx="684535" cy="209550"/>
            </a:xfrm>
            <a:prstGeom prst="rect">
              <a:avLst/>
            </a:prstGeom>
            <a:solidFill>
              <a:srgbClr val="A9C7E4"/>
            </a:solidFill>
            <a:ln/>
          </p:spPr>
          <p:txBody>
            <a:bodyPr/>
            <a:lstStyle/>
            <a:p>
              <a:endParaRPr lang="en-US"/>
            </a:p>
          </p:txBody>
        </p:sp>
        <p:sp>
          <p:nvSpPr>
            <p:cNvPr id="19" name="Text 17">
              <a:extLst>
                <a:ext uri="{FF2B5EF4-FFF2-40B4-BE49-F238E27FC236}">
                  <a16:creationId xmlns:a16="http://schemas.microsoft.com/office/drawing/2014/main" id="{D5BDE899-49E4-742E-6783-B802ECC164B7}"/>
                </a:ext>
              </a:extLst>
            </p:cNvPr>
            <p:cNvSpPr txBox="1"/>
            <p:nvPr/>
          </p:nvSpPr>
          <p:spPr>
            <a:xfrm>
              <a:off x="6221686" y="2808908"/>
              <a:ext cx="363810" cy="180975"/>
            </a:xfrm>
            <a:prstGeom prst="rect">
              <a:avLst/>
            </a:prstGeom>
            <a:noFill/>
            <a:ln/>
          </p:spPr>
          <p:txBody>
            <a:bodyPr wrap="square" lIns="12700" tIns="12700" rIns="12700" bIns="12700" rtlCol="0" anchor="t">
              <a:normAutofit lnSpcReduction="10000"/>
            </a:bodyPr>
            <a:lstStyle/>
            <a:p>
              <a:pPr marL="0" indent="0" algn="l">
                <a:buNone/>
              </a:pPr>
              <a:r>
                <a:rPr lang="en-US" sz="1125" b="1" dirty="0">
                  <a:solidFill>
                    <a:srgbClr val="5C666D"/>
                  </a:solidFill>
                  <a:latin typeface="Tahoma"/>
                  <a:ea typeface="Tahoma"/>
                  <a:cs typeface="Tahoma"/>
                </a:rPr>
                <a:t>3.7%</a:t>
              </a:r>
              <a:endParaRPr lang="en-US" sz="1125" dirty="0"/>
            </a:p>
          </p:txBody>
        </p:sp>
      </p:grpSp>
      <p:sp>
        <p:nvSpPr>
          <p:cNvPr id="20" name="Text 18">
            <a:extLst>
              <a:ext uri="{FF2B5EF4-FFF2-40B4-BE49-F238E27FC236}">
                <a16:creationId xmlns:a16="http://schemas.microsoft.com/office/drawing/2014/main" id="{6723746A-5F29-8194-D527-C21C762E95FD}"/>
              </a:ext>
            </a:extLst>
          </p:cNvPr>
          <p:cNvSpPr txBox="1"/>
          <p:nvPr/>
        </p:nvSpPr>
        <p:spPr>
          <a:xfrm>
            <a:off x="2231998" y="3114675"/>
            <a:ext cx="4680004" cy="204788"/>
          </a:xfrm>
          <a:prstGeom prst="rect">
            <a:avLst/>
          </a:prstGeom>
          <a:noFill/>
          <a:ln/>
        </p:spPr>
        <p:txBody>
          <a:bodyPr wrap="square" lIns="12700" tIns="12700" rIns="12700" bIns="12700" rtlCol="0" anchor="t">
            <a:normAutofit fontScale="92500" lnSpcReduction="10000"/>
          </a:bodyPr>
          <a:lstStyle/>
          <a:p>
            <a:pPr marL="0" indent="0" algn="l">
              <a:lnSpc>
                <a:spcPct val="114706"/>
              </a:lnSpc>
              <a:buNone/>
            </a:pPr>
            <a:r>
              <a:rPr lang="en-US" sz="1200" b="1" dirty="0">
                <a:solidFill>
                  <a:srgbClr val="004A98"/>
                </a:solidFill>
                <a:latin typeface="Tahoma"/>
                <a:ea typeface="Tahoma"/>
                <a:cs typeface="Tahoma"/>
              </a:rPr>
              <a:t>Diabetes</a:t>
            </a:r>
            <a:r>
              <a:rPr lang="en-US" sz="1200" dirty="0">
                <a:solidFill>
                  <a:srgbClr val="050708"/>
                </a:solidFill>
                <a:latin typeface="Tahoma"/>
                <a:ea typeface="Tahoma"/>
                <a:cs typeface="Tahoma"/>
              </a:rPr>
              <a:t> prevalence is twice as high</a:t>
            </a:r>
            <a:endParaRPr lang="en-US" sz="1200" dirty="0"/>
          </a:p>
        </p:txBody>
      </p:sp>
      <p:sp>
        <p:nvSpPr>
          <p:cNvPr id="21" name="Text 19">
            <a:extLst>
              <a:ext uri="{FF2B5EF4-FFF2-40B4-BE49-F238E27FC236}">
                <a16:creationId xmlns:a16="http://schemas.microsoft.com/office/drawing/2014/main" id="{9245D638-D9A4-6944-EC8D-CC207A48A08C}"/>
              </a:ext>
            </a:extLst>
          </p:cNvPr>
          <p:cNvSpPr txBox="1"/>
          <p:nvPr/>
        </p:nvSpPr>
        <p:spPr>
          <a:xfrm>
            <a:off x="2231998" y="3414712"/>
            <a:ext cx="1152525" cy="171450"/>
          </a:xfrm>
          <a:prstGeom prst="rect">
            <a:avLst/>
          </a:prstGeom>
          <a:noFill/>
          <a:ln/>
        </p:spPr>
        <p:txBody>
          <a:bodyPr wrap="square" lIns="12700" tIns="12700" rIns="12700" bIns="12700" rtlCol="0" anchor="t">
            <a:normAutofit/>
          </a:bodyPr>
          <a:lstStyle/>
          <a:p>
            <a:pPr marL="0" indent="0" algn="l">
              <a:buNone/>
            </a:pPr>
            <a:r>
              <a:rPr lang="en-US" sz="900" dirty="0">
                <a:solidFill>
                  <a:srgbClr val="050708"/>
                </a:solidFill>
                <a:latin typeface="Tahoma"/>
                <a:ea typeface="Tahoma"/>
                <a:cs typeface="Tahoma"/>
              </a:rPr>
              <a:t>With disability</a:t>
            </a:r>
            <a:endParaRPr lang="en-US" sz="900" dirty="0"/>
          </a:p>
        </p:txBody>
      </p:sp>
      <p:sp>
        <p:nvSpPr>
          <p:cNvPr id="22" name="Shape 20">
            <a:extLst>
              <a:ext uri="{FF2B5EF4-FFF2-40B4-BE49-F238E27FC236}">
                <a16:creationId xmlns:a16="http://schemas.microsoft.com/office/drawing/2014/main" id="{EB2FFC5B-A6E5-2673-B388-E78E5C871187}"/>
              </a:ext>
              <a:ext uri="{C183D7F6-B498-43B3-948B-1728B52AA6E4}">
                <adec:decorative xmlns:adec="http://schemas.microsoft.com/office/drawing/2017/decorative" val="1"/>
              </a:ext>
            </a:extLst>
          </p:cNvPr>
          <p:cNvSpPr/>
          <p:nvPr/>
        </p:nvSpPr>
        <p:spPr>
          <a:xfrm>
            <a:off x="3374998" y="3386138"/>
            <a:ext cx="2961590" cy="209550"/>
          </a:xfrm>
          <a:prstGeom prst="rect">
            <a:avLst/>
          </a:prstGeom>
          <a:solidFill>
            <a:srgbClr val="004A98"/>
          </a:solidFill>
          <a:ln/>
        </p:spPr>
        <p:txBody>
          <a:bodyPr/>
          <a:lstStyle/>
          <a:p>
            <a:endParaRPr lang="en-US"/>
          </a:p>
        </p:txBody>
      </p:sp>
      <p:sp>
        <p:nvSpPr>
          <p:cNvPr id="23" name="Text 21">
            <a:extLst>
              <a:ext uri="{FF2B5EF4-FFF2-40B4-BE49-F238E27FC236}">
                <a16:creationId xmlns:a16="http://schemas.microsoft.com/office/drawing/2014/main" id="{89991465-B482-FDF5-1A49-50B74D66665B}"/>
              </a:ext>
            </a:extLst>
          </p:cNvPr>
          <p:cNvSpPr txBox="1"/>
          <p:nvPr/>
        </p:nvSpPr>
        <p:spPr>
          <a:xfrm>
            <a:off x="6413450" y="3409950"/>
            <a:ext cx="324073" cy="180975"/>
          </a:xfrm>
          <a:prstGeom prst="rect">
            <a:avLst/>
          </a:prstGeom>
          <a:noFill/>
          <a:ln/>
        </p:spPr>
        <p:txBody>
          <a:bodyPr wrap="square" lIns="12700" tIns="12700" rIns="12700" bIns="12700" rtlCol="0" anchor="t">
            <a:normAutofit lnSpcReduction="10000"/>
          </a:bodyPr>
          <a:lstStyle/>
          <a:p>
            <a:pPr marL="0" indent="0" algn="l">
              <a:buNone/>
            </a:pPr>
            <a:r>
              <a:rPr lang="en-US" sz="1125" b="1" dirty="0">
                <a:solidFill>
                  <a:srgbClr val="050708"/>
                </a:solidFill>
                <a:latin typeface="Tahoma"/>
                <a:ea typeface="Tahoma"/>
                <a:cs typeface="Tahoma"/>
              </a:rPr>
              <a:t>16%</a:t>
            </a:r>
            <a:endParaRPr lang="en-US" sz="1125" dirty="0"/>
          </a:p>
        </p:txBody>
      </p:sp>
      <p:sp>
        <p:nvSpPr>
          <p:cNvPr id="24" name="Text 22">
            <a:extLst>
              <a:ext uri="{FF2B5EF4-FFF2-40B4-BE49-F238E27FC236}">
                <a16:creationId xmlns:a16="http://schemas.microsoft.com/office/drawing/2014/main" id="{1988923D-421D-0F26-5023-54C0FE633619}"/>
              </a:ext>
            </a:extLst>
          </p:cNvPr>
          <p:cNvSpPr txBox="1"/>
          <p:nvPr/>
        </p:nvSpPr>
        <p:spPr>
          <a:xfrm>
            <a:off x="2231998" y="3671888"/>
            <a:ext cx="1152525"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Without</a:t>
            </a:r>
            <a:endParaRPr lang="en-US" sz="900" dirty="0"/>
          </a:p>
        </p:txBody>
      </p:sp>
      <p:sp>
        <p:nvSpPr>
          <p:cNvPr id="25" name="Shape 23">
            <a:extLst>
              <a:ext uri="{FF2B5EF4-FFF2-40B4-BE49-F238E27FC236}">
                <a16:creationId xmlns:a16="http://schemas.microsoft.com/office/drawing/2014/main" id="{8422E5FC-2D3B-E2AF-11EC-CF3599B89DA7}"/>
              </a:ext>
              <a:ext uri="{C183D7F6-B498-43B3-948B-1728B52AA6E4}">
                <adec:decorative xmlns:adec="http://schemas.microsoft.com/office/drawing/2017/decorative" val="1"/>
              </a:ext>
            </a:extLst>
          </p:cNvPr>
          <p:cNvSpPr/>
          <p:nvPr/>
        </p:nvSpPr>
        <p:spPr>
          <a:xfrm>
            <a:off x="3374998" y="3643312"/>
            <a:ext cx="1477938" cy="209550"/>
          </a:xfrm>
          <a:prstGeom prst="rect">
            <a:avLst/>
          </a:prstGeom>
          <a:solidFill>
            <a:srgbClr val="A9C7E4"/>
          </a:solidFill>
          <a:ln/>
        </p:spPr>
        <p:txBody>
          <a:bodyPr/>
          <a:lstStyle/>
          <a:p>
            <a:endParaRPr lang="en-US"/>
          </a:p>
        </p:txBody>
      </p:sp>
      <p:sp>
        <p:nvSpPr>
          <p:cNvPr id="26" name="Text 24">
            <a:extLst>
              <a:ext uri="{FF2B5EF4-FFF2-40B4-BE49-F238E27FC236}">
                <a16:creationId xmlns:a16="http://schemas.microsoft.com/office/drawing/2014/main" id="{8E2675AE-C270-EC57-62F0-C7859786466A}"/>
              </a:ext>
            </a:extLst>
          </p:cNvPr>
          <p:cNvSpPr txBox="1"/>
          <p:nvPr/>
        </p:nvSpPr>
        <p:spPr>
          <a:xfrm>
            <a:off x="4929135" y="3667125"/>
            <a:ext cx="244599" cy="180975"/>
          </a:xfrm>
          <a:prstGeom prst="rect">
            <a:avLst/>
          </a:prstGeom>
          <a:noFill/>
          <a:ln/>
        </p:spPr>
        <p:txBody>
          <a:bodyPr wrap="square" lIns="12700" tIns="12700" rIns="12700" bIns="12700" rtlCol="0" anchor="t">
            <a:normAutofit lnSpcReduction="10000"/>
          </a:bodyPr>
          <a:lstStyle/>
          <a:p>
            <a:pPr marL="0" indent="0" algn="l">
              <a:buNone/>
            </a:pPr>
            <a:r>
              <a:rPr lang="en-US" sz="1125" b="1" dirty="0">
                <a:solidFill>
                  <a:srgbClr val="5C666D"/>
                </a:solidFill>
                <a:latin typeface="Tahoma"/>
                <a:ea typeface="Tahoma"/>
                <a:cs typeface="Tahoma"/>
              </a:rPr>
              <a:t>8%</a:t>
            </a:r>
            <a:endParaRPr lang="en-US" sz="1125" dirty="0"/>
          </a:p>
        </p:txBody>
      </p:sp>
      <p:sp>
        <p:nvSpPr>
          <p:cNvPr id="27" name="Text 25">
            <a:extLst>
              <a:ext uri="{FF2B5EF4-FFF2-40B4-BE49-F238E27FC236}">
                <a16:creationId xmlns:a16="http://schemas.microsoft.com/office/drawing/2014/main" id="{F35B3664-4D20-B04D-D603-BFD24865BFC9}"/>
              </a:ext>
            </a:extLst>
          </p:cNvPr>
          <p:cNvSpPr txBox="1"/>
          <p:nvPr/>
        </p:nvSpPr>
        <p:spPr>
          <a:xfrm>
            <a:off x="571500" y="4762500"/>
            <a:ext cx="4418558"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Sources: CDC Disability and Health Data System (2024); Pharr &amp; Bungum (2012)</a:t>
            </a:r>
            <a:endParaRPr lang="en-US" sz="900" dirty="0"/>
          </a:p>
        </p:txBody>
      </p:sp>
      <p:sp>
        <p:nvSpPr>
          <p:cNvPr id="30"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D84EF2D2-7E0F-4FC3-8F8B-5A1D32AECB03}" type="slidenum">
              <a:rPr lang="en-US" sz="900" dirty="0">
                <a:solidFill>
                  <a:srgbClr val="4F6B8A"/>
                </a:solidFill>
                <a:latin typeface="Tahoma"/>
                <a:cs typeface="Tahoma"/>
              </a:rPr>
              <a:t>3</a:t>
            </a:fld>
            <a:endParaRPr lang="en-US" sz="900" dirty="0"/>
          </a:p>
        </p:txBody>
      </p:sp>
    </p:spTree>
    <p:extLst>
      <p:ext uri="{BB962C8B-B14F-4D97-AF65-F5344CB8AC3E}">
        <p14:creationId xmlns:p14="http://schemas.microsoft.com/office/powerpoint/2010/main" val="1749026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03466-D19E-3BE3-F8CF-38A1FBFA5425}"/>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B9435C72-8617-6FE6-CE48-3360C8057D50}"/>
              </a:ext>
              <a:ext uri="{C183D7F6-B498-43B3-948B-1728B52AA6E4}">
                <adec:decorative xmlns:adec="http://schemas.microsoft.com/office/drawing/2017/decorative" val="1"/>
              </a:ext>
            </a:extLst>
          </p:cNvPr>
          <p:cNvSpPr/>
          <p:nvPr/>
        </p:nvSpPr>
        <p:spPr>
          <a:xfrm>
            <a:off x="2697480" y="1581912"/>
            <a:ext cx="3749040" cy="850392"/>
          </a:xfrm>
          <a:prstGeom prst="rect">
            <a:avLst/>
          </a:prstGeom>
          <a:solidFill>
            <a:srgbClr val="F5F8FA"/>
          </a:solidFill>
          <a:ln/>
        </p:spPr>
        <p:txBody>
          <a:bodyPr/>
          <a:lstStyle/>
          <a:p>
            <a:endParaRPr lang="en-US"/>
          </a:p>
        </p:txBody>
      </p:sp>
      <p:sp>
        <p:nvSpPr>
          <p:cNvPr id="5" name="Shape 3">
            <a:extLst>
              <a:ext uri="{FF2B5EF4-FFF2-40B4-BE49-F238E27FC236}">
                <a16:creationId xmlns:a16="http://schemas.microsoft.com/office/drawing/2014/main" id="{BA3BC15E-23EB-CEDB-0CCD-93DB74FC45F3}"/>
              </a:ext>
              <a:ext uri="{C183D7F6-B498-43B3-948B-1728B52AA6E4}">
                <adec:decorative xmlns:adec="http://schemas.microsoft.com/office/drawing/2017/decorative" val="1"/>
              </a:ext>
            </a:extLst>
          </p:cNvPr>
          <p:cNvSpPr/>
          <p:nvPr/>
        </p:nvSpPr>
        <p:spPr>
          <a:xfrm>
            <a:off x="2697480" y="1581912"/>
            <a:ext cx="3749040" cy="45720"/>
          </a:xfrm>
          <a:prstGeom prst="rect">
            <a:avLst/>
          </a:prstGeom>
          <a:solidFill>
            <a:srgbClr val="004A98"/>
          </a:solidFill>
          <a:ln/>
        </p:spPr>
        <p:txBody>
          <a:bodyPr/>
          <a:lstStyle/>
          <a:p>
            <a:endParaRPr lang="en-US"/>
          </a:p>
        </p:txBody>
      </p:sp>
      <p:sp>
        <p:nvSpPr>
          <p:cNvPr id="8" name="Shape 6">
            <a:extLst>
              <a:ext uri="{FF2B5EF4-FFF2-40B4-BE49-F238E27FC236}">
                <a16:creationId xmlns:a16="http://schemas.microsoft.com/office/drawing/2014/main" id="{23D0605F-23E4-9944-85D6-E2F96A70CF04}"/>
              </a:ext>
              <a:ext uri="{C183D7F6-B498-43B3-948B-1728B52AA6E4}">
                <adec:decorative xmlns:adec="http://schemas.microsoft.com/office/drawing/2017/decorative" val="1"/>
              </a:ext>
            </a:extLst>
          </p:cNvPr>
          <p:cNvSpPr/>
          <p:nvPr/>
        </p:nvSpPr>
        <p:spPr>
          <a:xfrm>
            <a:off x="2697480" y="3465576"/>
            <a:ext cx="3749040" cy="850392"/>
          </a:xfrm>
          <a:prstGeom prst="rect">
            <a:avLst/>
          </a:prstGeom>
          <a:solidFill>
            <a:srgbClr val="F5F8FA"/>
          </a:solidFill>
          <a:ln/>
        </p:spPr>
        <p:txBody>
          <a:bodyPr/>
          <a:lstStyle/>
          <a:p>
            <a:endParaRPr lang="en-US"/>
          </a:p>
        </p:txBody>
      </p:sp>
      <p:sp>
        <p:nvSpPr>
          <p:cNvPr id="9" name="Shape 7">
            <a:extLst>
              <a:ext uri="{FF2B5EF4-FFF2-40B4-BE49-F238E27FC236}">
                <a16:creationId xmlns:a16="http://schemas.microsoft.com/office/drawing/2014/main" id="{BCD04C13-6520-BAE4-8962-CA4C43D03D41}"/>
              </a:ext>
              <a:ext uri="{C183D7F6-B498-43B3-948B-1728B52AA6E4}">
                <adec:decorative xmlns:adec="http://schemas.microsoft.com/office/drawing/2017/decorative" val="1"/>
              </a:ext>
            </a:extLst>
          </p:cNvPr>
          <p:cNvSpPr/>
          <p:nvPr/>
        </p:nvSpPr>
        <p:spPr>
          <a:xfrm>
            <a:off x="2697480" y="3465576"/>
            <a:ext cx="3749040" cy="45720"/>
          </a:xfrm>
          <a:prstGeom prst="rect">
            <a:avLst/>
          </a:prstGeom>
          <a:solidFill>
            <a:srgbClr val="16B1C1"/>
          </a:solidFill>
          <a:ln/>
        </p:spPr>
        <p:txBody>
          <a:bodyPr/>
          <a:lstStyle/>
          <a:p>
            <a:endParaRPr lang="en-US"/>
          </a:p>
        </p:txBody>
      </p:sp>
      <p:pic>
        <p:nvPicPr>
          <p:cNvPr id="28" name="Image 0">
            <a:extLst>
              <a:ext uri="{FF2B5EF4-FFF2-40B4-BE49-F238E27FC236}">
                <a16:creationId xmlns:a16="http://schemas.microsoft.com/office/drawing/2014/main" id="{728ABB11-7E0D-F28B-B098-2AEA4638A8B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33" name="Shape 2">
            <a:extLst>
              <a:ext uri="{FF2B5EF4-FFF2-40B4-BE49-F238E27FC236}">
                <a16:creationId xmlns:a16="http://schemas.microsoft.com/office/drawing/2014/main" id="{C47F636C-272A-DE2F-D1C4-D781088DB2AD}"/>
              </a:ext>
              <a:ext uri="{C183D7F6-B498-43B3-948B-1728B52AA6E4}">
                <adec:decorative xmlns:adec="http://schemas.microsoft.com/office/drawing/2017/decorative" val="1"/>
              </a:ext>
            </a:extLst>
          </p:cNvPr>
          <p:cNvSpPr/>
          <p:nvPr/>
        </p:nvSpPr>
        <p:spPr>
          <a:xfrm>
            <a:off x="2697480" y="2523744"/>
            <a:ext cx="3749040" cy="850392"/>
          </a:xfrm>
          <a:prstGeom prst="rect">
            <a:avLst/>
          </a:prstGeom>
          <a:solidFill>
            <a:srgbClr val="F5F8FA"/>
          </a:solidFill>
          <a:ln/>
        </p:spPr>
        <p:txBody>
          <a:bodyPr/>
          <a:lstStyle/>
          <a:p>
            <a:endParaRPr lang="en-US"/>
          </a:p>
        </p:txBody>
      </p:sp>
      <p:sp>
        <p:nvSpPr>
          <p:cNvPr id="39" name="Shape 3">
            <a:extLst>
              <a:ext uri="{FF2B5EF4-FFF2-40B4-BE49-F238E27FC236}">
                <a16:creationId xmlns:a16="http://schemas.microsoft.com/office/drawing/2014/main" id="{E3A0B3AA-4511-7C21-4FA5-64C76F41E042}"/>
              </a:ext>
              <a:ext uri="{C183D7F6-B498-43B3-948B-1728B52AA6E4}">
                <adec:decorative xmlns:adec="http://schemas.microsoft.com/office/drawing/2017/decorative" val="1"/>
              </a:ext>
            </a:extLst>
          </p:cNvPr>
          <p:cNvSpPr/>
          <p:nvPr/>
        </p:nvSpPr>
        <p:spPr>
          <a:xfrm>
            <a:off x="2697480" y="2523744"/>
            <a:ext cx="3749040" cy="45720"/>
          </a:xfrm>
          <a:prstGeom prst="rect">
            <a:avLst/>
          </a:prstGeom>
          <a:solidFill>
            <a:srgbClr val="004A98"/>
          </a:solidFill>
          <a:ln/>
        </p:spPr>
        <p:txBody>
          <a:bodyPr/>
          <a:lstStyle/>
          <a:p>
            <a:endParaRPr lang="en-US"/>
          </a:p>
        </p:txBody>
      </p:sp>
      <p:sp>
        <p:nvSpPr>
          <p:cNvPr id="2" name="Text 0">
            <a:extLst>
              <a:ext uri="{FF2B5EF4-FFF2-40B4-BE49-F238E27FC236}">
                <a16:creationId xmlns:a16="http://schemas.microsoft.com/office/drawing/2014/main" id="{19A4E8BA-C016-0CB5-4313-77CF2F1C0F61}"/>
              </a:ext>
            </a:extLst>
          </p:cNvPr>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Health behaviors and disability</a:t>
            </a:r>
            <a:endParaRPr lang="en-US" sz="2850" dirty="0"/>
          </a:p>
        </p:txBody>
      </p:sp>
      <p:sp>
        <p:nvSpPr>
          <p:cNvPr id="3" name="Text 1">
            <a:extLst>
              <a:ext uri="{FF2B5EF4-FFF2-40B4-BE49-F238E27FC236}">
                <a16:creationId xmlns:a16="http://schemas.microsoft.com/office/drawing/2014/main" id="{251A2D05-92D1-CF0A-A4A3-55A4981508B5}"/>
              </a:ext>
            </a:extLst>
          </p:cNvPr>
          <p:cNvSpPr txBox="1"/>
          <p:nvPr/>
        </p:nvSpPr>
        <p:spPr>
          <a:xfrm>
            <a:off x="2697480" y="1051560"/>
            <a:ext cx="3749040" cy="457200"/>
          </a:xfrm>
          <a:prstGeom prst="rect">
            <a:avLst/>
          </a:prstGeom>
          <a:noFill/>
          <a:ln/>
        </p:spPr>
        <p:txBody>
          <a:bodyPr wrap="square" lIns="12700" tIns="12700" rIns="12700" bIns="12700" rtlCol="0" anchor="t">
            <a:normAutofit fontScale="92500"/>
          </a:bodyPr>
          <a:lstStyle/>
          <a:p>
            <a:pPr marL="0" indent="0" algn="l">
              <a:lnSpc>
                <a:spcPct val="112432"/>
              </a:lnSpc>
              <a:buNone/>
            </a:pPr>
            <a:r>
              <a:rPr lang="en-US" sz="1400" b="1" dirty="0">
                <a:solidFill>
                  <a:srgbClr val="050708"/>
                </a:solidFill>
                <a:latin typeface="Tahoma"/>
                <a:ea typeface="Tahoma"/>
                <a:cs typeface="Tahoma"/>
              </a:rPr>
              <a:t>Compared to those without disability, adults with disability are:</a:t>
            </a:r>
            <a:endParaRPr lang="en-US" sz="1400" dirty="0"/>
          </a:p>
        </p:txBody>
      </p:sp>
      <p:sp>
        <p:nvSpPr>
          <p:cNvPr id="6" name="Text 4">
            <a:extLst>
              <a:ext uri="{FF2B5EF4-FFF2-40B4-BE49-F238E27FC236}">
                <a16:creationId xmlns:a16="http://schemas.microsoft.com/office/drawing/2014/main" id="{55BB1B1F-8E52-0FC6-5A71-CE3FFF2F6994}"/>
              </a:ext>
            </a:extLst>
          </p:cNvPr>
          <p:cNvSpPr txBox="1"/>
          <p:nvPr/>
        </p:nvSpPr>
        <p:spPr>
          <a:xfrm>
            <a:off x="2848356" y="1627632"/>
            <a:ext cx="1554480" cy="804672"/>
          </a:xfrm>
          <a:prstGeom prst="rect">
            <a:avLst/>
          </a:prstGeom>
          <a:noFill/>
          <a:ln/>
        </p:spPr>
        <p:txBody>
          <a:bodyPr wrap="square" lIns="12700" tIns="12700" rIns="12700" bIns="12700" rtlCol="0" anchor="ctr">
            <a:normAutofit/>
          </a:bodyPr>
          <a:lstStyle/>
          <a:p>
            <a:pPr marL="0" indent="0" algn="l">
              <a:lnSpc>
                <a:spcPct val="71006"/>
              </a:lnSpc>
              <a:buNone/>
            </a:pPr>
            <a:r>
              <a:rPr lang="en-US" sz="3200" b="1" dirty="0">
                <a:solidFill>
                  <a:srgbClr val="004A98"/>
                </a:solidFill>
                <a:latin typeface="Tahoma"/>
                <a:ea typeface="Tahoma"/>
                <a:cs typeface="Tahoma"/>
              </a:rPr>
              <a:t>2×</a:t>
            </a:r>
            <a:endParaRPr lang="en-US" sz="3200" dirty="0"/>
          </a:p>
        </p:txBody>
      </p:sp>
      <p:sp>
        <p:nvSpPr>
          <p:cNvPr id="7" name="Text 5">
            <a:extLst>
              <a:ext uri="{FF2B5EF4-FFF2-40B4-BE49-F238E27FC236}">
                <a16:creationId xmlns:a16="http://schemas.microsoft.com/office/drawing/2014/main" id="{2A6F852F-CC43-56E6-7230-DD033238FE0F}"/>
              </a:ext>
            </a:extLst>
          </p:cNvPr>
          <p:cNvSpPr txBox="1"/>
          <p:nvPr/>
        </p:nvSpPr>
        <p:spPr>
          <a:xfrm>
            <a:off x="4494276" y="1627632"/>
            <a:ext cx="1837944" cy="804672"/>
          </a:xfrm>
          <a:prstGeom prst="rect">
            <a:avLst/>
          </a:prstGeom>
          <a:noFill/>
          <a:ln/>
        </p:spPr>
        <p:txBody>
          <a:bodyPr wrap="square" lIns="12700" tIns="12700" rIns="12700" bIns="12700" rtlCol="0" anchor="ctr">
            <a:normAutofit lnSpcReduction="10000"/>
          </a:bodyPr>
          <a:lstStyle/>
          <a:p>
            <a:pPr marL="0" indent="0" algn="l">
              <a:lnSpc>
                <a:spcPct val="113333"/>
              </a:lnSpc>
              <a:buNone/>
            </a:pPr>
            <a:r>
              <a:rPr lang="en-US" sz="1275" dirty="0">
                <a:solidFill>
                  <a:srgbClr val="050708"/>
                </a:solidFill>
                <a:latin typeface="Tahoma"/>
                <a:ea typeface="Tahoma"/>
                <a:cs typeface="Tahoma"/>
              </a:rPr>
              <a:t>Twice as likely to be current smokers</a:t>
            </a:r>
            <a:endParaRPr lang="en-US" sz="1275" dirty="0"/>
          </a:p>
        </p:txBody>
      </p:sp>
      <p:sp>
        <p:nvSpPr>
          <p:cNvPr id="35" name="Text 4">
            <a:extLst>
              <a:ext uri="{FF2B5EF4-FFF2-40B4-BE49-F238E27FC236}">
                <a16:creationId xmlns:a16="http://schemas.microsoft.com/office/drawing/2014/main" id="{EF9FE1BC-59AC-5423-9112-7A5EB70688EB}"/>
              </a:ext>
            </a:extLst>
          </p:cNvPr>
          <p:cNvSpPr txBox="1"/>
          <p:nvPr/>
        </p:nvSpPr>
        <p:spPr>
          <a:xfrm>
            <a:off x="2848356" y="2569464"/>
            <a:ext cx="1554480" cy="804672"/>
          </a:xfrm>
          <a:prstGeom prst="rect">
            <a:avLst/>
          </a:prstGeom>
          <a:noFill/>
          <a:ln/>
        </p:spPr>
        <p:txBody>
          <a:bodyPr wrap="square" lIns="12700" tIns="12700" rIns="12700" bIns="12700" rtlCol="0" anchor="ctr">
            <a:normAutofit/>
          </a:bodyPr>
          <a:lstStyle/>
          <a:p>
            <a:pPr marL="0" indent="0" algn="l">
              <a:lnSpc>
                <a:spcPct val="71006"/>
              </a:lnSpc>
              <a:buNone/>
            </a:pPr>
            <a:r>
              <a:rPr lang="en-US" sz="3200" b="1" dirty="0">
                <a:solidFill>
                  <a:srgbClr val="004A98"/>
                </a:solidFill>
                <a:latin typeface="Tahoma"/>
                <a:ea typeface="Tahoma"/>
                <a:cs typeface="Tahoma"/>
              </a:rPr>
              <a:t>+20%</a:t>
            </a:r>
            <a:endParaRPr lang="en-US" sz="3200" dirty="0"/>
          </a:p>
        </p:txBody>
      </p:sp>
      <p:sp>
        <p:nvSpPr>
          <p:cNvPr id="37" name="Text 5">
            <a:extLst>
              <a:ext uri="{FF2B5EF4-FFF2-40B4-BE49-F238E27FC236}">
                <a16:creationId xmlns:a16="http://schemas.microsoft.com/office/drawing/2014/main" id="{5DAB5FD7-E035-A6D4-7E12-6918B189860C}"/>
              </a:ext>
            </a:extLst>
          </p:cNvPr>
          <p:cNvSpPr txBox="1"/>
          <p:nvPr/>
        </p:nvSpPr>
        <p:spPr>
          <a:xfrm>
            <a:off x="4494276" y="2569464"/>
            <a:ext cx="1837944" cy="804672"/>
          </a:xfrm>
          <a:prstGeom prst="rect">
            <a:avLst/>
          </a:prstGeom>
          <a:noFill/>
          <a:ln/>
        </p:spPr>
        <p:txBody>
          <a:bodyPr wrap="square" lIns="12700" tIns="12700" rIns="12700" bIns="12700" rtlCol="0" anchor="ctr">
            <a:normAutofit lnSpcReduction="10000"/>
          </a:bodyPr>
          <a:lstStyle/>
          <a:p>
            <a:pPr marL="0" indent="0" algn="l">
              <a:lnSpc>
                <a:spcPct val="113333"/>
              </a:lnSpc>
              <a:buNone/>
            </a:pPr>
            <a:r>
              <a:rPr lang="en-US" sz="1275" dirty="0">
                <a:solidFill>
                  <a:srgbClr val="050708"/>
                </a:solidFill>
                <a:latin typeface="Tahoma"/>
                <a:ea typeface="Tahoma"/>
                <a:cs typeface="Tahoma"/>
              </a:rPr>
              <a:t>20% more likely to be sedentary</a:t>
            </a:r>
            <a:endParaRPr lang="en-US" sz="1275" dirty="0"/>
          </a:p>
        </p:txBody>
      </p:sp>
      <p:sp>
        <p:nvSpPr>
          <p:cNvPr id="10" name="Text 8">
            <a:extLst>
              <a:ext uri="{FF2B5EF4-FFF2-40B4-BE49-F238E27FC236}">
                <a16:creationId xmlns:a16="http://schemas.microsoft.com/office/drawing/2014/main" id="{BD68A32F-E5DD-925C-6B54-B75A2F3E619E}"/>
              </a:ext>
            </a:extLst>
          </p:cNvPr>
          <p:cNvSpPr txBox="1"/>
          <p:nvPr/>
        </p:nvSpPr>
        <p:spPr>
          <a:xfrm>
            <a:off x="2848356" y="3511296"/>
            <a:ext cx="1554480" cy="804672"/>
          </a:xfrm>
          <a:prstGeom prst="rect">
            <a:avLst/>
          </a:prstGeom>
          <a:noFill/>
          <a:ln/>
        </p:spPr>
        <p:txBody>
          <a:bodyPr wrap="square" lIns="12700" tIns="12700" rIns="12700" bIns="12700" rtlCol="0" anchor="ctr">
            <a:normAutofit/>
          </a:bodyPr>
          <a:lstStyle/>
          <a:p>
            <a:pPr marL="0" indent="0" algn="l">
              <a:lnSpc>
                <a:spcPct val="71006"/>
              </a:lnSpc>
              <a:buNone/>
            </a:pPr>
            <a:r>
              <a:rPr lang="en-US" sz="3200" b="1" dirty="0">
                <a:solidFill>
                  <a:srgbClr val="0B6E79"/>
                </a:solidFill>
                <a:latin typeface="Tahoma"/>
                <a:ea typeface="Tahoma"/>
                <a:cs typeface="Tahoma"/>
              </a:rPr>
              <a:t>+10%</a:t>
            </a:r>
            <a:endParaRPr lang="en-US" sz="3200" dirty="0"/>
          </a:p>
        </p:txBody>
      </p:sp>
      <p:sp>
        <p:nvSpPr>
          <p:cNvPr id="11" name="Text 9">
            <a:extLst>
              <a:ext uri="{FF2B5EF4-FFF2-40B4-BE49-F238E27FC236}">
                <a16:creationId xmlns:a16="http://schemas.microsoft.com/office/drawing/2014/main" id="{C24E9269-D281-8831-3CD5-186B4651EE9C}"/>
              </a:ext>
            </a:extLst>
          </p:cNvPr>
          <p:cNvSpPr txBox="1"/>
          <p:nvPr/>
        </p:nvSpPr>
        <p:spPr>
          <a:xfrm>
            <a:off x="4494276" y="3511296"/>
            <a:ext cx="1837944" cy="804672"/>
          </a:xfrm>
          <a:prstGeom prst="rect">
            <a:avLst/>
          </a:prstGeom>
          <a:noFill/>
          <a:ln/>
        </p:spPr>
        <p:txBody>
          <a:bodyPr wrap="square" lIns="12700" tIns="12700" rIns="12700" bIns="12700" rtlCol="0" anchor="ctr">
            <a:normAutofit lnSpcReduction="10000"/>
          </a:bodyPr>
          <a:lstStyle/>
          <a:p>
            <a:pPr marL="0" indent="0" algn="l">
              <a:lnSpc>
                <a:spcPct val="113333"/>
              </a:lnSpc>
              <a:buNone/>
            </a:pPr>
            <a:r>
              <a:rPr lang="en-US" sz="1275" dirty="0">
                <a:solidFill>
                  <a:srgbClr val="050708"/>
                </a:solidFill>
                <a:latin typeface="Tahoma"/>
                <a:ea typeface="Tahoma"/>
                <a:cs typeface="Tahoma"/>
              </a:rPr>
              <a:t>10% more likely to be obese</a:t>
            </a:r>
            <a:endParaRPr lang="en-US" sz="1275" dirty="0"/>
          </a:p>
        </p:txBody>
      </p:sp>
      <p:sp>
        <p:nvSpPr>
          <p:cNvPr id="27" name="Text 25">
            <a:extLst>
              <a:ext uri="{FF2B5EF4-FFF2-40B4-BE49-F238E27FC236}">
                <a16:creationId xmlns:a16="http://schemas.microsoft.com/office/drawing/2014/main" id="{D9E04BCC-025E-B783-0788-BDFEFD406748}"/>
              </a:ext>
            </a:extLst>
          </p:cNvPr>
          <p:cNvSpPr txBox="1"/>
          <p:nvPr/>
        </p:nvSpPr>
        <p:spPr>
          <a:xfrm>
            <a:off x="571500" y="4762500"/>
            <a:ext cx="4418558"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Sources: CDC Disability and Health Data System (2024); Pharr &amp; Bungum (2012)</a:t>
            </a:r>
            <a:endParaRPr lang="en-US" sz="900" dirty="0"/>
          </a:p>
        </p:txBody>
      </p:sp>
      <p:sp>
        <p:nvSpPr>
          <p:cNvPr id="40"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881B6F4E-98DA-4513-A3A4-E6ACA1D542A9}" type="slidenum">
              <a:rPr lang="en-US" sz="900" dirty="0">
                <a:solidFill>
                  <a:srgbClr val="4F6B8A"/>
                </a:solidFill>
                <a:latin typeface="Tahoma"/>
                <a:cs typeface="Tahoma"/>
              </a:rPr>
              <a:t>4</a:t>
            </a:fld>
            <a:endParaRPr lang="en-US" sz="900" dirty="0"/>
          </a:p>
        </p:txBody>
      </p:sp>
    </p:spTree>
    <p:extLst>
      <p:ext uri="{BB962C8B-B14F-4D97-AF65-F5344CB8AC3E}">
        <p14:creationId xmlns:p14="http://schemas.microsoft.com/office/powerpoint/2010/main" val="2870234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04A9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571500" y="928390"/>
            <a:ext cx="571500" cy="57150"/>
          </a:xfrm>
          <a:prstGeom prst="rect">
            <a:avLst/>
          </a:prstGeom>
          <a:solidFill>
            <a:srgbClr val="49AA31"/>
          </a:solidFill>
          <a:ln/>
        </p:spPr>
        <p:txBody>
          <a:bodyPr/>
          <a:lstStyle/>
          <a:p>
            <a:endParaRPr lang="en-US"/>
          </a:p>
        </p:txBody>
      </p:sp>
      <p:sp>
        <p:nvSpPr>
          <p:cNvPr id="3" name="Text 1"/>
          <p:cNvSpPr>
            <a:spLocks noGrp="1"/>
          </p:cNvSpPr>
          <p:nvPr>
            <p:ph type="title"/>
          </p:nvPr>
        </p:nvSpPr>
        <p:spPr>
          <a:xfrm>
            <a:off x="571500" y="1252240"/>
            <a:ext cx="4316730" cy="2119015"/>
          </a:xfrm>
          <a:prstGeom prst="rect">
            <a:avLst/>
          </a:prstGeom>
          <a:noFill/>
          <a:ln/>
        </p:spPr>
        <p:txBody>
          <a:bodyPr wrap="square" lIns="12700" tIns="12700" rIns="12700" bIns="12700" rtlCol="0" anchor="t">
            <a:normAutofit/>
          </a:bodyPr>
          <a:lstStyle/>
          <a:p>
            <a:pPr marL="0" indent="0" algn="l">
              <a:lnSpc>
                <a:spcPct val="74746"/>
              </a:lnSpc>
              <a:buNone/>
            </a:pPr>
            <a:r>
              <a:rPr lang="en-US" sz="3150" b="1" kern="0" spc="-63" dirty="0">
                <a:solidFill>
                  <a:srgbClr val="FFFFFF"/>
                </a:solidFill>
                <a:latin typeface="Tahoma"/>
                <a:ea typeface="Tahoma"/>
                <a:cs typeface="Tahoma"/>
              </a:rPr>
              <a:t>Neighborhoods and Incident Cardiometabolic Disease in People Aging with Disability</a:t>
            </a:r>
            <a:endParaRPr lang="en-US" sz="3150" dirty="0"/>
          </a:p>
        </p:txBody>
      </p:sp>
      <p:sp>
        <p:nvSpPr>
          <p:cNvPr id="4" name="Text 2"/>
          <p:cNvSpPr txBox="1"/>
          <p:nvPr/>
        </p:nvSpPr>
        <p:spPr>
          <a:xfrm>
            <a:off x="571500" y="3618904"/>
            <a:ext cx="4316730" cy="419100"/>
          </a:xfrm>
          <a:prstGeom prst="rect">
            <a:avLst/>
          </a:prstGeom>
          <a:noFill/>
          <a:ln/>
        </p:spPr>
        <p:txBody>
          <a:bodyPr wrap="square" lIns="12700" tIns="12700" rIns="12700" bIns="12700" rtlCol="0" anchor="t">
            <a:normAutofit/>
          </a:bodyPr>
          <a:lstStyle/>
          <a:p>
            <a:pPr marL="0" indent="0" algn="l">
              <a:lnSpc>
                <a:spcPct val="123529"/>
              </a:lnSpc>
              <a:buNone/>
            </a:pPr>
            <a:r>
              <a:rPr lang="en-US" sz="1125" dirty="0">
                <a:solidFill>
                  <a:srgbClr val="FFFFFF"/>
                </a:solidFill>
                <a:latin typeface="Tahoma"/>
                <a:ea typeface="Tahoma"/>
                <a:cs typeface="Tahoma"/>
              </a:rPr>
              <a:t>Clarke et al., 2025. </a:t>
            </a:r>
            <a:r>
              <a:rPr lang="en-US" sz="1125" i="1" dirty="0">
                <a:solidFill>
                  <a:srgbClr val="FFFFFF"/>
                </a:solidFill>
                <a:latin typeface="Tahoma"/>
                <a:ea typeface="Tahoma"/>
                <a:cs typeface="Tahoma"/>
              </a:rPr>
              <a:t>American Journal of Preventive Medicine</a:t>
            </a:r>
            <a:r>
              <a:rPr lang="en-US" sz="1125" dirty="0">
                <a:solidFill>
                  <a:srgbClr val="FFFFFF"/>
                </a:solidFill>
                <a:latin typeface="Tahoma"/>
                <a:ea typeface="Tahoma"/>
                <a:cs typeface="Tahoma"/>
              </a:rPr>
              <a:t>, 69(5).</a:t>
            </a:r>
            <a:endParaRPr lang="en-US" sz="1125" dirty="0"/>
          </a:p>
        </p:txBody>
      </p:sp>
      <p:sp>
        <p:nvSpPr>
          <p:cNvPr id="5" name="Text 3">
            <a:hlinkClick r:id="rId3"/>
          </p:cNvPr>
          <p:cNvSpPr txBox="1"/>
          <p:nvPr/>
        </p:nvSpPr>
        <p:spPr>
          <a:xfrm>
            <a:off x="571500" y="4076104"/>
            <a:ext cx="4610100" cy="205680"/>
          </a:xfrm>
          <a:prstGeom prst="rect">
            <a:avLst/>
          </a:prstGeom>
          <a:noFill/>
          <a:ln/>
        </p:spPr>
        <p:txBody>
          <a:bodyPr wrap="square" lIns="12700" tIns="12700" rIns="12700" bIns="12700" rtlCol="0" anchor="t">
            <a:normAutofit lnSpcReduction="10000"/>
          </a:bodyPr>
          <a:lstStyle/>
          <a:p>
            <a:pPr marL="0" indent="0" algn="l">
              <a:lnSpc>
                <a:spcPct val="126452"/>
              </a:lnSpc>
              <a:buNone/>
            </a:pPr>
            <a:r>
              <a:rPr lang="en-US" sz="1050" u="sng" dirty="0">
                <a:solidFill>
                  <a:srgbClr val="59D3EF"/>
                </a:solidFill>
                <a:latin typeface="Tahoma"/>
                <a:ea typeface="Tahoma"/>
                <a:cs typeface="Tahoma"/>
                <a:hlinkClick r:id="rId3">
                  <a:extLst>
                    <a:ext uri="{A12FA001-AC4F-418D-AE19-62706E023703}">
                      <ahyp:hlinkClr xmlns:ahyp="http://schemas.microsoft.com/office/drawing/2018/hyperlinkcolor" val="tx"/>
                    </a:ext>
                  </a:extLst>
                </a:hlinkClick>
              </a:rPr>
              <a:t>doi.org/10.1016/j.amepre.2025.108001</a:t>
            </a:r>
            <a:endParaRPr lang="en-US" sz="1050" dirty="0"/>
          </a:p>
        </p:txBody>
      </p:sp>
      <p:pic>
        <p:nvPicPr>
          <p:cNvPr id="6" name="Image 0" descr="A shop owner in an apron carries a basket of bread out the door of a small neighborhood bakery"/>
          <p:cNvPicPr>
            <a:picLocks noChangeAspect="1"/>
          </p:cNvPicPr>
          <p:nvPr/>
        </p:nvPicPr>
        <p:blipFill>
          <a:blip r:embed="rId4"/>
          <a:srcRect l="24691" r="24691"/>
          <a:stretch/>
        </p:blipFill>
        <p:spPr>
          <a:xfrm>
            <a:off x="5238750" y="0"/>
            <a:ext cx="3905250" cy="5143500"/>
          </a:xfrm>
          <a:prstGeom prst="rect">
            <a:avLst/>
          </a:prstGeom>
        </p:spPr>
      </p:pic>
      <p:sp>
        <p:nvSpPr>
          <p:cNvPr id="7"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AAA3C4EA-001E-4066-9BB1-A8A3035F0FA3}" type="slidenum">
              <a:rPr lang="en-US" sz="900" dirty="0">
                <a:solidFill>
                  <a:srgbClr val="DDEBF7"/>
                </a:solidFill>
                <a:latin typeface="Tahoma"/>
                <a:cs typeface="Tahoma"/>
              </a:rPr>
              <a:t>5</a:t>
            </a:fld>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Shape 2">
            <a:extLst>
              <a:ext uri="{C183D7F6-B498-43B3-948B-1728B52AA6E4}">
                <adec:decorative xmlns:adec="http://schemas.microsoft.com/office/drawing/2017/decorative" val="1"/>
              </a:ext>
            </a:extLst>
          </p:cNvPr>
          <p:cNvSpPr/>
          <p:nvPr/>
        </p:nvSpPr>
        <p:spPr>
          <a:xfrm>
            <a:off x="571500" y="2396631"/>
            <a:ext cx="3154680" cy="544213"/>
          </a:xfrm>
          <a:prstGeom prst="rect">
            <a:avLst/>
          </a:prstGeom>
          <a:solidFill>
            <a:srgbClr val="E6F4FC"/>
          </a:solidFill>
          <a:ln/>
        </p:spPr>
        <p:txBody>
          <a:bodyPr/>
          <a:lstStyle/>
          <a:p>
            <a:endParaRPr lang="en-US"/>
          </a:p>
        </p:txBody>
      </p:sp>
      <p:sp>
        <p:nvSpPr>
          <p:cNvPr id="14" name="Donut segment 1 (Cerebral palsy or spina bifida)">
            <a:extLst>
              <a:ext uri="{C183D7F6-B498-43B3-948B-1728B52AA6E4}">
                <adec:decorative xmlns:adec="http://schemas.microsoft.com/office/drawing/2017/decorative" val="1"/>
              </a:ext>
            </a:extLst>
          </p:cNvPr>
          <p:cNvSpPr/>
          <p:nvPr/>
        </p:nvSpPr>
        <p:spPr>
          <a:xfrm>
            <a:off x="4667250" y="1907382"/>
            <a:ext cx="1905000" cy="1905000"/>
          </a:xfrm>
          <a:prstGeom prst="blockArc">
            <a:avLst>
              <a:gd name="adj1" fmla="val 16200000"/>
              <a:gd name="adj2" fmla="val 6480000"/>
              <a:gd name="adj3" fmla="val 21250"/>
            </a:avLst>
          </a:prstGeom>
          <a:solidFill>
            <a:srgbClr val="004A98"/>
          </a:solidFill>
          <a:ln w="19050">
            <a:solidFill>
              <a:srgbClr val="FFFFFF"/>
            </a:solidFill>
          </a:ln>
        </p:spPr>
        <p:txBody>
          <a:bodyPr/>
          <a:lstStyle/>
          <a:p>
            <a:endParaRPr lang="en-US"/>
          </a:p>
        </p:txBody>
      </p:sp>
      <p:sp>
        <p:nvSpPr>
          <p:cNvPr id="37" name="Donut segment 2 (Spinal cord injury)">
            <a:extLst>
              <a:ext uri="{C183D7F6-B498-43B3-948B-1728B52AA6E4}">
                <adec:decorative xmlns:adec="http://schemas.microsoft.com/office/drawing/2017/decorative" val="1"/>
              </a:ext>
            </a:extLst>
          </p:cNvPr>
          <p:cNvSpPr/>
          <p:nvPr/>
        </p:nvSpPr>
        <p:spPr>
          <a:xfrm>
            <a:off x="4667250" y="1907382"/>
            <a:ext cx="1905000" cy="1905000"/>
          </a:xfrm>
          <a:prstGeom prst="blockArc">
            <a:avLst>
              <a:gd name="adj1" fmla="val 6480000"/>
              <a:gd name="adj2" fmla="val 12744000"/>
              <a:gd name="adj3" fmla="val 21250"/>
            </a:avLst>
          </a:prstGeom>
          <a:solidFill>
            <a:srgbClr val="1D9ADD"/>
          </a:solidFill>
          <a:ln w="19050">
            <a:solidFill>
              <a:srgbClr val="FFFFFF"/>
            </a:solidFill>
          </a:ln>
        </p:spPr>
        <p:txBody>
          <a:bodyPr/>
          <a:lstStyle/>
          <a:p>
            <a:endParaRPr lang="en-US"/>
          </a:p>
        </p:txBody>
      </p:sp>
      <p:sp>
        <p:nvSpPr>
          <p:cNvPr id="38" name="Donut segment 3 (Multiple sclerosis)">
            <a:extLst>
              <a:ext uri="{C183D7F6-B498-43B3-948B-1728B52AA6E4}">
                <adec:decorative xmlns:adec="http://schemas.microsoft.com/office/drawing/2017/decorative" val="1"/>
              </a:ext>
            </a:extLst>
          </p:cNvPr>
          <p:cNvSpPr/>
          <p:nvPr/>
        </p:nvSpPr>
        <p:spPr>
          <a:xfrm>
            <a:off x="4667250" y="1907382"/>
            <a:ext cx="1905000" cy="1905000"/>
          </a:xfrm>
          <a:prstGeom prst="blockArc">
            <a:avLst>
              <a:gd name="adj1" fmla="val 12744000"/>
              <a:gd name="adj2" fmla="val 16200000"/>
              <a:gd name="adj3" fmla="val 21250"/>
            </a:avLst>
          </a:prstGeom>
          <a:solidFill>
            <a:srgbClr val="16B1C1"/>
          </a:solidFill>
          <a:ln w="19050">
            <a:solidFill>
              <a:srgbClr val="FFFFFF"/>
            </a:solidFill>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5072062" y="2312194"/>
            <a:ext cx="1095375" cy="1095375"/>
          </a:xfrm>
          <a:prstGeom prst="ellipse">
            <a:avLst/>
          </a:prstGeom>
          <a:solidFill>
            <a:srgbClr val="FFFFFF"/>
          </a:solidFill>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6838950" y="2113312"/>
            <a:ext cx="133350" cy="133350"/>
          </a:xfrm>
          <a:prstGeom prst="rect">
            <a:avLst/>
          </a:prstGeom>
          <a:solidFill>
            <a:srgbClr val="004A98"/>
          </a:solidFill>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6838950" y="2827687"/>
            <a:ext cx="133350" cy="133350"/>
          </a:xfrm>
          <a:prstGeom prst="rect">
            <a:avLst/>
          </a:prstGeom>
          <a:solidFill>
            <a:srgbClr val="1D9ADD"/>
          </a:solidFill>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6838950" y="3375374"/>
            <a:ext cx="133350" cy="133350"/>
          </a:xfrm>
          <a:prstGeom prst="rect">
            <a:avLst/>
          </a:prstGeom>
          <a:solidFill>
            <a:srgbClr val="16B1C1"/>
          </a:solidFill>
          <a:ln/>
        </p:spPr>
        <p:txBody>
          <a:bodyPr/>
          <a:lstStyle/>
          <a:p>
            <a:endParaRPr lang="en-US"/>
          </a:p>
        </p:txBody>
      </p:sp>
      <p:pic>
        <p:nvPicPr>
          <p:cNvPr id="28" name="Image 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2" name="Text 0"/>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Data source: Medicare claims</a:t>
            </a:r>
            <a:endParaRPr lang="en-US" sz="2850" dirty="0"/>
          </a:p>
        </p:txBody>
      </p:sp>
      <p:sp>
        <p:nvSpPr>
          <p:cNvPr id="3" name="Text 1"/>
          <p:cNvSpPr txBox="1"/>
          <p:nvPr/>
        </p:nvSpPr>
        <p:spPr>
          <a:xfrm>
            <a:off x="571500" y="1581948"/>
            <a:ext cx="4095750" cy="636762"/>
          </a:xfrm>
          <a:prstGeom prst="rect">
            <a:avLst/>
          </a:prstGeom>
          <a:noFill/>
          <a:ln/>
        </p:spPr>
        <p:txBody>
          <a:bodyPr wrap="square" lIns="12700" tIns="12700" rIns="12700" bIns="12700" rtlCol="0" anchor="t">
            <a:normAutofit/>
          </a:bodyPr>
          <a:lstStyle/>
          <a:p>
            <a:pPr marL="0" indent="0" algn="l">
              <a:lnSpc>
                <a:spcPct val="119302"/>
              </a:lnSpc>
              <a:buNone/>
            </a:pPr>
            <a:r>
              <a:rPr lang="en-US" sz="1400">
                <a:solidFill>
                  <a:srgbClr val="050708"/>
                </a:solidFill>
                <a:latin typeface="Tahoma"/>
                <a:ea typeface="Tahoma"/>
                <a:cs typeface="Tahoma"/>
              </a:rPr>
              <a:t>20% random sample of de-identified administrative claims for Medicare beneficiaries (2008 to 2016)</a:t>
            </a:r>
            <a:endParaRPr lang="en-US" sz="1400"/>
          </a:p>
        </p:txBody>
      </p:sp>
      <p:sp>
        <p:nvSpPr>
          <p:cNvPr id="5" name="Text 3"/>
          <p:cNvSpPr txBox="1"/>
          <p:nvPr/>
        </p:nvSpPr>
        <p:spPr>
          <a:xfrm>
            <a:off x="653796" y="2395728"/>
            <a:ext cx="2990088" cy="544068"/>
          </a:xfrm>
          <a:prstGeom prst="rect">
            <a:avLst/>
          </a:prstGeom>
          <a:noFill/>
          <a:ln/>
        </p:spPr>
        <p:txBody>
          <a:bodyPr wrap="square" lIns="12700" tIns="12700" rIns="12700" bIns="12700" rtlCol="0" anchor="ctr">
            <a:normAutofit/>
          </a:bodyPr>
          <a:lstStyle/>
          <a:p>
            <a:pPr marL="0" indent="0" algn="l">
              <a:buNone/>
            </a:pPr>
            <a:r>
              <a:rPr lang="en-US" sz="1200" b="1" dirty="0">
                <a:solidFill>
                  <a:srgbClr val="004A98"/>
                </a:solidFill>
                <a:latin typeface="Tahoma"/>
                <a:cs typeface="Tahoma"/>
              </a:rPr>
              <a:t>Received Social Security Disability Income prior to enrollment in Medicare</a:t>
            </a:r>
            <a:endParaRPr lang="en-US" sz="1200" dirty="0"/>
          </a:p>
        </p:txBody>
      </p:sp>
      <p:sp>
        <p:nvSpPr>
          <p:cNvPr id="7" name="Text 5"/>
          <p:cNvSpPr txBox="1"/>
          <p:nvPr/>
        </p:nvSpPr>
        <p:spPr>
          <a:xfrm>
            <a:off x="571500" y="3117136"/>
            <a:ext cx="3390900" cy="389112"/>
          </a:xfrm>
          <a:prstGeom prst="rect">
            <a:avLst/>
          </a:prstGeom>
          <a:noFill/>
          <a:ln/>
        </p:spPr>
        <p:txBody>
          <a:bodyPr wrap="square" lIns="12700" tIns="12700" rIns="12700" bIns="12700" rtlCol="0" anchor="t">
            <a:normAutofit/>
          </a:bodyPr>
          <a:lstStyle/>
          <a:p>
            <a:r>
              <a:rPr lang="en-US" sz="1400" b="1" dirty="0">
                <a:solidFill>
                  <a:srgbClr val="050708"/>
                </a:solidFill>
                <a:latin typeface="Tahoma"/>
                <a:ea typeface="Tahoma"/>
                <a:cs typeface="Tahoma"/>
              </a:rPr>
              <a:t>Mean age 45 years (±14)</a:t>
            </a:r>
          </a:p>
        </p:txBody>
      </p:sp>
      <p:sp>
        <p:nvSpPr>
          <p:cNvPr id="8" name="Shape 6">
            <a:extLst>
              <a:ext uri="{C183D7F6-B498-43B3-948B-1728B52AA6E4}">
                <adec:decorative xmlns:adec="http://schemas.microsoft.com/office/drawing/2017/decorative" val="1"/>
              </a:ext>
            </a:extLst>
          </p:cNvPr>
          <p:cNvSpPr/>
          <p:nvPr/>
        </p:nvSpPr>
        <p:spPr>
          <a:xfrm>
            <a:off x="571500" y="3429000"/>
            <a:ext cx="1514246" cy="301752"/>
          </a:xfrm>
          <a:prstGeom prst="rect">
            <a:avLst/>
          </a:prstGeom>
          <a:solidFill>
            <a:srgbClr val="1D9ADD"/>
          </a:solidFill>
          <a:ln/>
        </p:spPr>
        <p:txBody>
          <a:bodyPr/>
          <a:lstStyle/>
          <a:p>
            <a:endParaRPr lang="en-US"/>
          </a:p>
        </p:txBody>
      </p:sp>
      <p:sp>
        <p:nvSpPr>
          <p:cNvPr id="31" name="Shape 6">
            <a:extLst>
              <a:ext uri="{FF2B5EF4-FFF2-40B4-BE49-F238E27FC236}">
                <a16:creationId xmlns:a16="http://schemas.microsoft.com/office/drawing/2014/main" id="{510ABF6A-3223-930A-D783-5FFEF88B98C3}"/>
              </a:ext>
              <a:ext uri="{C183D7F6-B498-43B3-948B-1728B52AA6E4}">
                <adec:decorative xmlns:adec="http://schemas.microsoft.com/office/drawing/2017/decorative" val="1"/>
              </a:ext>
            </a:extLst>
          </p:cNvPr>
          <p:cNvSpPr/>
          <p:nvPr/>
        </p:nvSpPr>
        <p:spPr>
          <a:xfrm>
            <a:off x="2085746" y="3429000"/>
            <a:ext cx="1388059" cy="301752"/>
          </a:xfrm>
          <a:prstGeom prst="rect">
            <a:avLst/>
          </a:prstGeom>
          <a:solidFill>
            <a:schemeClr val="accent5">
              <a:lumMod val="60000"/>
              <a:lumOff val="40000"/>
            </a:schemeClr>
          </a:solidFill>
          <a:ln/>
        </p:spPr>
        <p:txBody>
          <a:bodyPr/>
          <a:lstStyle/>
          <a:p>
            <a:endParaRPr lang="en-US"/>
          </a:p>
        </p:txBody>
      </p:sp>
      <p:sp>
        <p:nvSpPr>
          <p:cNvPr id="9" name="Text 7"/>
          <p:cNvSpPr txBox="1"/>
          <p:nvPr/>
        </p:nvSpPr>
        <p:spPr>
          <a:xfrm>
            <a:off x="571500" y="3429000"/>
            <a:ext cx="1514246" cy="301752"/>
          </a:xfrm>
          <a:prstGeom prst="rect">
            <a:avLst/>
          </a:prstGeom>
          <a:noFill/>
          <a:ln/>
        </p:spPr>
        <p:txBody>
          <a:bodyPr wrap="square" lIns="0" tIns="0" rIns="0" bIns="0" rtlCol="0" anchor="ctr">
            <a:normAutofit/>
          </a:bodyPr>
          <a:lstStyle/>
          <a:p>
            <a:pPr marL="0" indent="0" algn="ctr">
              <a:buNone/>
            </a:pPr>
            <a:r>
              <a:rPr lang="en-US" sz="1050" b="1">
                <a:solidFill>
                  <a:srgbClr val="050708"/>
                </a:solidFill>
                <a:latin typeface="Tahoma"/>
                <a:ea typeface="Tahoma"/>
                <a:cs typeface="Tahoma"/>
              </a:rPr>
              <a:t>48</a:t>
            </a:r>
            <a:r>
              <a:rPr lang="en-US" sz="1050" b="1" dirty="0">
                <a:solidFill>
                  <a:srgbClr val="050708"/>
                </a:solidFill>
                <a:latin typeface="Tahoma"/>
                <a:ea typeface="Tahoma"/>
                <a:cs typeface="Tahoma"/>
              </a:rPr>
              <a:t>%</a:t>
            </a:r>
            <a:endParaRPr lang="en-US" sz="1050" dirty="0"/>
          </a:p>
        </p:txBody>
      </p:sp>
      <p:sp>
        <p:nvSpPr>
          <p:cNvPr id="12" name="Text 10"/>
          <p:cNvSpPr txBox="1"/>
          <p:nvPr/>
        </p:nvSpPr>
        <p:spPr>
          <a:xfrm>
            <a:off x="571500" y="3785616"/>
            <a:ext cx="1514246" cy="182880"/>
          </a:xfrm>
          <a:prstGeom prst="rect">
            <a:avLst/>
          </a:prstGeom>
          <a:noFill/>
          <a:ln/>
        </p:spPr>
        <p:txBody>
          <a:bodyPr wrap="square" lIns="12700" tIns="12700" rIns="12700" bIns="12700" rtlCol="0" anchor="t">
            <a:normAutofit lnSpcReduction="10000"/>
          </a:bodyPr>
          <a:lstStyle/>
          <a:p>
            <a:pPr marL="0" indent="0" algn="ctr">
              <a:buNone/>
            </a:pPr>
            <a:r>
              <a:rPr lang="en-US" sz="975" dirty="0">
                <a:solidFill>
                  <a:srgbClr val="5C666D"/>
                </a:solidFill>
                <a:latin typeface="Tahoma"/>
                <a:ea typeface="Tahoma"/>
                <a:cs typeface="Tahoma"/>
              </a:rPr>
              <a:t>Age 18 to 44</a:t>
            </a:r>
            <a:endParaRPr lang="en-US" sz="975" dirty="0"/>
          </a:p>
        </p:txBody>
      </p:sp>
      <p:sp>
        <p:nvSpPr>
          <p:cNvPr id="33" name="Text 7">
            <a:extLst>
              <a:ext uri="{FF2B5EF4-FFF2-40B4-BE49-F238E27FC236}">
                <a16:creationId xmlns:a16="http://schemas.microsoft.com/office/drawing/2014/main" id="{D4F92C13-8D47-029F-1A20-0F499FB3E52E}"/>
              </a:ext>
            </a:extLst>
          </p:cNvPr>
          <p:cNvSpPr txBox="1"/>
          <p:nvPr/>
        </p:nvSpPr>
        <p:spPr>
          <a:xfrm>
            <a:off x="2085746" y="3429000"/>
            <a:ext cx="1388059" cy="301752"/>
          </a:xfrm>
          <a:prstGeom prst="rect">
            <a:avLst/>
          </a:prstGeom>
          <a:noFill/>
          <a:ln/>
        </p:spPr>
        <p:txBody>
          <a:bodyPr wrap="square" lIns="0" tIns="0" rIns="0" bIns="0" rtlCol="0" anchor="ctr">
            <a:normAutofit/>
          </a:bodyPr>
          <a:lstStyle/>
          <a:p>
            <a:pPr marL="0" indent="0" algn="ctr">
              <a:buNone/>
            </a:pPr>
            <a:r>
              <a:rPr lang="en-US" sz="1050" b="1">
                <a:solidFill>
                  <a:srgbClr val="050708"/>
                </a:solidFill>
                <a:latin typeface="Tahoma"/>
                <a:ea typeface="Tahoma"/>
                <a:cs typeface="Tahoma"/>
              </a:rPr>
              <a:t>44%</a:t>
            </a:r>
            <a:endParaRPr lang="en-US" sz="1050"/>
          </a:p>
        </p:txBody>
      </p:sp>
      <p:sp>
        <p:nvSpPr>
          <p:cNvPr id="36" name="Text 10">
            <a:extLst>
              <a:ext uri="{FF2B5EF4-FFF2-40B4-BE49-F238E27FC236}">
                <a16:creationId xmlns:a16="http://schemas.microsoft.com/office/drawing/2014/main" id="{7DF72B70-DD8C-4E5D-C746-61565D5F1F37}"/>
              </a:ext>
            </a:extLst>
          </p:cNvPr>
          <p:cNvSpPr txBox="1"/>
          <p:nvPr/>
        </p:nvSpPr>
        <p:spPr>
          <a:xfrm>
            <a:off x="2085746" y="3785616"/>
            <a:ext cx="1388059" cy="182880"/>
          </a:xfrm>
          <a:prstGeom prst="rect">
            <a:avLst/>
          </a:prstGeom>
          <a:noFill/>
          <a:ln/>
        </p:spPr>
        <p:txBody>
          <a:bodyPr wrap="square" lIns="12700" tIns="12700" rIns="12700" bIns="12700" rtlCol="0" anchor="t">
            <a:normAutofit lnSpcReduction="10000"/>
          </a:bodyPr>
          <a:lstStyle/>
          <a:p>
            <a:pPr marL="0" indent="0" algn="ctr">
              <a:buNone/>
            </a:pPr>
            <a:r>
              <a:rPr lang="en-US" sz="975">
                <a:solidFill>
                  <a:srgbClr val="5C666D"/>
                </a:solidFill>
                <a:latin typeface="Tahoma"/>
                <a:ea typeface="Tahoma"/>
                <a:cs typeface="Tahoma"/>
              </a:rPr>
              <a:t>45 to 64</a:t>
            </a:r>
            <a:endParaRPr lang="en-US" sz="975"/>
          </a:p>
        </p:txBody>
      </p:sp>
      <p:grpSp>
        <p:nvGrpSpPr>
          <p:cNvPr id="34" name="Group 33" descr="Age bar segment: 8% of the sample is 65 and older">
            <a:extLst>
              <a:ext uri="{FF2B5EF4-FFF2-40B4-BE49-F238E27FC236}">
                <a16:creationId xmlns:a16="http://schemas.microsoft.com/office/drawing/2014/main" id="{7469D646-6A4C-B033-0803-D08ACB22D5BC}"/>
              </a:ext>
            </a:extLst>
          </p:cNvPr>
          <p:cNvGrpSpPr/>
          <p:nvPr/>
        </p:nvGrpSpPr>
        <p:grpSpPr>
          <a:xfrm>
            <a:off x="3473806" y="3429000"/>
            <a:ext cx="252374" cy="301752"/>
            <a:chOff x="3473806" y="3429000"/>
            <a:chExt cx="252374" cy="301752"/>
          </a:xfrm>
        </p:grpSpPr>
        <p:sp>
          <p:nvSpPr>
            <p:cNvPr id="10" name="Shape 8">
              <a:extLst>
                <a:ext uri="{C183D7F6-B498-43B3-948B-1728B52AA6E4}">
                  <adec:decorative xmlns:adec="http://schemas.microsoft.com/office/drawing/2017/decorative" val="1"/>
                </a:ext>
              </a:extLst>
            </p:cNvPr>
            <p:cNvSpPr/>
            <p:nvPr/>
          </p:nvSpPr>
          <p:spPr>
            <a:xfrm>
              <a:off x="3473806" y="3429000"/>
              <a:ext cx="252374" cy="301752"/>
            </a:xfrm>
            <a:prstGeom prst="rect">
              <a:avLst/>
            </a:prstGeom>
            <a:solidFill>
              <a:srgbClr val="004A98"/>
            </a:solidFill>
            <a:ln/>
          </p:spPr>
          <p:txBody>
            <a:bodyPr/>
            <a:lstStyle/>
            <a:p>
              <a:endParaRPr lang="en-US"/>
            </a:p>
          </p:txBody>
        </p:sp>
        <p:sp>
          <p:nvSpPr>
            <p:cNvPr id="11" name="Text 9"/>
            <p:cNvSpPr txBox="1"/>
            <p:nvPr/>
          </p:nvSpPr>
          <p:spPr>
            <a:xfrm>
              <a:off x="3473806" y="3429000"/>
              <a:ext cx="252374" cy="301752"/>
            </a:xfrm>
            <a:prstGeom prst="rect">
              <a:avLst/>
            </a:prstGeom>
            <a:noFill/>
            <a:ln/>
          </p:spPr>
          <p:txBody>
            <a:bodyPr wrap="square" lIns="0" tIns="0" rIns="0" bIns="0" rtlCol="0" anchor="ctr">
              <a:normAutofit/>
            </a:bodyPr>
            <a:lstStyle/>
            <a:p>
              <a:pPr marL="0" indent="0" algn="ctr">
                <a:buNone/>
              </a:pPr>
              <a:r>
                <a:rPr lang="en-US" sz="1050" b="1">
                  <a:solidFill>
                    <a:srgbClr val="FFFFFF"/>
                  </a:solidFill>
                  <a:latin typeface="Tahoma"/>
                  <a:ea typeface="Tahoma"/>
                  <a:cs typeface="Tahoma"/>
                </a:rPr>
                <a:t>8%</a:t>
              </a:r>
              <a:endParaRPr lang="en-US" sz="1050"/>
            </a:p>
          </p:txBody>
        </p:sp>
      </p:grpSp>
      <p:sp>
        <p:nvSpPr>
          <p:cNvPr id="13" name="Text 11"/>
          <p:cNvSpPr txBox="1"/>
          <p:nvPr/>
        </p:nvSpPr>
        <p:spPr>
          <a:xfrm>
            <a:off x="3142793" y="3785616"/>
            <a:ext cx="914400" cy="182880"/>
          </a:xfrm>
          <a:prstGeom prst="rect">
            <a:avLst/>
          </a:prstGeom>
          <a:noFill/>
          <a:ln/>
        </p:spPr>
        <p:txBody>
          <a:bodyPr wrap="square" lIns="12700" tIns="12700" rIns="12700" bIns="12700" rtlCol="0" anchor="t">
            <a:normAutofit/>
          </a:bodyPr>
          <a:lstStyle/>
          <a:p>
            <a:pPr marL="0" indent="0" algn="ctr">
              <a:buNone/>
            </a:pPr>
            <a:r>
              <a:rPr lang="en-US" sz="975" dirty="0">
                <a:solidFill>
                  <a:srgbClr val="5C666D"/>
                </a:solidFill>
                <a:latin typeface="Tahoma"/>
                <a:ea typeface="Tahoma"/>
                <a:cs typeface="Tahoma"/>
              </a:rPr>
              <a:t>65 and older</a:t>
            </a:r>
            <a:endParaRPr lang="en-US" sz="975" dirty="0"/>
          </a:p>
        </p:txBody>
      </p:sp>
      <p:sp>
        <p:nvSpPr>
          <p:cNvPr id="16" name="Text 14"/>
          <p:cNvSpPr txBox="1"/>
          <p:nvPr/>
        </p:nvSpPr>
        <p:spPr>
          <a:xfrm>
            <a:off x="5072062" y="2645569"/>
            <a:ext cx="1095375" cy="295275"/>
          </a:xfrm>
          <a:prstGeom prst="rect">
            <a:avLst/>
          </a:prstGeom>
          <a:noFill/>
          <a:ln/>
        </p:spPr>
        <p:txBody>
          <a:bodyPr wrap="square" lIns="12700" tIns="12700" rIns="12700" bIns="12700" rtlCol="0" anchor="t">
            <a:normAutofit lnSpcReduction="10000"/>
          </a:bodyPr>
          <a:lstStyle/>
          <a:p>
            <a:pPr marL="0" indent="0" algn="ctr">
              <a:buNone/>
            </a:pPr>
            <a:r>
              <a:rPr lang="en-US" sz="1875" b="1" dirty="0">
                <a:solidFill>
                  <a:srgbClr val="004A98"/>
                </a:solidFill>
                <a:latin typeface="Tahoma"/>
                <a:ea typeface="Tahoma"/>
                <a:cs typeface="Tahoma"/>
              </a:rPr>
              <a:t>27,224</a:t>
            </a:r>
            <a:endParaRPr lang="en-US" sz="1875" dirty="0"/>
          </a:p>
        </p:txBody>
      </p:sp>
      <p:sp>
        <p:nvSpPr>
          <p:cNvPr id="17" name="Text 15"/>
          <p:cNvSpPr txBox="1"/>
          <p:nvPr/>
        </p:nvSpPr>
        <p:spPr>
          <a:xfrm>
            <a:off x="5072062" y="2921794"/>
            <a:ext cx="1095375" cy="171450"/>
          </a:xfrm>
          <a:prstGeom prst="rect">
            <a:avLst/>
          </a:prstGeom>
          <a:noFill/>
          <a:ln/>
        </p:spPr>
        <p:txBody>
          <a:bodyPr wrap="square" lIns="12700" tIns="12700" rIns="12700" bIns="12700" rtlCol="0" anchor="t">
            <a:normAutofit/>
          </a:bodyPr>
          <a:lstStyle/>
          <a:p>
            <a:pPr marL="0" indent="0" algn="ctr">
              <a:buNone/>
            </a:pPr>
            <a:r>
              <a:rPr lang="en-US" sz="900" dirty="0">
                <a:solidFill>
                  <a:srgbClr val="5C666D"/>
                </a:solidFill>
                <a:latin typeface="Tahoma"/>
                <a:ea typeface="Tahoma"/>
                <a:cs typeface="Tahoma"/>
              </a:rPr>
              <a:t>adults</a:t>
            </a:r>
            <a:endParaRPr lang="en-US" sz="900" dirty="0"/>
          </a:p>
        </p:txBody>
      </p:sp>
      <p:sp>
        <p:nvSpPr>
          <p:cNvPr id="19" name="Text 17"/>
          <p:cNvSpPr txBox="1"/>
          <p:nvPr/>
        </p:nvSpPr>
        <p:spPr>
          <a:xfrm>
            <a:off x="7058025" y="2026444"/>
            <a:ext cx="1514475" cy="257175"/>
          </a:xfrm>
          <a:prstGeom prst="rect">
            <a:avLst/>
          </a:prstGeom>
          <a:noFill/>
          <a:ln/>
        </p:spPr>
        <p:txBody>
          <a:bodyPr wrap="square" lIns="12700" tIns="12700" rIns="12700" bIns="12700" rtlCol="0" anchor="t">
            <a:normAutofit lnSpcReduction="10000"/>
          </a:bodyPr>
          <a:lstStyle/>
          <a:p>
            <a:pPr marL="0" indent="0" algn="l">
              <a:lnSpc>
                <a:spcPct val="111111"/>
              </a:lnSpc>
              <a:buNone/>
            </a:pPr>
            <a:r>
              <a:rPr lang="en-US" sz="1500" b="1" dirty="0">
                <a:solidFill>
                  <a:srgbClr val="050708"/>
                </a:solidFill>
                <a:latin typeface="Tahoma"/>
                <a:ea typeface="Tahoma"/>
                <a:cs typeface="Tahoma"/>
              </a:rPr>
              <a:t>55%</a:t>
            </a:r>
            <a:endParaRPr lang="en-US" sz="1500" dirty="0"/>
          </a:p>
        </p:txBody>
      </p:sp>
      <p:sp>
        <p:nvSpPr>
          <p:cNvPr id="20" name="Text 18"/>
          <p:cNvSpPr txBox="1"/>
          <p:nvPr/>
        </p:nvSpPr>
        <p:spPr>
          <a:xfrm>
            <a:off x="7058025" y="2259806"/>
            <a:ext cx="1384542" cy="361950"/>
          </a:xfrm>
          <a:prstGeom prst="rect">
            <a:avLst/>
          </a:prstGeom>
          <a:noFill/>
          <a:ln/>
        </p:spPr>
        <p:txBody>
          <a:bodyPr wrap="square" lIns="0" tIns="0" rIns="0" bIns="0" rtlCol="0" anchor="t">
            <a:normAutofit/>
          </a:bodyPr>
          <a:lstStyle/>
          <a:p>
            <a:pPr marL="0" indent="0" algn="l">
              <a:lnSpc>
                <a:spcPct val="109375"/>
              </a:lnSpc>
              <a:buNone/>
            </a:pPr>
            <a:r>
              <a:rPr lang="en-US" sz="1050" dirty="0">
                <a:solidFill>
                  <a:srgbClr val="050708"/>
                </a:solidFill>
                <a:latin typeface="Tahoma"/>
                <a:ea typeface="Tahoma"/>
                <a:cs typeface="Tahoma"/>
              </a:rPr>
              <a:t>Cerebral palsy or </a:t>
            </a:r>
          </a:p>
          <a:p>
            <a:pPr marL="0" indent="0" algn="l">
              <a:lnSpc>
                <a:spcPct val="109375"/>
              </a:lnSpc>
              <a:buNone/>
            </a:pPr>
            <a:r>
              <a:rPr lang="en-US" sz="1050" dirty="0">
                <a:solidFill>
                  <a:srgbClr val="050708"/>
                </a:solidFill>
                <a:latin typeface="Tahoma"/>
                <a:ea typeface="Tahoma"/>
                <a:cs typeface="Tahoma"/>
              </a:rPr>
              <a:t>spina bifida</a:t>
            </a:r>
            <a:endParaRPr lang="en-US" sz="1050" dirty="0"/>
          </a:p>
        </p:txBody>
      </p:sp>
      <p:sp>
        <p:nvSpPr>
          <p:cNvPr id="22" name="Text 20"/>
          <p:cNvSpPr txBox="1"/>
          <p:nvPr/>
        </p:nvSpPr>
        <p:spPr>
          <a:xfrm>
            <a:off x="7058025" y="2740819"/>
            <a:ext cx="1514475" cy="257175"/>
          </a:xfrm>
          <a:prstGeom prst="rect">
            <a:avLst/>
          </a:prstGeom>
          <a:noFill/>
          <a:ln/>
        </p:spPr>
        <p:txBody>
          <a:bodyPr wrap="square" lIns="12700" tIns="12700" rIns="12700" bIns="12700" rtlCol="0" anchor="t">
            <a:normAutofit lnSpcReduction="10000"/>
          </a:bodyPr>
          <a:lstStyle/>
          <a:p>
            <a:pPr marL="0" indent="0" algn="l">
              <a:lnSpc>
                <a:spcPct val="111111"/>
              </a:lnSpc>
              <a:buNone/>
            </a:pPr>
            <a:r>
              <a:rPr lang="en-US" sz="1500" b="1" dirty="0">
                <a:solidFill>
                  <a:srgbClr val="050708"/>
                </a:solidFill>
                <a:latin typeface="Tahoma"/>
                <a:ea typeface="Tahoma"/>
                <a:cs typeface="Tahoma"/>
              </a:rPr>
              <a:t>29%</a:t>
            </a:r>
            <a:endParaRPr lang="en-US" sz="1500" dirty="0"/>
          </a:p>
        </p:txBody>
      </p:sp>
      <p:sp>
        <p:nvSpPr>
          <p:cNvPr id="23" name="Text 21"/>
          <p:cNvSpPr txBox="1"/>
          <p:nvPr/>
        </p:nvSpPr>
        <p:spPr>
          <a:xfrm>
            <a:off x="7058025" y="2974182"/>
            <a:ext cx="1514475" cy="195262"/>
          </a:xfrm>
          <a:prstGeom prst="rect">
            <a:avLst/>
          </a:prstGeom>
          <a:noFill/>
          <a:ln/>
        </p:spPr>
        <p:txBody>
          <a:bodyPr wrap="square" lIns="0" tIns="0" rIns="0" bIns="0" rtlCol="0" anchor="t">
            <a:normAutofit/>
          </a:bodyPr>
          <a:lstStyle/>
          <a:p>
            <a:pPr marL="0" indent="0" algn="l">
              <a:lnSpc>
                <a:spcPct val="109375"/>
              </a:lnSpc>
              <a:buNone/>
            </a:pPr>
            <a:r>
              <a:rPr lang="en-US" sz="1050" dirty="0">
                <a:solidFill>
                  <a:srgbClr val="050708"/>
                </a:solidFill>
                <a:latin typeface="Tahoma"/>
                <a:ea typeface="Tahoma"/>
                <a:cs typeface="Tahoma"/>
              </a:rPr>
              <a:t>Spinal cord injury (plegia)</a:t>
            </a:r>
            <a:endParaRPr lang="en-US" sz="1050" dirty="0"/>
          </a:p>
        </p:txBody>
      </p:sp>
      <p:sp>
        <p:nvSpPr>
          <p:cNvPr id="25" name="Text 23"/>
          <p:cNvSpPr txBox="1"/>
          <p:nvPr/>
        </p:nvSpPr>
        <p:spPr>
          <a:xfrm>
            <a:off x="7058025" y="3288506"/>
            <a:ext cx="1128050" cy="257175"/>
          </a:xfrm>
          <a:prstGeom prst="rect">
            <a:avLst/>
          </a:prstGeom>
          <a:noFill/>
          <a:ln/>
        </p:spPr>
        <p:txBody>
          <a:bodyPr wrap="square" lIns="12700" tIns="12700" rIns="12700" bIns="12700" rtlCol="0" anchor="t">
            <a:normAutofit lnSpcReduction="10000"/>
          </a:bodyPr>
          <a:lstStyle/>
          <a:p>
            <a:pPr marL="0" indent="0" algn="l">
              <a:lnSpc>
                <a:spcPct val="111111"/>
              </a:lnSpc>
              <a:buNone/>
            </a:pPr>
            <a:r>
              <a:rPr lang="en-US" sz="1500" b="1" dirty="0">
                <a:solidFill>
                  <a:srgbClr val="050708"/>
                </a:solidFill>
                <a:latin typeface="Tahoma"/>
                <a:ea typeface="Tahoma"/>
                <a:cs typeface="Tahoma"/>
              </a:rPr>
              <a:t>16%</a:t>
            </a:r>
            <a:endParaRPr lang="en-US" sz="1500" dirty="0"/>
          </a:p>
        </p:txBody>
      </p:sp>
      <p:sp>
        <p:nvSpPr>
          <p:cNvPr id="26" name="Text 24"/>
          <p:cNvSpPr txBox="1"/>
          <p:nvPr/>
        </p:nvSpPr>
        <p:spPr>
          <a:xfrm>
            <a:off x="7058025" y="3521869"/>
            <a:ext cx="1063600" cy="195262"/>
          </a:xfrm>
          <a:prstGeom prst="rect">
            <a:avLst/>
          </a:prstGeom>
          <a:noFill/>
          <a:ln/>
        </p:spPr>
        <p:txBody>
          <a:bodyPr wrap="square" lIns="0" tIns="0" rIns="0" bIns="0" rtlCol="0" anchor="t">
            <a:normAutofit/>
          </a:bodyPr>
          <a:lstStyle/>
          <a:p>
            <a:pPr marL="0" indent="0" algn="l">
              <a:lnSpc>
                <a:spcPct val="109375"/>
              </a:lnSpc>
              <a:buNone/>
            </a:pPr>
            <a:r>
              <a:rPr lang="en-US" sz="1050" dirty="0">
                <a:solidFill>
                  <a:srgbClr val="050708"/>
                </a:solidFill>
                <a:latin typeface="Tahoma"/>
                <a:ea typeface="Tahoma"/>
                <a:cs typeface="Tahoma"/>
              </a:rPr>
              <a:t>Multiple sclerosis</a:t>
            </a:r>
            <a:endParaRPr lang="en-US" sz="1050" dirty="0"/>
          </a:p>
        </p:txBody>
      </p:sp>
      <p:sp>
        <p:nvSpPr>
          <p:cNvPr id="27" name="Text 25"/>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39"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E197F2D8-9E3B-466F-A216-9503EE38DC59}" type="slidenum">
              <a:rPr lang="en-US" sz="900" dirty="0">
                <a:solidFill>
                  <a:srgbClr val="4F6B8A"/>
                </a:solidFill>
                <a:latin typeface="Tahoma"/>
                <a:cs typeface="Tahoma"/>
              </a:rPr>
              <a:t>6</a:t>
            </a:fld>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3" name="Shape 1">
            <a:extLst>
              <a:ext uri="{C183D7F6-B498-43B3-948B-1728B52AA6E4}">
                <adec:decorative xmlns:adec="http://schemas.microsoft.com/office/drawing/2017/decorative" val="1"/>
              </a:ext>
            </a:extLst>
          </p:cNvPr>
          <p:cNvSpPr/>
          <p:nvPr/>
        </p:nvSpPr>
        <p:spPr>
          <a:xfrm>
            <a:off x="571500" y="1195388"/>
            <a:ext cx="3886200" cy="3328988"/>
          </a:xfrm>
          <a:prstGeom prst="rect">
            <a:avLst/>
          </a:prstGeom>
          <a:solidFill>
            <a:srgbClr val="FFFFFF"/>
          </a:solidFill>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571500" y="1195388"/>
            <a:ext cx="3886200" cy="57150"/>
          </a:xfrm>
          <a:prstGeom prst="rect">
            <a:avLst/>
          </a:prstGeom>
          <a:solidFill>
            <a:srgbClr val="004A98"/>
          </a:solidFill>
          <a:ln/>
        </p:spPr>
        <p:txBody>
          <a:bodyPr/>
          <a:lstStyle/>
          <a:p>
            <a:endParaRPr lang="en-US"/>
          </a:p>
        </p:txBody>
      </p:sp>
      <p:sp>
        <p:nvSpPr>
          <p:cNvPr id="7" name="Shape 5">
            <a:extLst>
              <a:ext uri="{C183D7F6-B498-43B3-948B-1728B52AA6E4}">
                <adec:decorative xmlns:adec="http://schemas.microsoft.com/office/drawing/2017/decorative" val="1"/>
              </a:ext>
            </a:extLst>
          </p:cNvPr>
          <p:cNvSpPr/>
          <p:nvPr/>
        </p:nvSpPr>
        <p:spPr>
          <a:xfrm>
            <a:off x="857250" y="2547938"/>
            <a:ext cx="66675" cy="66675"/>
          </a:xfrm>
          <a:prstGeom prst="rect">
            <a:avLst/>
          </a:prstGeom>
          <a:solidFill>
            <a:srgbClr val="1D9ADD"/>
          </a:solidFill>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857250" y="3038475"/>
            <a:ext cx="66675" cy="66675"/>
          </a:xfrm>
          <a:prstGeom prst="rect">
            <a:avLst/>
          </a:prstGeom>
          <a:solidFill>
            <a:srgbClr val="1D9ADD"/>
          </a:solidFill>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857250" y="3336132"/>
            <a:ext cx="66675" cy="66675"/>
          </a:xfrm>
          <a:prstGeom prst="rect">
            <a:avLst/>
          </a:prstGeom>
          <a:solidFill>
            <a:srgbClr val="1D9ADD"/>
          </a:solidFill>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4686300" y="1195388"/>
            <a:ext cx="3886200" cy="3328988"/>
          </a:xfrm>
          <a:prstGeom prst="rect">
            <a:avLst/>
          </a:prstGeom>
          <a:solidFill>
            <a:srgbClr val="FFFFFF"/>
          </a:solidFill>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686300" y="1195388"/>
            <a:ext cx="3886200" cy="57150"/>
          </a:xfrm>
          <a:prstGeom prst="rect">
            <a:avLst/>
          </a:prstGeom>
          <a:solidFill>
            <a:srgbClr val="49AA31"/>
          </a:solidFill>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4972050" y="2309812"/>
            <a:ext cx="66675" cy="66675"/>
          </a:xfrm>
          <a:prstGeom prst="rect">
            <a:avLst/>
          </a:prstGeom>
          <a:solidFill>
            <a:srgbClr val="49AA31"/>
          </a:solidFill>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4972050" y="2800350"/>
            <a:ext cx="66675" cy="66675"/>
          </a:xfrm>
          <a:prstGeom prst="rect">
            <a:avLst/>
          </a:prstGeom>
          <a:solidFill>
            <a:srgbClr val="49AA31"/>
          </a:solidFill>
          <a:ln/>
        </p:spPr>
        <p:txBody>
          <a:bodyPr/>
          <a:lstStyle/>
          <a:p>
            <a:endParaRPr lang="en-US"/>
          </a:p>
        </p:txBody>
      </p:sp>
      <p:pic>
        <p:nvPicPr>
          <p:cNvPr id="23" name="Image 1">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2" name="Text 0"/>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Measures</a:t>
            </a:r>
            <a:endParaRPr lang="en-US" sz="2850" dirty="0"/>
          </a:p>
        </p:txBody>
      </p:sp>
      <p:sp>
        <p:nvSpPr>
          <p:cNvPr id="5" name="Text 3"/>
          <p:cNvSpPr txBox="1"/>
          <p:nvPr/>
        </p:nvSpPr>
        <p:spPr>
          <a:xfrm>
            <a:off x="857250" y="1519238"/>
            <a:ext cx="3646170" cy="161925"/>
          </a:xfrm>
          <a:prstGeom prst="rect">
            <a:avLst/>
          </a:prstGeom>
          <a:noFill/>
          <a:ln/>
        </p:spPr>
        <p:txBody>
          <a:bodyPr wrap="square" lIns="12700" tIns="12700" rIns="12700" bIns="12700" rtlCol="0" anchor="t">
            <a:noAutofit/>
          </a:bodyPr>
          <a:lstStyle/>
          <a:p>
            <a:pPr marL="0" indent="0" algn="l">
              <a:buNone/>
            </a:pPr>
            <a:r>
              <a:rPr lang="en-US" sz="1400" b="1" kern="0" spc="117">
                <a:solidFill>
                  <a:srgbClr val="004A98"/>
                </a:solidFill>
                <a:latin typeface="Tahoma"/>
                <a:ea typeface="Tahoma"/>
                <a:cs typeface="Tahoma"/>
              </a:rPr>
              <a:t>OUTCOME</a:t>
            </a:r>
            <a:endParaRPr lang="en-US" sz="1400" b="1">
              <a:latin typeface="Tahoma"/>
              <a:cs typeface="Tahoma"/>
            </a:endParaRPr>
          </a:p>
        </p:txBody>
      </p:sp>
      <p:sp>
        <p:nvSpPr>
          <p:cNvPr id="6" name="Text 4"/>
          <p:cNvSpPr txBox="1"/>
          <p:nvPr/>
        </p:nvSpPr>
        <p:spPr>
          <a:xfrm>
            <a:off x="857250" y="1833562"/>
            <a:ext cx="3414141" cy="495300"/>
          </a:xfrm>
          <a:prstGeom prst="rect">
            <a:avLst/>
          </a:prstGeom>
          <a:noFill/>
          <a:ln/>
        </p:spPr>
        <p:txBody>
          <a:bodyPr wrap="square" lIns="12700" tIns="12700" rIns="12700" bIns="12700" rtlCol="0" anchor="t">
            <a:normAutofit lnSpcReduction="10000"/>
          </a:bodyPr>
          <a:lstStyle/>
          <a:p>
            <a:pPr marL="0" indent="0" algn="l">
              <a:lnSpc>
                <a:spcPct val="111111"/>
              </a:lnSpc>
              <a:buNone/>
            </a:pPr>
            <a:r>
              <a:rPr lang="en-US" sz="1500" b="1" dirty="0">
                <a:solidFill>
                  <a:srgbClr val="050708"/>
                </a:solidFill>
                <a:latin typeface="Tahoma"/>
                <a:ea typeface="Tahoma"/>
                <a:cs typeface="Tahoma"/>
              </a:rPr>
              <a:t>3-year incident cardiometabolic disease (ICD-10-CM codes)</a:t>
            </a:r>
            <a:endParaRPr lang="en-US" sz="1500" dirty="0"/>
          </a:p>
        </p:txBody>
      </p:sp>
      <p:sp>
        <p:nvSpPr>
          <p:cNvPr id="8" name="Text 6"/>
          <p:cNvSpPr txBox="1"/>
          <p:nvPr/>
        </p:nvSpPr>
        <p:spPr>
          <a:xfrm>
            <a:off x="1019175" y="2481262"/>
            <a:ext cx="3247358" cy="404812"/>
          </a:xfrm>
          <a:prstGeom prst="rect">
            <a:avLst/>
          </a:prstGeom>
          <a:noFill/>
          <a:ln/>
        </p:spPr>
        <p:txBody>
          <a:bodyPr wrap="square" lIns="12700" tIns="12700" rIns="12700" bIns="12700" rtlCol="0" anchor="t">
            <a:noAutofit/>
          </a:bodyPr>
          <a:lstStyle/>
          <a:p>
            <a:pPr marL="0" indent="0" algn="l">
              <a:lnSpc>
                <a:spcPct val="119118"/>
              </a:lnSpc>
              <a:buNone/>
            </a:pPr>
            <a:r>
              <a:rPr lang="en-US" sz="1200">
                <a:solidFill>
                  <a:srgbClr val="050708"/>
                </a:solidFill>
                <a:latin typeface="Tahoma"/>
                <a:ea typeface="Tahoma"/>
                <a:cs typeface="Tahoma"/>
              </a:rPr>
              <a:t>Cardiovascular conditions (e.g., hypertension, heart failure, cardiac dysrhythmias)</a:t>
            </a:r>
            <a:endParaRPr lang="en-US" sz="1200"/>
          </a:p>
        </p:txBody>
      </p:sp>
      <p:sp>
        <p:nvSpPr>
          <p:cNvPr id="10" name="Text 8"/>
          <p:cNvSpPr txBox="1"/>
          <p:nvPr/>
        </p:nvSpPr>
        <p:spPr>
          <a:xfrm>
            <a:off x="1019175" y="2971800"/>
            <a:ext cx="1689252" cy="211932"/>
          </a:xfrm>
          <a:prstGeom prst="rect">
            <a:avLst/>
          </a:prstGeom>
          <a:noFill/>
          <a:ln/>
        </p:spPr>
        <p:txBody>
          <a:bodyPr wrap="square" lIns="12700" tIns="12700" rIns="12700" bIns="12700" rtlCol="0" anchor="t">
            <a:noAutofit/>
          </a:bodyPr>
          <a:lstStyle/>
          <a:p>
            <a:pPr marL="0" indent="0" algn="l">
              <a:lnSpc>
                <a:spcPct val="119118"/>
              </a:lnSpc>
              <a:buNone/>
            </a:pPr>
            <a:r>
              <a:rPr lang="en-US" sz="1200">
                <a:solidFill>
                  <a:srgbClr val="050708"/>
                </a:solidFill>
                <a:latin typeface="Tahoma"/>
                <a:ea typeface="Tahoma"/>
                <a:cs typeface="Tahoma"/>
              </a:rPr>
              <a:t>Type 2 diabetes mellitus</a:t>
            </a:r>
            <a:endParaRPr lang="en-US" sz="1200"/>
          </a:p>
        </p:txBody>
      </p:sp>
      <p:sp>
        <p:nvSpPr>
          <p:cNvPr id="12" name="Text 10"/>
          <p:cNvSpPr txBox="1"/>
          <p:nvPr/>
        </p:nvSpPr>
        <p:spPr>
          <a:xfrm>
            <a:off x="1019175" y="3269457"/>
            <a:ext cx="1768848" cy="200025"/>
          </a:xfrm>
          <a:prstGeom prst="rect">
            <a:avLst/>
          </a:prstGeom>
          <a:noFill/>
          <a:ln/>
        </p:spPr>
        <p:txBody>
          <a:bodyPr wrap="square" lIns="12700" tIns="12700" rIns="12700" bIns="12700" rtlCol="0" anchor="t">
            <a:noAutofit/>
          </a:bodyPr>
          <a:lstStyle/>
          <a:p>
            <a:pPr marL="0" indent="0" algn="l">
              <a:lnSpc>
                <a:spcPct val="119118"/>
              </a:lnSpc>
              <a:buNone/>
            </a:pPr>
            <a:r>
              <a:rPr lang="en-US" sz="1200" dirty="0">
                <a:solidFill>
                  <a:srgbClr val="050708"/>
                </a:solidFill>
                <a:latin typeface="Tahoma"/>
                <a:ea typeface="Tahoma"/>
                <a:cs typeface="Tahoma"/>
              </a:rPr>
              <a:t>Chronic kidney disease</a:t>
            </a:r>
            <a:endParaRPr lang="en-US" sz="1200" dirty="0"/>
          </a:p>
        </p:txBody>
      </p:sp>
      <p:sp>
        <p:nvSpPr>
          <p:cNvPr id="15" name="Text 13"/>
          <p:cNvSpPr txBox="1"/>
          <p:nvPr/>
        </p:nvSpPr>
        <p:spPr>
          <a:xfrm>
            <a:off x="4972050" y="1519238"/>
            <a:ext cx="3646170" cy="161925"/>
          </a:xfrm>
          <a:prstGeom prst="rect">
            <a:avLst/>
          </a:prstGeom>
          <a:noFill/>
          <a:ln/>
        </p:spPr>
        <p:txBody>
          <a:bodyPr wrap="square" lIns="12700" tIns="12700" rIns="12700" bIns="12700" rtlCol="0" anchor="t">
            <a:noAutofit/>
          </a:bodyPr>
          <a:lstStyle/>
          <a:p>
            <a:pPr marL="0" indent="0" algn="l">
              <a:buNone/>
            </a:pPr>
            <a:r>
              <a:rPr lang="en-US" sz="1400" b="1" kern="0" spc="117">
                <a:solidFill>
                  <a:srgbClr val="2F7A1E"/>
                </a:solidFill>
                <a:latin typeface="Tahoma"/>
                <a:ea typeface="Tahoma"/>
                <a:cs typeface="Tahoma"/>
              </a:rPr>
              <a:t>EXPOSURE</a:t>
            </a:r>
            <a:endParaRPr lang="en-US" sz="1400" b="1">
              <a:latin typeface="Tahoma"/>
              <a:cs typeface="Tahoma"/>
            </a:endParaRPr>
          </a:p>
        </p:txBody>
      </p:sp>
      <p:sp>
        <p:nvSpPr>
          <p:cNvPr id="16" name="Text 14"/>
          <p:cNvSpPr txBox="1"/>
          <p:nvPr/>
        </p:nvSpPr>
        <p:spPr>
          <a:xfrm>
            <a:off x="4972050" y="1833562"/>
            <a:ext cx="3646170" cy="257175"/>
          </a:xfrm>
          <a:prstGeom prst="rect">
            <a:avLst/>
          </a:prstGeom>
          <a:noFill/>
          <a:ln/>
        </p:spPr>
        <p:txBody>
          <a:bodyPr wrap="square" lIns="12700" tIns="12700" rIns="12700" bIns="12700" rtlCol="0" anchor="t">
            <a:normAutofit lnSpcReduction="10000"/>
          </a:bodyPr>
          <a:lstStyle/>
          <a:p>
            <a:pPr marL="0" indent="0" algn="l">
              <a:lnSpc>
                <a:spcPct val="111111"/>
              </a:lnSpc>
              <a:buNone/>
            </a:pPr>
            <a:r>
              <a:rPr lang="en-US" sz="1500" b="1" dirty="0">
                <a:solidFill>
                  <a:srgbClr val="050708"/>
                </a:solidFill>
                <a:latin typeface="Tahoma"/>
                <a:ea typeface="Tahoma"/>
                <a:cs typeface="Tahoma"/>
              </a:rPr>
              <a:t>Neighborhood context</a:t>
            </a:r>
            <a:endParaRPr lang="en-US" sz="1500" dirty="0"/>
          </a:p>
        </p:txBody>
      </p:sp>
      <p:sp>
        <p:nvSpPr>
          <p:cNvPr id="18" name="Text 16"/>
          <p:cNvSpPr txBox="1"/>
          <p:nvPr/>
        </p:nvSpPr>
        <p:spPr>
          <a:xfrm>
            <a:off x="5133975" y="2243138"/>
            <a:ext cx="3247358" cy="404812"/>
          </a:xfrm>
          <a:prstGeom prst="rect">
            <a:avLst/>
          </a:prstGeom>
          <a:noFill/>
          <a:ln/>
        </p:spPr>
        <p:txBody>
          <a:bodyPr wrap="square" lIns="12700" tIns="12700" rIns="12700" bIns="12700" rtlCol="0" anchor="t">
            <a:noAutofit/>
          </a:bodyPr>
          <a:lstStyle/>
          <a:p>
            <a:pPr marL="0" indent="0" algn="l">
              <a:lnSpc>
                <a:spcPct val="119118"/>
              </a:lnSpc>
              <a:buNone/>
            </a:pPr>
            <a:r>
              <a:rPr lang="en-US" sz="1200">
                <a:solidFill>
                  <a:srgbClr val="050708"/>
                </a:solidFill>
                <a:latin typeface="Tahoma"/>
                <a:ea typeface="Tahoma"/>
                <a:cs typeface="Tahoma"/>
              </a:rPr>
              <a:t>Residential ZIP code linked to its ZIP Code Tabulation Area (ZCTA)</a:t>
            </a:r>
            <a:endParaRPr lang="en-US" sz="1200"/>
          </a:p>
        </p:txBody>
      </p:sp>
      <p:sp>
        <p:nvSpPr>
          <p:cNvPr id="20" name="Text 18"/>
          <p:cNvSpPr txBox="1"/>
          <p:nvPr/>
        </p:nvSpPr>
        <p:spPr>
          <a:xfrm>
            <a:off x="5133976" y="2733675"/>
            <a:ext cx="3152775" cy="602456"/>
          </a:xfrm>
          <a:prstGeom prst="rect">
            <a:avLst/>
          </a:prstGeom>
          <a:noFill/>
          <a:ln/>
        </p:spPr>
        <p:txBody>
          <a:bodyPr wrap="square" lIns="12700" tIns="12700" rIns="12700" bIns="12700" rtlCol="0" anchor="t">
            <a:normAutofit/>
          </a:bodyPr>
          <a:lstStyle/>
          <a:p>
            <a:pPr marL="0" indent="0" algn="l">
              <a:lnSpc>
                <a:spcPct val="119118"/>
              </a:lnSpc>
              <a:buNone/>
            </a:pPr>
            <a:r>
              <a:rPr lang="en-US" sz="1200">
                <a:solidFill>
                  <a:srgbClr val="050708"/>
                </a:solidFill>
                <a:latin typeface="Tahoma"/>
                <a:ea typeface="Tahoma"/>
                <a:cs typeface="Tahoma"/>
              </a:rPr>
              <a:t>Linked to data in the National Neighborhood Data Archive (NaNDA)</a:t>
            </a:r>
            <a:endParaRPr lang="en-US" sz="1200"/>
          </a:p>
        </p:txBody>
      </p:sp>
      <p:pic>
        <p:nvPicPr>
          <p:cNvPr id="21" name="Image 0" descr="National Neighborhood Data Archive (NaNDA) logo"/>
          <p:cNvPicPr>
            <a:picLocks noChangeAspect="1"/>
          </p:cNvPicPr>
          <p:nvPr/>
        </p:nvPicPr>
        <p:blipFill>
          <a:blip r:embed="rId3"/>
          <a:stretch>
            <a:fillRect/>
          </a:stretch>
        </p:blipFill>
        <p:spPr>
          <a:xfrm>
            <a:off x="4972050" y="3914775"/>
            <a:ext cx="1575569" cy="342900"/>
          </a:xfrm>
          <a:prstGeom prst="rect">
            <a:avLst/>
          </a:prstGeom>
        </p:spPr>
      </p:pic>
      <p:sp>
        <p:nvSpPr>
          <p:cNvPr id="22" name="Text 19"/>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24"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F890915B-ADEB-4742-8C0D-3258E88C0DCF}" type="slidenum">
              <a:rPr lang="en-US" sz="900" dirty="0">
                <a:solidFill>
                  <a:srgbClr val="4F6B8A"/>
                </a:solidFill>
                <a:latin typeface="Tahoma"/>
                <a:cs typeface="Tahoma"/>
              </a:rPr>
              <a:t>7</a:t>
            </a:fld>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1">
            <a:extLst>
              <a:ext uri="{C183D7F6-B498-43B3-948B-1728B52AA6E4}">
                <adec:decorative xmlns:adec="http://schemas.microsoft.com/office/drawing/2017/decorative" val="1"/>
              </a:ext>
            </a:extLst>
          </p:cNvPr>
          <p:cNvSpPr/>
          <p:nvPr/>
        </p:nvSpPr>
        <p:spPr>
          <a:xfrm>
            <a:off x="571500" y="1371600"/>
            <a:ext cx="8001000" cy="19050"/>
          </a:xfrm>
          <a:prstGeom prst="rect">
            <a:avLst/>
          </a:prstGeom>
          <a:solidFill>
            <a:srgbClr val="004A98"/>
          </a:solidFill>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571500" y="2009775"/>
            <a:ext cx="8001000" cy="9525"/>
          </a:xfrm>
          <a:prstGeom prst="rect">
            <a:avLst/>
          </a:prstGeom>
          <a:solidFill>
            <a:srgbClr val="D9E2EA"/>
          </a:solidFill>
          <a:ln/>
        </p:spPr>
        <p:txBody>
          <a:bodyPr/>
          <a:lstStyle/>
          <a:p>
            <a:endParaRPr lang="en-US"/>
          </a:p>
        </p:txBody>
      </p:sp>
      <p:sp>
        <p:nvSpPr>
          <p:cNvPr id="7" name="Shape 5">
            <a:extLst>
              <a:ext uri="{C183D7F6-B498-43B3-948B-1728B52AA6E4}">
                <adec:decorative xmlns:adec="http://schemas.microsoft.com/office/drawing/2017/decorative" val="1"/>
              </a:ext>
            </a:extLst>
          </p:cNvPr>
          <p:cNvSpPr/>
          <p:nvPr/>
        </p:nvSpPr>
        <p:spPr>
          <a:xfrm>
            <a:off x="571500" y="1643634"/>
            <a:ext cx="114300" cy="114300"/>
          </a:xfrm>
          <a:prstGeom prst="rect">
            <a:avLst/>
          </a:prstGeom>
          <a:solidFill>
            <a:srgbClr val="49AA31"/>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571500" y="2638425"/>
            <a:ext cx="8001000" cy="9525"/>
          </a:xfrm>
          <a:prstGeom prst="rect">
            <a:avLst/>
          </a:prstGeom>
          <a:solidFill>
            <a:srgbClr val="D9E2EA"/>
          </a:solidFill>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571500" y="2272284"/>
            <a:ext cx="114300" cy="114300"/>
          </a:xfrm>
          <a:prstGeom prst="rect">
            <a:avLst/>
          </a:prstGeom>
          <a:solidFill>
            <a:srgbClr val="16B1C1"/>
          </a:solidFill>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571500" y="3267075"/>
            <a:ext cx="8001000" cy="9525"/>
          </a:xfrm>
          <a:prstGeom prst="rect">
            <a:avLst/>
          </a:prstGeom>
          <a:solidFill>
            <a:srgbClr val="D9E2EA"/>
          </a:solidFill>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571500" y="3529584"/>
            <a:ext cx="114300" cy="114300"/>
          </a:xfrm>
          <a:prstGeom prst="rect">
            <a:avLst/>
          </a:prstGeom>
          <a:solidFill>
            <a:srgbClr val="1D9ADD"/>
          </a:solidFill>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571500" y="3895725"/>
            <a:ext cx="8001000" cy="9525"/>
          </a:xfrm>
          <a:prstGeom prst="rect">
            <a:avLst/>
          </a:prstGeom>
          <a:solidFill>
            <a:srgbClr val="D9E2EA"/>
          </a:solidFill>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571500" y="2900934"/>
            <a:ext cx="114300" cy="114300"/>
          </a:xfrm>
          <a:prstGeom prst="rect">
            <a:avLst/>
          </a:prstGeom>
          <a:solidFill>
            <a:srgbClr val="004A98"/>
          </a:solidFill>
          <a:ln/>
        </p:spPr>
        <p:txBody>
          <a:bodyPr/>
          <a:lstStyle/>
          <a:p>
            <a:endParaRPr lang="en-US"/>
          </a:p>
        </p:txBody>
      </p:sp>
      <p:pic>
        <p:nvPicPr>
          <p:cNvPr id="26" name="Image 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2" name="Text 0"/>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err="1">
                <a:solidFill>
                  <a:srgbClr val="004A98"/>
                </a:solidFill>
                <a:latin typeface="Tahoma"/>
                <a:ea typeface="Tahoma"/>
                <a:cs typeface="Tahoma"/>
              </a:rPr>
              <a:t>NaNDA’s</a:t>
            </a:r>
            <a:r>
              <a:rPr lang="en-US" sz="2850" b="1" kern="0" spc="-57" dirty="0">
                <a:solidFill>
                  <a:srgbClr val="004A98"/>
                </a:solidFill>
                <a:latin typeface="Tahoma"/>
                <a:ea typeface="Tahoma"/>
                <a:cs typeface="Tahoma"/>
              </a:rPr>
              <a:t> neighborhood measures (ZCTA)</a:t>
            </a:r>
            <a:endParaRPr lang="en-US" sz="2850" dirty="0"/>
          </a:p>
        </p:txBody>
      </p:sp>
      <p:sp>
        <p:nvSpPr>
          <p:cNvPr id="4" name="Text 2"/>
          <p:cNvSpPr txBox="1"/>
          <p:nvPr/>
        </p:nvSpPr>
        <p:spPr>
          <a:xfrm>
            <a:off x="786384" y="1157288"/>
            <a:ext cx="2705100" cy="147638"/>
          </a:xfrm>
          <a:prstGeom prst="rect">
            <a:avLst/>
          </a:prstGeom>
          <a:noFill/>
          <a:ln/>
        </p:spPr>
        <p:txBody>
          <a:bodyPr wrap="square" lIns="12700" tIns="12700" rIns="12700" bIns="12700" rtlCol="0" anchor="t">
            <a:noAutofit/>
          </a:bodyPr>
          <a:lstStyle/>
          <a:p>
            <a:pPr marL="0" indent="0" algn="l">
              <a:buNone/>
            </a:pPr>
            <a:r>
              <a:rPr lang="en-US" sz="1200" b="1" kern="0" spc="108">
                <a:solidFill>
                  <a:srgbClr val="004A98"/>
                </a:solidFill>
                <a:latin typeface="Tahoma"/>
                <a:ea typeface="Tahoma"/>
                <a:cs typeface="Tahoma"/>
              </a:rPr>
              <a:t>DOMAIN</a:t>
            </a:r>
            <a:endParaRPr lang="en-US" sz="1200" b="1">
              <a:latin typeface="Tahoma"/>
              <a:cs typeface="Tahoma"/>
            </a:endParaRPr>
          </a:p>
        </p:txBody>
      </p:sp>
      <p:sp>
        <p:nvSpPr>
          <p:cNvPr id="5" name="Text 3"/>
          <p:cNvSpPr txBox="1"/>
          <p:nvPr/>
        </p:nvSpPr>
        <p:spPr>
          <a:xfrm>
            <a:off x="3163824" y="1157288"/>
            <a:ext cx="5408676" cy="147638"/>
          </a:xfrm>
          <a:prstGeom prst="rect">
            <a:avLst/>
          </a:prstGeom>
          <a:noFill/>
          <a:ln/>
        </p:spPr>
        <p:txBody>
          <a:bodyPr wrap="square" lIns="12700" tIns="12700" rIns="12700" bIns="12700" rtlCol="0" anchor="t">
            <a:noAutofit/>
          </a:bodyPr>
          <a:lstStyle/>
          <a:p>
            <a:pPr marL="0" indent="0" algn="l">
              <a:buNone/>
            </a:pPr>
            <a:r>
              <a:rPr lang="en-US" sz="1200" b="1" kern="0" spc="108">
                <a:solidFill>
                  <a:srgbClr val="004A98"/>
                </a:solidFill>
                <a:latin typeface="Tahoma"/>
                <a:ea typeface="Tahoma"/>
                <a:cs typeface="Tahoma"/>
              </a:rPr>
              <a:t>MEASURES</a:t>
            </a:r>
            <a:endParaRPr lang="en-US" sz="1200" b="1">
              <a:latin typeface="Tahoma"/>
              <a:cs typeface="Tahoma"/>
            </a:endParaRPr>
          </a:p>
        </p:txBody>
      </p:sp>
      <p:sp>
        <p:nvSpPr>
          <p:cNvPr id="8" name="Text 6"/>
          <p:cNvSpPr txBox="1"/>
          <p:nvPr/>
        </p:nvSpPr>
        <p:spPr>
          <a:xfrm>
            <a:off x="800100" y="1412748"/>
            <a:ext cx="1828800" cy="576072"/>
          </a:xfrm>
          <a:prstGeom prst="rect">
            <a:avLst/>
          </a:prstGeom>
          <a:noFill/>
          <a:ln/>
        </p:spPr>
        <p:txBody>
          <a:bodyPr wrap="square" lIns="0" tIns="0" rIns="0" bIns="0" rtlCol="0" anchor="ctr">
            <a:noAutofit/>
          </a:bodyPr>
          <a:lstStyle/>
          <a:p>
            <a:pPr marL="0" indent="0" algn="l">
              <a:buNone/>
            </a:pPr>
            <a:r>
              <a:rPr lang="en-US" sz="1400" b="1" dirty="0">
                <a:solidFill>
                  <a:srgbClr val="050708"/>
                </a:solidFill>
                <a:latin typeface="Tahoma"/>
                <a:ea typeface="Tahoma"/>
                <a:cs typeface="Tahoma"/>
              </a:rPr>
              <a:t>Recreation environment</a:t>
            </a:r>
            <a:endParaRPr lang="en-US" sz="1400" dirty="0"/>
          </a:p>
        </p:txBody>
      </p:sp>
      <p:sp>
        <p:nvSpPr>
          <p:cNvPr id="9" name="Text 7"/>
          <p:cNvSpPr txBox="1"/>
          <p:nvPr/>
        </p:nvSpPr>
        <p:spPr>
          <a:xfrm>
            <a:off x="3163824" y="1412748"/>
            <a:ext cx="5408676" cy="576072"/>
          </a:xfrm>
          <a:prstGeom prst="rect">
            <a:avLst/>
          </a:prstGeom>
          <a:noFill/>
          <a:ln/>
        </p:spPr>
        <p:txBody>
          <a:bodyPr wrap="square" lIns="12710" tIns="0" rIns="12710" bIns="0" rtlCol="0" anchor="ctr">
            <a:noAutofit/>
          </a:bodyPr>
          <a:lstStyle/>
          <a:p>
            <a:pPr marL="0" indent="0" algn="l">
              <a:buNone/>
            </a:pPr>
            <a:r>
              <a:rPr lang="en-US" sz="1400" dirty="0">
                <a:solidFill>
                  <a:srgbClr val="050708"/>
                </a:solidFill>
                <a:latin typeface="Tahoma"/>
                <a:ea typeface="Tahoma"/>
                <a:cs typeface="Tahoma"/>
              </a:rPr>
              <a:t>Recreational facilities (e.g., gyms, fitness centers, pools), </a:t>
            </a:r>
          </a:p>
          <a:p>
            <a:pPr marL="0" indent="0" algn="l">
              <a:buNone/>
            </a:pPr>
            <a:r>
              <a:rPr lang="en-US" sz="1400" dirty="0">
                <a:solidFill>
                  <a:srgbClr val="050708"/>
                </a:solidFill>
                <a:latin typeface="Tahoma"/>
                <a:ea typeface="Tahoma"/>
                <a:cs typeface="Tahoma"/>
              </a:rPr>
              <a:t>Parks</a:t>
            </a:r>
            <a:endParaRPr lang="en-US" sz="1400" dirty="0"/>
          </a:p>
        </p:txBody>
      </p:sp>
      <p:sp>
        <p:nvSpPr>
          <p:cNvPr id="12" name="Text 10"/>
          <p:cNvSpPr txBox="1"/>
          <p:nvPr/>
        </p:nvSpPr>
        <p:spPr>
          <a:xfrm>
            <a:off x="800100" y="2043684"/>
            <a:ext cx="1828800" cy="571500"/>
          </a:xfrm>
          <a:prstGeom prst="rect">
            <a:avLst/>
          </a:prstGeom>
          <a:noFill/>
          <a:ln/>
        </p:spPr>
        <p:txBody>
          <a:bodyPr wrap="square" lIns="0" tIns="0" rIns="0" bIns="0" rtlCol="0" anchor="ctr">
            <a:noAutofit/>
          </a:bodyPr>
          <a:lstStyle/>
          <a:p>
            <a:pPr marL="0" indent="0" algn="l">
              <a:buNone/>
            </a:pPr>
            <a:r>
              <a:rPr lang="en-US" sz="1400" b="1" dirty="0">
                <a:solidFill>
                  <a:srgbClr val="050708"/>
                </a:solidFill>
                <a:latin typeface="Tahoma"/>
                <a:ea typeface="Tahoma"/>
                <a:cs typeface="Tahoma"/>
              </a:rPr>
              <a:t>Consumables environment</a:t>
            </a:r>
            <a:endParaRPr lang="en-US" sz="1400" dirty="0"/>
          </a:p>
        </p:txBody>
      </p:sp>
      <p:sp>
        <p:nvSpPr>
          <p:cNvPr id="13" name="Text 11"/>
          <p:cNvSpPr txBox="1"/>
          <p:nvPr/>
        </p:nvSpPr>
        <p:spPr>
          <a:xfrm>
            <a:off x="3163824" y="2043684"/>
            <a:ext cx="5408676" cy="571500"/>
          </a:xfrm>
          <a:prstGeom prst="rect">
            <a:avLst/>
          </a:prstGeom>
          <a:noFill/>
          <a:ln/>
        </p:spPr>
        <p:txBody>
          <a:bodyPr wrap="square" lIns="12710" tIns="0" rIns="12710" bIns="0" rtlCol="0" anchor="ctr">
            <a:noAutofit/>
          </a:bodyPr>
          <a:lstStyle/>
          <a:p>
            <a:pPr marL="0" indent="0" algn="l">
              <a:buNone/>
            </a:pPr>
            <a:r>
              <a:rPr lang="en-US" sz="1400" dirty="0">
                <a:solidFill>
                  <a:srgbClr val="050708"/>
                </a:solidFill>
                <a:latin typeface="Tahoma"/>
                <a:ea typeface="Tahoma"/>
                <a:cs typeface="Tahoma"/>
              </a:rPr>
              <a:t>Grocery stores, fast-food restaurants, liquor stores, tobacco stores</a:t>
            </a:r>
            <a:endParaRPr lang="en-US" sz="1400" dirty="0"/>
          </a:p>
        </p:txBody>
      </p:sp>
      <p:sp>
        <p:nvSpPr>
          <p:cNvPr id="23" name="Text 21"/>
          <p:cNvSpPr txBox="1"/>
          <p:nvPr/>
        </p:nvSpPr>
        <p:spPr>
          <a:xfrm>
            <a:off x="800100" y="2670048"/>
            <a:ext cx="1828800" cy="576072"/>
          </a:xfrm>
          <a:prstGeom prst="rect">
            <a:avLst/>
          </a:prstGeom>
          <a:noFill/>
          <a:ln/>
        </p:spPr>
        <p:txBody>
          <a:bodyPr wrap="square" lIns="0" tIns="0" rIns="0" bIns="0" rtlCol="0" anchor="ctr">
            <a:noAutofit/>
          </a:bodyPr>
          <a:lstStyle/>
          <a:p>
            <a:pPr marL="0" indent="0" algn="l">
              <a:buNone/>
            </a:pPr>
            <a:r>
              <a:rPr lang="en-US" sz="1400" b="1" dirty="0">
                <a:solidFill>
                  <a:srgbClr val="050708"/>
                </a:solidFill>
                <a:latin typeface="Tahoma"/>
                <a:ea typeface="Tahoma"/>
                <a:cs typeface="Tahoma"/>
              </a:rPr>
              <a:t>Healthcare resources</a:t>
            </a:r>
            <a:endParaRPr lang="en-US" sz="1400" dirty="0"/>
          </a:p>
        </p:txBody>
      </p:sp>
      <p:sp>
        <p:nvSpPr>
          <p:cNvPr id="24" name="Text 22"/>
          <p:cNvSpPr txBox="1"/>
          <p:nvPr/>
        </p:nvSpPr>
        <p:spPr>
          <a:xfrm>
            <a:off x="3163824" y="2670048"/>
            <a:ext cx="5408676" cy="576072"/>
          </a:xfrm>
          <a:prstGeom prst="rect">
            <a:avLst/>
          </a:prstGeom>
          <a:noFill/>
          <a:ln/>
        </p:spPr>
        <p:txBody>
          <a:bodyPr wrap="square" lIns="12710" tIns="0" rIns="12710" bIns="0" rtlCol="0" anchor="ctr">
            <a:normAutofit/>
          </a:bodyPr>
          <a:lstStyle/>
          <a:p>
            <a:pPr marL="0" indent="0" algn="l">
              <a:buNone/>
            </a:pPr>
            <a:r>
              <a:rPr lang="en-US" sz="1400" dirty="0">
                <a:solidFill>
                  <a:srgbClr val="050708"/>
                </a:solidFill>
                <a:latin typeface="Tahoma"/>
                <a:ea typeface="Tahoma"/>
                <a:cs typeface="Tahoma"/>
              </a:rPr>
              <a:t>Outpatient care (e.g., physicians, physical and occupational therapists)</a:t>
            </a:r>
            <a:endParaRPr lang="en-US" sz="1400" dirty="0"/>
          </a:p>
        </p:txBody>
      </p:sp>
      <p:sp>
        <p:nvSpPr>
          <p:cNvPr id="16" name="Text 14"/>
          <p:cNvSpPr txBox="1"/>
          <p:nvPr/>
        </p:nvSpPr>
        <p:spPr>
          <a:xfrm>
            <a:off x="800100" y="3300984"/>
            <a:ext cx="1828800" cy="571500"/>
          </a:xfrm>
          <a:prstGeom prst="rect">
            <a:avLst/>
          </a:prstGeom>
          <a:noFill/>
          <a:ln/>
        </p:spPr>
        <p:txBody>
          <a:bodyPr wrap="square" lIns="0" tIns="0" rIns="0" bIns="0" rtlCol="0" anchor="ctr">
            <a:noAutofit/>
          </a:bodyPr>
          <a:lstStyle/>
          <a:p>
            <a:pPr marL="0" indent="0" algn="l">
              <a:buNone/>
            </a:pPr>
            <a:r>
              <a:rPr lang="en-US" sz="1400" b="1" dirty="0">
                <a:solidFill>
                  <a:srgbClr val="050708"/>
                </a:solidFill>
                <a:latin typeface="Tahoma"/>
                <a:ea typeface="Tahoma"/>
                <a:cs typeface="Tahoma"/>
              </a:rPr>
              <a:t>Traffic volume</a:t>
            </a:r>
            <a:endParaRPr lang="en-US" sz="1400" dirty="0"/>
          </a:p>
        </p:txBody>
      </p:sp>
      <p:sp>
        <p:nvSpPr>
          <p:cNvPr id="17" name="Text 15"/>
          <p:cNvSpPr txBox="1"/>
          <p:nvPr/>
        </p:nvSpPr>
        <p:spPr>
          <a:xfrm>
            <a:off x="3163824" y="3300984"/>
            <a:ext cx="5408676" cy="571500"/>
          </a:xfrm>
          <a:prstGeom prst="rect">
            <a:avLst/>
          </a:prstGeom>
          <a:noFill/>
          <a:ln/>
        </p:spPr>
        <p:txBody>
          <a:bodyPr wrap="square" lIns="12710" tIns="0" rIns="12710" bIns="0" rtlCol="0" anchor="ctr">
            <a:noAutofit/>
          </a:bodyPr>
          <a:lstStyle/>
          <a:p>
            <a:pPr marL="0" indent="0" algn="l">
              <a:buNone/>
            </a:pPr>
            <a:r>
              <a:rPr lang="en-US" sz="1400" dirty="0">
                <a:solidFill>
                  <a:srgbClr val="050708"/>
                </a:solidFill>
                <a:latin typeface="Tahoma"/>
                <a:ea typeface="Tahoma"/>
                <a:cs typeface="Tahoma"/>
              </a:rPr>
              <a:t>Average daily non-highway traffic counts per intersection</a:t>
            </a:r>
            <a:endParaRPr lang="en-US" sz="1400" dirty="0"/>
          </a:p>
        </p:txBody>
      </p:sp>
      <p:sp>
        <p:nvSpPr>
          <p:cNvPr id="25" name="Text 23"/>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27"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301CFB6B-9680-4DA4-822D-E4BFC4C7AE1D}" type="slidenum">
              <a:rPr lang="en-US" sz="900" dirty="0">
                <a:solidFill>
                  <a:srgbClr val="4F6B8A"/>
                </a:solidFill>
                <a:latin typeface="Tahoma"/>
                <a:cs typeface="Tahoma"/>
              </a:rPr>
              <a:t>8</a:t>
            </a:fld>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Shape 2">
            <a:extLst>
              <a:ext uri="{C183D7F6-B498-43B3-948B-1728B52AA6E4}">
                <adec:decorative xmlns:adec="http://schemas.microsoft.com/office/drawing/2017/decorative" val="1"/>
              </a:ext>
            </a:extLst>
          </p:cNvPr>
          <p:cNvSpPr/>
          <p:nvPr/>
        </p:nvSpPr>
        <p:spPr>
          <a:xfrm>
            <a:off x="571500" y="1376362"/>
            <a:ext cx="3829050" cy="9525"/>
          </a:xfrm>
          <a:prstGeom prst="rect">
            <a:avLst/>
          </a:prstGeom>
          <a:solidFill>
            <a:srgbClr val="D9E2EA"/>
          </a:solidFill>
          <a:ln/>
        </p:spPr>
        <p:txBody>
          <a:bodyPr/>
          <a:lstStyle/>
          <a:p>
            <a:endParaRPr lang="en-US"/>
          </a:p>
        </p:txBody>
      </p:sp>
      <p:sp>
        <p:nvSpPr>
          <p:cNvPr id="7" name="Shape 5">
            <a:extLst>
              <a:ext uri="{C183D7F6-B498-43B3-948B-1728B52AA6E4}">
                <adec:decorative xmlns:adec="http://schemas.microsoft.com/office/drawing/2017/decorative" val="1"/>
              </a:ext>
            </a:extLst>
          </p:cNvPr>
          <p:cNvSpPr/>
          <p:nvPr/>
        </p:nvSpPr>
        <p:spPr>
          <a:xfrm>
            <a:off x="571500" y="1957388"/>
            <a:ext cx="3829050" cy="9525"/>
          </a:xfrm>
          <a:prstGeom prst="rect">
            <a:avLst/>
          </a:prstGeom>
          <a:solidFill>
            <a:srgbClr val="D9E2EA"/>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571500" y="3292674"/>
            <a:ext cx="3829050" cy="9525"/>
          </a:xfrm>
          <a:prstGeom prst="rect">
            <a:avLst/>
          </a:prstGeom>
          <a:solidFill>
            <a:srgbClr val="D9E2EA"/>
          </a:solidFill>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571500" y="2711648"/>
            <a:ext cx="3829050" cy="9525"/>
          </a:xfrm>
          <a:prstGeom prst="rect">
            <a:avLst/>
          </a:prstGeom>
          <a:solidFill>
            <a:srgbClr val="D9E2EA"/>
          </a:solidFill>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743450" y="1376362"/>
            <a:ext cx="3829050" cy="2926080"/>
          </a:xfrm>
          <a:prstGeom prst="rect">
            <a:avLst/>
          </a:prstGeom>
          <a:solidFill>
            <a:srgbClr val="F5F8FA"/>
          </a:solidFill>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5010912" y="1943100"/>
            <a:ext cx="493738" cy="320040"/>
          </a:xfrm>
          <a:prstGeom prst="rect">
            <a:avLst/>
          </a:prstGeom>
          <a:solidFill>
            <a:srgbClr val="004A98"/>
          </a:solidFill>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5589612" y="1943100"/>
            <a:ext cx="477887" cy="320040"/>
          </a:xfrm>
          <a:prstGeom prst="rect">
            <a:avLst/>
          </a:prstGeom>
          <a:solidFill>
            <a:srgbClr val="004A98"/>
          </a:solidFill>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6153224" y="1943100"/>
            <a:ext cx="1131764" cy="320040"/>
          </a:xfrm>
          <a:prstGeom prst="rect">
            <a:avLst/>
          </a:prstGeom>
          <a:solidFill>
            <a:srgbClr val="004A98"/>
          </a:solidFill>
          <a:ln/>
        </p:spPr>
        <p:txBody>
          <a:bodyPr/>
          <a:lstStyle/>
          <a:p>
            <a:endParaRPr lang="en-US"/>
          </a:p>
        </p:txBody>
      </p:sp>
      <p:sp>
        <p:nvSpPr>
          <p:cNvPr id="22" name="Shape 20">
            <a:extLst>
              <a:ext uri="{C183D7F6-B498-43B3-948B-1728B52AA6E4}">
                <adec:decorative xmlns:adec="http://schemas.microsoft.com/office/drawing/2017/decorative" val="1"/>
              </a:ext>
            </a:extLst>
          </p:cNvPr>
          <p:cNvSpPr/>
          <p:nvPr/>
        </p:nvSpPr>
        <p:spPr>
          <a:xfrm>
            <a:off x="5010912" y="2939796"/>
            <a:ext cx="1172766" cy="320040"/>
          </a:xfrm>
          <a:prstGeom prst="rect">
            <a:avLst/>
          </a:prstGeom>
          <a:solidFill>
            <a:srgbClr val="004A98"/>
          </a:solidFill>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5010912" y="2350008"/>
            <a:ext cx="3295650" cy="502920"/>
          </a:xfrm>
          <a:prstGeom prst="rect">
            <a:avLst/>
          </a:prstGeom>
          <a:solidFill>
            <a:srgbClr val="004A98"/>
          </a:solidFill>
          <a:ln/>
        </p:spPr>
        <p:txBody>
          <a:bodyPr/>
          <a:lstStyle/>
          <a:p>
            <a:endParaRPr lang="en-US"/>
          </a:p>
        </p:txBody>
      </p:sp>
      <p:sp>
        <p:nvSpPr>
          <p:cNvPr id="26" name="Shape 24">
            <a:extLst>
              <a:ext uri="{C183D7F6-B498-43B3-948B-1728B52AA6E4}">
                <adec:decorative xmlns:adec="http://schemas.microsoft.com/office/drawing/2017/decorative" val="1"/>
              </a:ext>
            </a:extLst>
          </p:cNvPr>
          <p:cNvSpPr/>
          <p:nvPr/>
        </p:nvSpPr>
        <p:spPr>
          <a:xfrm>
            <a:off x="5010912" y="3346704"/>
            <a:ext cx="2348062" cy="320040"/>
          </a:xfrm>
          <a:prstGeom prst="rect">
            <a:avLst/>
          </a:prstGeom>
          <a:solidFill>
            <a:srgbClr val="004A98"/>
          </a:solidFill>
          <a:ln/>
        </p:spPr>
        <p:txBody>
          <a:bodyPr/>
          <a:lstStyle/>
          <a:p>
            <a:endParaRPr lang="en-US"/>
          </a:p>
        </p:txBody>
      </p:sp>
      <p:pic>
        <p:nvPicPr>
          <p:cNvPr id="29" name="Image 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31" name="Shape 24">
            <a:extLst>
              <a:ext uri="{FF2B5EF4-FFF2-40B4-BE49-F238E27FC236}">
                <a16:creationId xmlns:a16="http://schemas.microsoft.com/office/drawing/2014/main" id="{885B5FE3-9AEB-6CD0-BC17-C866AB8D2DE8}"/>
              </a:ext>
              <a:ext uri="{C183D7F6-B498-43B3-948B-1728B52AA6E4}">
                <adec:decorative xmlns:adec="http://schemas.microsoft.com/office/drawing/2017/decorative" val="1"/>
              </a:ext>
            </a:extLst>
          </p:cNvPr>
          <p:cNvSpPr/>
          <p:nvPr/>
        </p:nvSpPr>
        <p:spPr>
          <a:xfrm>
            <a:off x="5010912" y="3753612"/>
            <a:ext cx="3189228" cy="320040"/>
          </a:xfrm>
          <a:prstGeom prst="rect">
            <a:avLst/>
          </a:prstGeom>
          <a:solidFill>
            <a:srgbClr val="004A98"/>
          </a:solidFill>
          <a:ln/>
        </p:spPr>
        <p:txBody>
          <a:bodyPr/>
          <a:lstStyle/>
          <a:p>
            <a:endParaRPr lang="en-US"/>
          </a:p>
        </p:txBody>
      </p:sp>
      <p:sp>
        <p:nvSpPr>
          <p:cNvPr id="3" name="Text 1"/>
          <p:cNvSpPr>
            <a:spLocks noGrp="1"/>
          </p:cNvSpPr>
          <p:nvPr>
            <p:ph type="title"/>
          </p:nvPr>
        </p:nvSpPr>
        <p:spPr>
          <a:xfrm>
            <a:off x="571500" y="695325"/>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Cox regression models</a:t>
            </a:r>
            <a:endParaRPr lang="en-US" sz="2850" dirty="0"/>
          </a:p>
        </p:txBody>
      </p:sp>
      <p:sp>
        <p:nvSpPr>
          <p:cNvPr id="2" name="Text 0"/>
          <p:cNvSpPr txBox="1"/>
          <p:nvPr/>
        </p:nvSpPr>
        <p:spPr>
          <a:xfrm>
            <a:off x="571500" y="400050"/>
            <a:ext cx="7843157" cy="228600"/>
          </a:xfrm>
          <a:prstGeom prst="rect">
            <a:avLst/>
          </a:prstGeom>
          <a:noFill/>
          <a:ln/>
        </p:spPr>
        <p:txBody>
          <a:bodyPr wrap="square" lIns="12700" tIns="12700" rIns="12700" bIns="12700" rtlCol="0" anchor="t">
            <a:normAutofit/>
          </a:bodyPr>
          <a:lstStyle/>
          <a:p>
            <a:pPr marL="0" indent="0" algn="l">
              <a:buNone/>
            </a:pPr>
            <a:r>
              <a:rPr lang="en-US" sz="1200" b="1" kern="0" spc="117" dirty="0">
                <a:solidFill>
                  <a:srgbClr val="004A98"/>
                </a:solidFill>
                <a:latin typeface="Tahoma"/>
                <a:ea typeface="Tahoma"/>
                <a:cs typeface="Tahoma"/>
              </a:rPr>
              <a:t>ANALYSES: 3-YEAR INCIDENT DISEASE</a:t>
            </a:r>
            <a:endParaRPr lang="en-US" sz="1200" b="1" dirty="0"/>
          </a:p>
        </p:txBody>
      </p:sp>
      <p:sp>
        <p:nvSpPr>
          <p:cNvPr id="5" name="Text 3"/>
          <p:cNvSpPr txBox="1"/>
          <p:nvPr/>
        </p:nvSpPr>
        <p:spPr>
          <a:xfrm>
            <a:off x="571500" y="1547812"/>
            <a:ext cx="324612" cy="266700"/>
          </a:xfrm>
          <a:prstGeom prst="rect">
            <a:avLst/>
          </a:prstGeom>
          <a:noFill/>
          <a:ln/>
        </p:spPr>
        <p:txBody>
          <a:bodyPr wrap="square" lIns="12700" tIns="12700" rIns="12700" bIns="12700" rtlCol="0" anchor="t">
            <a:normAutofit/>
          </a:bodyPr>
          <a:lstStyle/>
          <a:p>
            <a:pPr marL="0" indent="0" algn="l">
              <a:lnSpc>
                <a:spcPct val="92857"/>
              </a:lnSpc>
              <a:buNone/>
            </a:pPr>
            <a:r>
              <a:rPr lang="en-US" sz="1500" b="1" dirty="0">
                <a:solidFill>
                  <a:srgbClr val="1D9ADD"/>
                </a:solidFill>
                <a:latin typeface="Tahoma"/>
                <a:ea typeface="Tahoma"/>
                <a:cs typeface="Tahoma"/>
              </a:rPr>
              <a:t>01</a:t>
            </a:r>
            <a:endParaRPr lang="en-US" sz="1500" dirty="0"/>
          </a:p>
        </p:txBody>
      </p:sp>
      <p:sp>
        <p:nvSpPr>
          <p:cNvPr id="6" name="Text 4"/>
          <p:cNvSpPr txBox="1"/>
          <p:nvPr/>
        </p:nvSpPr>
        <p:spPr>
          <a:xfrm>
            <a:off x="1010412" y="1547812"/>
            <a:ext cx="3387852" cy="266700"/>
          </a:xfrm>
          <a:prstGeom prst="rect">
            <a:avLst/>
          </a:prstGeom>
          <a:noFill/>
          <a:ln/>
        </p:spPr>
        <p:txBody>
          <a:bodyPr wrap="square" lIns="12700" tIns="12700" rIns="12700" bIns="12700" rtlCol="0" anchor="t">
            <a:normAutofit/>
          </a:bodyPr>
          <a:lstStyle/>
          <a:p>
            <a:pPr marL="0" indent="0" algn="l">
              <a:lnSpc>
                <a:spcPct val="113333"/>
              </a:lnSpc>
              <a:buNone/>
            </a:pPr>
            <a:r>
              <a:rPr lang="en-US" sz="1275" dirty="0">
                <a:solidFill>
                  <a:srgbClr val="050708"/>
                </a:solidFill>
                <a:latin typeface="Tahoma"/>
                <a:ea typeface="Tahoma"/>
                <a:cs typeface="Tahoma"/>
              </a:rPr>
              <a:t>Time (days) to incident disease</a:t>
            </a:r>
            <a:endParaRPr lang="en-US" sz="1275" dirty="0"/>
          </a:p>
        </p:txBody>
      </p:sp>
      <p:sp>
        <p:nvSpPr>
          <p:cNvPr id="8" name="Text 6"/>
          <p:cNvSpPr txBox="1"/>
          <p:nvPr/>
        </p:nvSpPr>
        <p:spPr>
          <a:xfrm>
            <a:off x="571500" y="2128838"/>
            <a:ext cx="324612" cy="439936"/>
          </a:xfrm>
          <a:prstGeom prst="rect">
            <a:avLst/>
          </a:prstGeom>
          <a:noFill/>
          <a:ln/>
        </p:spPr>
        <p:txBody>
          <a:bodyPr wrap="square" lIns="12700" tIns="12700" rIns="12700" bIns="12700" rtlCol="0" anchor="t">
            <a:normAutofit/>
          </a:bodyPr>
          <a:lstStyle/>
          <a:p>
            <a:pPr marL="0" indent="0" algn="l">
              <a:lnSpc>
                <a:spcPct val="92857"/>
              </a:lnSpc>
              <a:buNone/>
            </a:pPr>
            <a:r>
              <a:rPr lang="en-US" sz="1500" b="1" dirty="0">
                <a:solidFill>
                  <a:srgbClr val="1D9ADD"/>
                </a:solidFill>
                <a:latin typeface="Tahoma"/>
                <a:ea typeface="Tahoma"/>
                <a:cs typeface="Tahoma"/>
              </a:rPr>
              <a:t>02</a:t>
            </a:r>
            <a:endParaRPr lang="en-US" sz="1500" dirty="0"/>
          </a:p>
        </p:txBody>
      </p:sp>
      <p:sp>
        <p:nvSpPr>
          <p:cNvPr id="9" name="Text 7"/>
          <p:cNvSpPr txBox="1"/>
          <p:nvPr/>
        </p:nvSpPr>
        <p:spPr>
          <a:xfrm>
            <a:off x="1010412" y="2128838"/>
            <a:ext cx="3387852" cy="439936"/>
          </a:xfrm>
          <a:prstGeom prst="rect">
            <a:avLst/>
          </a:prstGeom>
          <a:noFill/>
          <a:ln/>
        </p:spPr>
        <p:txBody>
          <a:bodyPr wrap="square" lIns="12700" tIns="12700" rIns="12700" bIns="12700" rtlCol="0" anchor="t">
            <a:normAutofit lnSpcReduction="10000"/>
          </a:bodyPr>
          <a:lstStyle/>
          <a:p>
            <a:pPr marL="0" indent="0" algn="l">
              <a:lnSpc>
                <a:spcPct val="113333"/>
              </a:lnSpc>
              <a:buNone/>
            </a:pPr>
            <a:r>
              <a:rPr lang="en-US" sz="1275" dirty="0">
                <a:solidFill>
                  <a:srgbClr val="050708"/>
                </a:solidFill>
                <a:latin typeface="Tahoma"/>
                <a:ea typeface="Tahoma"/>
                <a:cs typeface="Tahoma"/>
              </a:rPr>
              <a:t>Account for clustering within ZCTAs with robust sandwich covariance matrix</a:t>
            </a:r>
            <a:endParaRPr lang="en-US" sz="1275" dirty="0"/>
          </a:p>
        </p:txBody>
      </p:sp>
      <p:sp>
        <p:nvSpPr>
          <p:cNvPr id="12" name="Text 10"/>
          <p:cNvSpPr txBox="1"/>
          <p:nvPr/>
        </p:nvSpPr>
        <p:spPr>
          <a:xfrm>
            <a:off x="571500" y="2883098"/>
            <a:ext cx="324612" cy="266700"/>
          </a:xfrm>
          <a:prstGeom prst="rect">
            <a:avLst/>
          </a:prstGeom>
          <a:noFill/>
          <a:ln/>
        </p:spPr>
        <p:txBody>
          <a:bodyPr wrap="square" lIns="12700" tIns="12700" rIns="12700" bIns="12700" rtlCol="0" anchor="t">
            <a:normAutofit/>
          </a:bodyPr>
          <a:lstStyle/>
          <a:p>
            <a:pPr marL="0" indent="0" algn="l">
              <a:lnSpc>
                <a:spcPct val="92857"/>
              </a:lnSpc>
              <a:buNone/>
            </a:pPr>
            <a:r>
              <a:rPr lang="en-US" sz="1500" b="1" dirty="0">
                <a:solidFill>
                  <a:srgbClr val="1D9ADD"/>
                </a:solidFill>
                <a:latin typeface="Tahoma"/>
                <a:ea typeface="Tahoma"/>
                <a:cs typeface="Tahoma"/>
              </a:rPr>
              <a:t>03</a:t>
            </a:r>
            <a:endParaRPr lang="en-US" sz="1500" dirty="0"/>
          </a:p>
        </p:txBody>
      </p:sp>
      <p:sp>
        <p:nvSpPr>
          <p:cNvPr id="13" name="Text 11"/>
          <p:cNvSpPr txBox="1"/>
          <p:nvPr/>
        </p:nvSpPr>
        <p:spPr>
          <a:xfrm>
            <a:off x="1010412" y="2883098"/>
            <a:ext cx="3387852" cy="266700"/>
          </a:xfrm>
          <a:prstGeom prst="rect">
            <a:avLst/>
          </a:prstGeom>
          <a:noFill/>
          <a:ln/>
        </p:spPr>
        <p:txBody>
          <a:bodyPr wrap="square" lIns="12700" tIns="12700" rIns="12700" bIns="12700" rtlCol="0" anchor="t">
            <a:normAutofit/>
          </a:bodyPr>
          <a:lstStyle/>
          <a:p>
            <a:pPr marL="0" indent="0" algn="l">
              <a:lnSpc>
                <a:spcPct val="113333"/>
              </a:lnSpc>
              <a:buNone/>
            </a:pPr>
            <a:r>
              <a:rPr lang="en-US" sz="1275" dirty="0">
                <a:solidFill>
                  <a:srgbClr val="050708"/>
                </a:solidFill>
                <a:latin typeface="Tahoma"/>
                <a:ea typeface="Tahoma"/>
                <a:cs typeface="Tahoma"/>
              </a:rPr>
              <a:t>Free of any previous cardiometabolic disease</a:t>
            </a:r>
            <a:endParaRPr lang="en-US" sz="1275" dirty="0"/>
          </a:p>
        </p:txBody>
      </p:sp>
      <p:sp>
        <p:nvSpPr>
          <p:cNvPr id="15" name="Text 13"/>
          <p:cNvSpPr txBox="1"/>
          <p:nvPr/>
        </p:nvSpPr>
        <p:spPr>
          <a:xfrm>
            <a:off x="5010150" y="1604962"/>
            <a:ext cx="3625215" cy="204788"/>
          </a:xfrm>
          <a:prstGeom prst="rect">
            <a:avLst/>
          </a:prstGeom>
          <a:noFill/>
          <a:ln/>
        </p:spPr>
        <p:txBody>
          <a:bodyPr wrap="square" lIns="12700" tIns="12700" rIns="12700" bIns="12700" rtlCol="0" anchor="t">
            <a:normAutofit lnSpcReduction="10000"/>
          </a:bodyPr>
          <a:lstStyle/>
          <a:p>
            <a:pPr marL="0" indent="0" algn="l">
              <a:buNone/>
            </a:pPr>
            <a:r>
              <a:rPr lang="en-US" sz="1275" b="1" dirty="0">
                <a:solidFill>
                  <a:srgbClr val="050708"/>
                </a:solidFill>
                <a:latin typeface="Tahoma"/>
                <a:ea typeface="Tahoma"/>
                <a:cs typeface="Tahoma"/>
              </a:rPr>
              <a:t>Adjusting for covariates</a:t>
            </a:r>
            <a:endParaRPr lang="en-US" sz="1275" dirty="0"/>
          </a:p>
        </p:txBody>
      </p:sp>
      <p:sp>
        <p:nvSpPr>
          <p:cNvPr id="17" name="Text 15"/>
          <p:cNvSpPr txBox="1"/>
          <p:nvPr/>
        </p:nvSpPr>
        <p:spPr>
          <a:xfrm>
            <a:off x="5010912" y="1943100"/>
            <a:ext cx="493738" cy="320040"/>
          </a:xfrm>
          <a:prstGeom prst="rect">
            <a:avLst/>
          </a:prstGeom>
          <a:noFill/>
          <a:ln/>
        </p:spPr>
        <p:txBody>
          <a:bodyPr wrap="square" lIns="123444" tIns="9144" rIns="45720" bIns="9144" rtlCol="0" anchor="ctr">
            <a:normAutofit/>
          </a:bodyPr>
          <a:lstStyle/>
          <a:p>
            <a:pPr marL="0" indent="0" algn="l">
              <a:buNone/>
            </a:pPr>
            <a:r>
              <a:rPr lang="en-US" sz="1125" dirty="0">
                <a:solidFill>
                  <a:srgbClr val="FFFFFF"/>
                </a:solidFill>
                <a:latin typeface="Tahoma"/>
                <a:ea typeface="Tahoma"/>
                <a:cs typeface="Tahoma"/>
              </a:rPr>
              <a:t>Age</a:t>
            </a:r>
            <a:endParaRPr lang="en-US" sz="1125" dirty="0"/>
          </a:p>
        </p:txBody>
      </p:sp>
      <p:sp>
        <p:nvSpPr>
          <p:cNvPr id="19" name="Text 17"/>
          <p:cNvSpPr txBox="1"/>
          <p:nvPr/>
        </p:nvSpPr>
        <p:spPr>
          <a:xfrm>
            <a:off x="5589612" y="1943100"/>
            <a:ext cx="477887" cy="320040"/>
          </a:xfrm>
          <a:prstGeom prst="rect">
            <a:avLst/>
          </a:prstGeom>
          <a:noFill/>
          <a:ln/>
        </p:spPr>
        <p:txBody>
          <a:bodyPr wrap="square" lIns="123444" tIns="9144" rIns="45720" bIns="9144" rtlCol="0" anchor="ctr">
            <a:normAutofit fontScale="92500"/>
          </a:bodyPr>
          <a:lstStyle/>
          <a:p>
            <a:pPr marL="0" indent="0" algn="l">
              <a:buNone/>
            </a:pPr>
            <a:r>
              <a:rPr lang="en-US" sz="1125" dirty="0">
                <a:solidFill>
                  <a:srgbClr val="FFFFFF"/>
                </a:solidFill>
                <a:latin typeface="Tahoma"/>
                <a:ea typeface="Tahoma"/>
                <a:cs typeface="Tahoma"/>
              </a:rPr>
              <a:t>Sex</a:t>
            </a:r>
            <a:endParaRPr lang="en-US" sz="1125" dirty="0"/>
          </a:p>
        </p:txBody>
      </p:sp>
      <p:sp>
        <p:nvSpPr>
          <p:cNvPr id="21" name="Text 19"/>
          <p:cNvSpPr txBox="1"/>
          <p:nvPr/>
        </p:nvSpPr>
        <p:spPr>
          <a:xfrm>
            <a:off x="6153224" y="1943100"/>
            <a:ext cx="1131764" cy="320040"/>
          </a:xfrm>
          <a:prstGeom prst="rect">
            <a:avLst/>
          </a:prstGeom>
          <a:noFill/>
          <a:ln/>
        </p:spPr>
        <p:txBody>
          <a:bodyPr wrap="square" lIns="123444" tIns="9144" rIns="45720" bIns="9144" rtlCol="0" anchor="ctr">
            <a:normAutofit fontScale="92500"/>
          </a:bodyPr>
          <a:lstStyle/>
          <a:p>
            <a:pPr marL="0" indent="0" algn="l">
              <a:buNone/>
            </a:pPr>
            <a:r>
              <a:rPr lang="en-US" sz="1125" dirty="0">
                <a:solidFill>
                  <a:srgbClr val="FFFFFF"/>
                </a:solidFill>
                <a:latin typeface="Tahoma"/>
                <a:ea typeface="Tahoma"/>
                <a:cs typeface="Tahoma"/>
              </a:rPr>
              <a:t>Race/ethnicity</a:t>
            </a:r>
            <a:endParaRPr lang="en-US" sz="1125" dirty="0"/>
          </a:p>
        </p:txBody>
      </p:sp>
      <p:sp>
        <p:nvSpPr>
          <p:cNvPr id="25" name="Text 23"/>
          <p:cNvSpPr txBox="1"/>
          <p:nvPr/>
        </p:nvSpPr>
        <p:spPr>
          <a:xfrm>
            <a:off x="5010912" y="2350008"/>
            <a:ext cx="3295650" cy="502920"/>
          </a:xfrm>
          <a:prstGeom prst="rect">
            <a:avLst/>
          </a:prstGeom>
          <a:noFill/>
          <a:ln/>
        </p:spPr>
        <p:txBody>
          <a:bodyPr wrap="square" lIns="123444" tIns="9144" rIns="45720" bIns="9144" rtlCol="0" anchor="ctr">
            <a:normAutofit lnSpcReduction="10000"/>
          </a:bodyPr>
          <a:lstStyle/>
          <a:p>
            <a:pPr marL="0" indent="0" algn="l">
              <a:lnSpc>
                <a:spcPct val="114706"/>
              </a:lnSpc>
              <a:buNone/>
            </a:pPr>
            <a:r>
              <a:rPr lang="en-US" sz="1125" dirty="0">
                <a:solidFill>
                  <a:srgbClr val="FFFFFF"/>
                </a:solidFill>
                <a:latin typeface="Tahoma"/>
                <a:ea typeface="Tahoma"/>
                <a:cs typeface="Tahoma"/>
              </a:rPr>
              <a:t>Comorbid conditions (Elixhauser Comorbidity Index, ICD-9 codes)</a:t>
            </a:r>
            <a:endParaRPr lang="en-US" sz="1125" dirty="0"/>
          </a:p>
        </p:txBody>
      </p:sp>
      <p:sp>
        <p:nvSpPr>
          <p:cNvPr id="23" name="Text 21"/>
          <p:cNvSpPr txBox="1"/>
          <p:nvPr/>
        </p:nvSpPr>
        <p:spPr>
          <a:xfrm>
            <a:off x="5010912" y="2939796"/>
            <a:ext cx="1172766" cy="320040"/>
          </a:xfrm>
          <a:prstGeom prst="rect">
            <a:avLst/>
          </a:prstGeom>
          <a:noFill/>
          <a:ln/>
        </p:spPr>
        <p:txBody>
          <a:bodyPr wrap="square" lIns="123444" tIns="9144" rIns="45720" bIns="9144" rtlCol="0" anchor="ctr">
            <a:normAutofit fontScale="92500"/>
          </a:bodyPr>
          <a:lstStyle/>
          <a:p>
            <a:pPr marL="0" indent="0" algn="l">
              <a:buNone/>
            </a:pPr>
            <a:r>
              <a:rPr lang="en-US" sz="1125" dirty="0">
                <a:solidFill>
                  <a:srgbClr val="FFFFFF"/>
                </a:solidFill>
                <a:latin typeface="Tahoma"/>
                <a:ea typeface="Tahoma"/>
                <a:cs typeface="Tahoma"/>
              </a:rPr>
              <a:t>HMO coverage</a:t>
            </a:r>
            <a:endParaRPr lang="en-US" sz="1125" dirty="0"/>
          </a:p>
        </p:txBody>
      </p:sp>
      <p:sp>
        <p:nvSpPr>
          <p:cNvPr id="27" name="Text 25"/>
          <p:cNvSpPr txBox="1"/>
          <p:nvPr/>
        </p:nvSpPr>
        <p:spPr>
          <a:xfrm>
            <a:off x="5010912" y="3346704"/>
            <a:ext cx="2348062" cy="320040"/>
          </a:xfrm>
          <a:prstGeom prst="rect">
            <a:avLst/>
          </a:prstGeom>
          <a:noFill/>
          <a:ln/>
        </p:spPr>
        <p:txBody>
          <a:bodyPr wrap="square" lIns="123444" tIns="9144" rIns="45720" bIns="9144" rtlCol="0" anchor="ctr">
            <a:normAutofit/>
          </a:bodyPr>
          <a:lstStyle/>
          <a:p>
            <a:pPr marL="0" indent="0" algn="l">
              <a:buNone/>
            </a:pPr>
            <a:r>
              <a:rPr lang="en-US" sz="1125" dirty="0">
                <a:solidFill>
                  <a:srgbClr val="FFFFFF"/>
                </a:solidFill>
                <a:latin typeface="Tahoma"/>
                <a:ea typeface="Tahoma"/>
                <a:cs typeface="Tahoma"/>
              </a:rPr>
              <a:t>Neighborhood population density</a:t>
            </a:r>
            <a:endParaRPr lang="en-US" sz="1125" dirty="0"/>
          </a:p>
        </p:txBody>
      </p:sp>
      <p:sp>
        <p:nvSpPr>
          <p:cNvPr id="33" name="Text 25">
            <a:extLst>
              <a:ext uri="{FF2B5EF4-FFF2-40B4-BE49-F238E27FC236}">
                <a16:creationId xmlns:a16="http://schemas.microsoft.com/office/drawing/2014/main" id="{A7042F24-BCC0-DEE4-B1C8-7324B3A04849}"/>
              </a:ext>
            </a:extLst>
          </p:cNvPr>
          <p:cNvSpPr txBox="1"/>
          <p:nvPr/>
        </p:nvSpPr>
        <p:spPr>
          <a:xfrm>
            <a:off x="5010912" y="3753612"/>
            <a:ext cx="3189228" cy="320040"/>
          </a:xfrm>
          <a:prstGeom prst="rect">
            <a:avLst/>
          </a:prstGeom>
          <a:noFill/>
          <a:ln/>
        </p:spPr>
        <p:txBody>
          <a:bodyPr wrap="square" lIns="123444" tIns="9144" rIns="45720" bIns="9144" rtlCol="0" anchor="ctr">
            <a:normAutofit/>
          </a:bodyPr>
          <a:lstStyle/>
          <a:p>
            <a:pPr marL="0" indent="0" algn="l">
              <a:buNone/>
            </a:pPr>
            <a:r>
              <a:rPr lang="en-US" sz="1125" dirty="0">
                <a:solidFill>
                  <a:srgbClr val="FFFFFF"/>
                </a:solidFill>
                <a:latin typeface="Tahoma"/>
                <a:ea typeface="Tahoma"/>
                <a:cs typeface="Tahoma"/>
              </a:rPr>
              <a:t>Neighborhood SES (Affluence, Disadvantage)</a:t>
            </a:r>
            <a:endParaRPr lang="en-US" sz="1125" dirty="0"/>
          </a:p>
        </p:txBody>
      </p:sp>
      <p:sp>
        <p:nvSpPr>
          <p:cNvPr id="28" name="Text 26"/>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34"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C1A63014-995F-4C85-A1B7-51D1E3DACB0D}" type="slidenum">
              <a:rPr lang="en-US" sz="900" dirty="0">
                <a:solidFill>
                  <a:srgbClr val="4F6B8A"/>
                </a:solidFill>
                <a:latin typeface="Tahoma"/>
                <a:cs typeface="Tahoma"/>
              </a:rPr>
              <a:t>9</a:t>
            </a:fld>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pic>
        <p:nvPicPr>
          <p:cNvPr id="24" name="Image 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2" name="Text 0"/>
          <p:cNvSpPr>
            <a:spLocks noGrp="1"/>
          </p:cNvSpPr>
          <p:nvPr>
            <p:ph type="title"/>
          </p:nvPr>
        </p:nvSpPr>
        <p:spPr>
          <a:xfrm>
            <a:off x="571500" y="475488"/>
            <a:ext cx="800100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Results: Cardiometabolic incidence (3-year)</a:t>
            </a:r>
            <a:endParaRPr lang="en-US" sz="2850" dirty="0"/>
          </a:p>
        </p:txBody>
      </p:sp>
      <p:grpSp>
        <p:nvGrpSpPr>
          <p:cNvPr id="25" name="Group 24" descr="49% received a diagnosis of cardiometabolic disease within 3 years">
            <a:extLst>
              <a:ext uri="{FF2B5EF4-FFF2-40B4-BE49-F238E27FC236}">
                <a16:creationId xmlns:a16="http://schemas.microsoft.com/office/drawing/2014/main" id="{D85FD5E6-5EF0-6272-FEFD-7737DD8DCA56}"/>
              </a:ext>
            </a:extLst>
          </p:cNvPr>
          <p:cNvGrpSpPr/>
          <p:nvPr/>
        </p:nvGrpSpPr>
        <p:grpSpPr>
          <a:xfrm>
            <a:off x="3462635" y="1146082"/>
            <a:ext cx="2218730" cy="3328988"/>
            <a:chOff x="571500" y="1195388"/>
            <a:chExt cx="2218730" cy="3328988"/>
          </a:xfrm>
        </p:grpSpPr>
        <p:sp>
          <p:nvSpPr>
            <p:cNvPr id="3" name="Shape 1">
              <a:extLst>
                <a:ext uri="{C183D7F6-B498-43B3-948B-1728B52AA6E4}">
                  <adec:decorative xmlns:adec="http://schemas.microsoft.com/office/drawing/2017/decorative" val="1"/>
                </a:ext>
              </a:extLst>
            </p:cNvPr>
            <p:cNvSpPr/>
            <p:nvPr/>
          </p:nvSpPr>
          <p:spPr>
            <a:xfrm>
              <a:off x="571500" y="1195388"/>
              <a:ext cx="2218730" cy="3328988"/>
            </a:xfrm>
            <a:prstGeom prst="rect">
              <a:avLst/>
            </a:prstGeom>
            <a:solidFill>
              <a:srgbClr val="004A98"/>
            </a:solidFill>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781050" y="1462088"/>
              <a:ext cx="619125" cy="619125"/>
            </a:xfrm>
            <a:prstGeom prst="ellipse">
              <a:avLst/>
            </a:prstGeom>
            <a:solidFill>
              <a:srgbClr val="FFFFFF"/>
            </a:solidFill>
            <a:ln/>
          </p:spPr>
          <p:txBody>
            <a:bodyPr/>
            <a:lstStyle/>
            <a:p>
              <a:endParaRPr lang="en-US"/>
            </a:p>
          </p:txBody>
        </p:sp>
        <p:sp>
          <p:nvSpPr>
            <p:cNvPr id="6" name="Text 3"/>
            <p:cNvSpPr txBox="1"/>
            <p:nvPr/>
          </p:nvSpPr>
          <p:spPr>
            <a:xfrm>
              <a:off x="880968" y="2745772"/>
              <a:ext cx="1599793" cy="833438"/>
            </a:xfrm>
            <a:prstGeom prst="rect">
              <a:avLst/>
            </a:prstGeom>
            <a:noFill/>
            <a:ln/>
          </p:spPr>
          <p:txBody>
            <a:bodyPr wrap="square" lIns="12700" tIns="12700" rIns="12700" bIns="12700" rtlCol="0" anchor="t">
              <a:normAutofit fontScale="77500" lnSpcReduction="20000"/>
            </a:bodyPr>
            <a:lstStyle/>
            <a:p>
              <a:pPr marL="0" indent="0" algn="l">
                <a:lnSpc>
                  <a:spcPct val="67323"/>
                </a:lnSpc>
                <a:buNone/>
              </a:pPr>
              <a:r>
                <a:rPr lang="en-US" sz="6750" b="1" kern="0" spc="-202" dirty="0">
                  <a:solidFill>
                    <a:srgbClr val="FFFFFF"/>
                  </a:solidFill>
                  <a:latin typeface="Tahoma"/>
                  <a:ea typeface="Tahoma"/>
                  <a:cs typeface="Tahoma"/>
                </a:rPr>
                <a:t>49%</a:t>
              </a:r>
              <a:endParaRPr lang="en-US" sz="6750" dirty="0"/>
            </a:p>
          </p:txBody>
        </p:sp>
        <p:sp>
          <p:nvSpPr>
            <p:cNvPr id="7" name="Text 4"/>
            <p:cNvSpPr txBox="1"/>
            <p:nvPr/>
          </p:nvSpPr>
          <p:spPr>
            <a:xfrm>
              <a:off x="781050" y="3852862"/>
              <a:ext cx="1853618" cy="423862"/>
            </a:xfrm>
            <a:prstGeom prst="rect">
              <a:avLst/>
            </a:prstGeom>
            <a:noFill/>
            <a:ln/>
          </p:spPr>
          <p:txBody>
            <a:bodyPr wrap="square" lIns="12700" tIns="12700" rIns="12700" bIns="12700" rtlCol="0" anchor="t">
              <a:normAutofit fontScale="92500"/>
            </a:bodyPr>
            <a:lstStyle/>
            <a:p>
              <a:pPr marL="0" indent="0" algn="l">
                <a:lnSpc>
                  <a:spcPct val="108974"/>
                </a:lnSpc>
                <a:buNone/>
              </a:pPr>
              <a:r>
                <a:rPr lang="en-US" sz="1275" b="1" dirty="0">
                  <a:solidFill>
                    <a:srgbClr val="FFFFFF"/>
                  </a:solidFill>
                  <a:latin typeface="Tahoma"/>
                  <a:ea typeface="Tahoma"/>
                  <a:cs typeface="Tahoma"/>
                </a:rPr>
                <a:t>Diagnosis of cardiometabolic disease</a:t>
              </a:r>
              <a:endParaRPr lang="en-US" sz="1275" dirty="0"/>
            </a:p>
          </p:txBody>
        </p:sp>
      </p:grpSp>
      <p:pic>
        <p:nvPicPr>
          <p:cNvPr id="5" name="Image 0">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772198" y="1564568"/>
            <a:ext cx="419100" cy="313581"/>
          </a:xfrm>
          <a:prstGeom prst="rect">
            <a:avLst/>
          </a:prstGeom>
        </p:spPr>
      </p:pic>
      <p:sp>
        <p:nvSpPr>
          <p:cNvPr id="23" name="Text 17"/>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26"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8344E6F2-CC97-4C0A-911E-317BF793FD03}" type="slidenum">
              <a:rPr lang="en-US" sz="900" dirty="0">
                <a:solidFill>
                  <a:srgbClr val="4F6B8A"/>
                </a:solidFill>
                <a:latin typeface="Tahoma"/>
                <a:cs typeface="Tahoma"/>
              </a:rPr>
              <a:t>10</a:t>
            </a:fld>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5" name="Shape 3">
            <a:extLst>
              <a:ext uri="{C183D7F6-B498-43B3-948B-1728B52AA6E4}">
                <adec:decorative xmlns:adec="http://schemas.microsoft.com/office/drawing/2017/decorative" val="1"/>
              </a:ext>
            </a:extLst>
          </p:cNvPr>
          <p:cNvSpPr/>
          <p:nvPr/>
        </p:nvSpPr>
        <p:spPr>
          <a:xfrm>
            <a:off x="571500" y="3634740"/>
            <a:ext cx="2656332" cy="9525"/>
          </a:xfrm>
          <a:prstGeom prst="rect">
            <a:avLst/>
          </a:prstGeom>
          <a:solidFill>
            <a:srgbClr val="D9E2EA"/>
          </a:solidFill>
          <a:ln/>
        </p:spPr>
        <p:txBody>
          <a:bodyPr/>
          <a:lstStyle/>
          <a:p>
            <a:endParaRPr lang="en-US"/>
          </a:p>
        </p:txBody>
      </p:sp>
      <p:pic>
        <p:nvPicPr>
          <p:cNvPr id="11" name="Image 1">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97168" y="4743450"/>
            <a:ext cx="875332" cy="190500"/>
          </a:xfrm>
          <a:prstGeom prst="rect">
            <a:avLst/>
          </a:prstGeom>
        </p:spPr>
      </p:pic>
      <p:sp>
        <p:nvSpPr>
          <p:cNvPr id="3" name="Text 1"/>
          <p:cNvSpPr>
            <a:spLocks noGrp="1"/>
          </p:cNvSpPr>
          <p:nvPr>
            <p:ph type="title"/>
          </p:nvPr>
        </p:nvSpPr>
        <p:spPr>
          <a:xfrm>
            <a:off x="571500" y="475488"/>
            <a:ext cx="2656332" cy="461442"/>
          </a:xfrm>
          <a:prstGeom prst="rect">
            <a:avLst/>
          </a:prstGeom>
          <a:noFill/>
          <a:ln/>
        </p:spPr>
        <p:txBody>
          <a:bodyPr wrap="square" lIns="12700" tIns="12700" rIns="12700" bIns="12700" rtlCol="0" anchor="t">
            <a:normAutofit/>
          </a:bodyPr>
          <a:lstStyle/>
          <a:p>
            <a:pPr marL="0" indent="0" algn="l">
              <a:lnSpc>
                <a:spcPct val="73889"/>
              </a:lnSpc>
              <a:buNone/>
            </a:pPr>
            <a:r>
              <a:rPr lang="en-US" sz="2850" b="1" kern="0" spc="-57" dirty="0">
                <a:solidFill>
                  <a:srgbClr val="004A98"/>
                </a:solidFill>
                <a:latin typeface="Tahoma"/>
                <a:ea typeface="Tahoma"/>
                <a:cs typeface="Tahoma"/>
              </a:rPr>
              <a:t>Results</a:t>
            </a:r>
            <a:endParaRPr lang="en-US" sz="2850" dirty="0"/>
          </a:p>
        </p:txBody>
      </p:sp>
      <p:sp>
        <p:nvSpPr>
          <p:cNvPr id="4" name="Text 2"/>
          <p:cNvSpPr txBox="1"/>
          <p:nvPr/>
        </p:nvSpPr>
        <p:spPr>
          <a:xfrm>
            <a:off x="571500" y="1667996"/>
            <a:ext cx="2656332" cy="967628"/>
          </a:xfrm>
          <a:prstGeom prst="rect">
            <a:avLst/>
          </a:prstGeom>
          <a:noFill/>
          <a:ln/>
        </p:spPr>
        <p:txBody>
          <a:bodyPr wrap="square" lIns="12700" tIns="12700" rIns="12700" bIns="12700" rtlCol="0" anchor="t">
            <a:normAutofit/>
          </a:bodyPr>
          <a:lstStyle/>
          <a:p>
            <a:pPr marL="0" indent="0" algn="l">
              <a:lnSpc>
                <a:spcPct val="117692"/>
              </a:lnSpc>
              <a:buNone/>
            </a:pPr>
            <a:r>
              <a:rPr lang="en-US" sz="1600" b="1" dirty="0">
                <a:solidFill>
                  <a:srgbClr val="0070C0"/>
                </a:solidFill>
                <a:latin typeface="Tahoma"/>
                <a:ea typeface="Tahoma"/>
                <a:cs typeface="Tahoma"/>
              </a:rPr>
              <a:t>Neighborhood resources and 3-year incident cardiometabolic disease</a:t>
            </a:r>
            <a:endParaRPr lang="en-US" sz="1600" b="1" dirty="0">
              <a:solidFill>
                <a:srgbClr val="0070C0"/>
              </a:solidFill>
            </a:endParaRPr>
          </a:p>
        </p:txBody>
      </p:sp>
      <p:sp>
        <p:nvSpPr>
          <p:cNvPr id="6" name="Text 4"/>
          <p:cNvSpPr txBox="1"/>
          <p:nvPr/>
        </p:nvSpPr>
        <p:spPr>
          <a:xfrm>
            <a:off x="571500" y="3703320"/>
            <a:ext cx="2656332" cy="465963"/>
          </a:xfrm>
          <a:prstGeom prst="rect">
            <a:avLst/>
          </a:prstGeom>
          <a:noFill/>
          <a:ln/>
        </p:spPr>
        <p:txBody>
          <a:bodyPr wrap="square" lIns="12700" tIns="12700" rIns="12700" bIns="12700" rtlCol="0" anchor="t">
            <a:normAutofit fontScale="92500"/>
          </a:bodyPr>
          <a:lstStyle/>
          <a:p>
            <a:pPr marL="0" indent="0" algn="l">
              <a:lnSpc>
                <a:spcPct val="117419"/>
              </a:lnSpc>
              <a:buNone/>
            </a:pPr>
            <a:r>
              <a:rPr lang="en-US" sz="975" dirty="0">
                <a:solidFill>
                  <a:srgbClr val="5C666D"/>
                </a:solidFill>
                <a:latin typeface="Tahoma"/>
                <a:ea typeface="Tahoma"/>
                <a:cs typeface="Tahoma"/>
              </a:rPr>
              <a:t>Models adjust for age, sex, race/ethnicity, comorbidity, HMO, neighborhood SES, population density.</a:t>
            </a:r>
            <a:endParaRPr lang="en-US" sz="975" dirty="0"/>
          </a:p>
        </p:txBody>
      </p:sp>
      <p:sp>
        <p:nvSpPr>
          <p:cNvPr id="7" name="Shape 5">
            <a:extLst>
              <a:ext uri="{C183D7F6-B498-43B3-948B-1728B52AA6E4}">
                <adec:decorative xmlns:adec="http://schemas.microsoft.com/office/drawing/2017/decorative" val="1"/>
              </a:ext>
            </a:extLst>
          </p:cNvPr>
          <p:cNvSpPr/>
          <p:nvPr/>
        </p:nvSpPr>
        <p:spPr>
          <a:xfrm>
            <a:off x="3319272" y="476250"/>
            <a:ext cx="5253228" cy="4048125"/>
          </a:xfrm>
          <a:prstGeom prst="rect">
            <a:avLst/>
          </a:prstGeom>
          <a:solidFill>
            <a:srgbClr val="FFFFFF"/>
          </a:solidFill>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3579876" y="476250"/>
            <a:ext cx="4732020" cy="47625"/>
          </a:xfrm>
          <a:prstGeom prst="rect">
            <a:avLst/>
          </a:prstGeom>
          <a:solidFill>
            <a:srgbClr val="004A98"/>
          </a:solidFill>
          <a:ln/>
        </p:spPr>
        <p:txBody>
          <a:bodyPr/>
          <a:lstStyle/>
          <a:p>
            <a:endParaRPr lang="en-US"/>
          </a:p>
        </p:txBody>
      </p:sp>
      <p:pic>
        <p:nvPicPr>
          <p:cNvPr id="13" name="Picture 12" descr="Forest plot of hazard ratios with 95% confidence intervals for 3-year incident cardiometabolic disease. Lower risk: recreational facilities 0.89 (0.82 to 0.97) and low traffic volume 0.85 (0.81 to 0.90). Higher risk: grocery stores 1.05 (1.02 to 1.09). Intervals that include 1: healthcare 1.07 (0.99 to 1.14), parks 0.90 (0.75 to 1.08), tobacco stores 0.84 (0.68 to 1.05), liquor stores 1.01 (0.95 to 1.08), and fast food 0.97 (0.94 to 1.02).">
            <a:extLst>
              <a:ext uri="{FF2B5EF4-FFF2-40B4-BE49-F238E27FC236}">
                <a16:creationId xmlns:a16="http://schemas.microsoft.com/office/drawing/2014/main" id="{99EA5508-8E74-4E25-6997-461EFA8B7AF8}"/>
              </a:ext>
            </a:extLst>
          </p:cNvPr>
          <p:cNvPicPr>
            <a:picLocks noChangeAspect="1"/>
          </p:cNvPicPr>
          <p:nvPr/>
        </p:nvPicPr>
        <p:blipFill>
          <a:blip r:embed="rId4"/>
          <a:stretch>
            <a:fillRect/>
          </a:stretch>
        </p:blipFill>
        <p:spPr>
          <a:xfrm>
            <a:off x="3410712" y="1124008"/>
            <a:ext cx="5070348" cy="3023229"/>
          </a:xfrm>
          <a:prstGeom prst="rect">
            <a:avLst/>
          </a:prstGeom>
        </p:spPr>
      </p:pic>
      <p:sp>
        <p:nvSpPr>
          <p:cNvPr id="10" name="Text 7"/>
          <p:cNvSpPr txBox="1"/>
          <p:nvPr/>
        </p:nvSpPr>
        <p:spPr>
          <a:xfrm>
            <a:off x="571500" y="4762500"/>
            <a:ext cx="1022211" cy="171450"/>
          </a:xfrm>
          <a:prstGeom prst="rect">
            <a:avLst/>
          </a:prstGeom>
          <a:noFill/>
          <a:ln/>
        </p:spPr>
        <p:txBody>
          <a:bodyPr wrap="square" lIns="12700" tIns="12700" rIns="12700" bIns="12700" rtlCol="0" anchor="t">
            <a:normAutofit/>
          </a:bodyPr>
          <a:lstStyle/>
          <a:p>
            <a:pPr marL="0" indent="0" algn="l">
              <a:buNone/>
            </a:pPr>
            <a:r>
              <a:rPr lang="en-US" sz="900" dirty="0">
                <a:solidFill>
                  <a:srgbClr val="5C666D"/>
                </a:solidFill>
                <a:latin typeface="Tahoma"/>
                <a:ea typeface="Tahoma"/>
                <a:cs typeface="Tahoma"/>
              </a:rPr>
              <a:t>Clarke · GSA 2026</a:t>
            </a:r>
            <a:endParaRPr lang="en-US" sz="900" dirty="0"/>
          </a:p>
        </p:txBody>
      </p:sp>
      <p:sp>
        <p:nvSpPr>
          <p:cNvPr id="14"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1A7657C1-F493-4C96-809A-1394B9BA305A}" type="slidenum">
              <a:rPr lang="en-US" sz="900" dirty="0">
                <a:solidFill>
                  <a:srgbClr val="4F6B8A"/>
                </a:solidFill>
                <a:latin typeface="Tahoma"/>
                <a:cs typeface="Tahoma"/>
              </a:rPr>
              <a:t>11</a:t>
            </a:fld>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A98"/>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BFC661-4747-0F38-E986-0C478F78C149}"/>
              </a:ext>
            </a:extLst>
          </p:cNvPr>
          <p:cNvSpPr>
            <a:spLocks noGrp="1"/>
          </p:cNvSpPr>
          <p:nvPr>
            <p:ph type="title"/>
          </p:nvPr>
        </p:nvSpPr>
        <p:spPr>
          <a:xfrm>
            <a:off x="571500" y="2210112"/>
            <a:ext cx="8001000" cy="723275"/>
          </a:xfrm>
          <a:prstGeom prst="rect">
            <a:avLst/>
          </a:prstGeom>
          <a:noFill/>
        </p:spPr>
        <p:txBody>
          <a:bodyPr wrap="square">
            <a:spAutoFit/>
          </a:bodyPr>
          <a:lstStyle/>
          <a:p>
            <a:pPr algn="ctr"/>
            <a:r>
              <a:rPr lang="en-US" sz="4400" b="1" kern="0" spc="-66" dirty="0">
                <a:solidFill>
                  <a:srgbClr val="FFFFFF"/>
                </a:solidFill>
                <a:latin typeface="Tahoma"/>
                <a:ea typeface="Tahoma"/>
                <a:cs typeface="Tahoma"/>
              </a:rPr>
              <a:t>Implications</a:t>
            </a:r>
            <a:endParaRPr lang="en-US" sz="4400" dirty="0"/>
          </a:p>
        </p:txBody>
      </p:sp>
      <p:sp>
        <p:nvSpPr>
          <p:cNvPr id="5"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FA8751EF-0291-498A-A382-8E2C5F23268E}" type="slidenum">
              <a:rPr lang="en-US" sz="900" dirty="0">
                <a:solidFill>
                  <a:srgbClr val="DDEBF7"/>
                </a:solidFill>
                <a:latin typeface="Tahoma"/>
                <a:cs typeface="Tahoma"/>
              </a:rPr>
              <a:t>12</a:t>
            </a:fld>
            <a:endParaRPr lang="en-US" sz="900" dirty="0"/>
          </a:p>
        </p:txBody>
      </p:sp>
    </p:spTree>
    <p:extLst>
      <p:ext uri="{BB962C8B-B14F-4D97-AF65-F5344CB8AC3E}">
        <p14:creationId xmlns:p14="http://schemas.microsoft.com/office/powerpoint/2010/main" val="516626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C959-713A-DFA5-2C9E-2994FB052AC4}"/>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A962F087-3FFB-FA60-9C9D-85F1B1FF1422}"/>
              </a:ext>
              <a:ext uri="{C183D7F6-B498-43B3-948B-1728B52AA6E4}">
                <adec:decorative xmlns:adec="http://schemas.microsoft.com/office/drawing/2017/decorative" val="1"/>
              </a:ext>
            </a:extLst>
          </p:cNvPr>
          <p:cNvSpPr/>
          <p:nvPr/>
        </p:nvSpPr>
        <p:spPr>
          <a:xfrm>
            <a:off x="571500" y="1625650"/>
            <a:ext cx="4524375" cy="9525"/>
          </a:xfrm>
          <a:prstGeom prst="rect">
            <a:avLst/>
          </a:prstGeom>
          <a:solidFill>
            <a:srgbClr val="D9E2EA"/>
          </a:solidFill>
          <a:ln/>
        </p:spPr>
        <p:txBody>
          <a:bodyPr/>
          <a:lstStyle/>
          <a:p>
            <a:endParaRPr lang="en-US"/>
          </a:p>
        </p:txBody>
      </p:sp>
      <p:sp>
        <p:nvSpPr>
          <p:cNvPr id="5" name="Shape 3">
            <a:extLst>
              <a:ext uri="{FF2B5EF4-FFF2-40B4-BE49-F238E27FC236}">
                <a16:creationId xmlns:a16="http://schemas.microsoft.com/office/drawing/2014/main" id="{615B40EF-FAD8-3360-D98A-29079AD1BF39}"/>
              </a:ext>
              <a:ext uri="{C183D7F6-B498-43B3-948B-1728B52AA6E4}">
                <adec:decorative xmlns:adec="http://schemas.microsoft.com/office/drawing/2017/decorative" val="1"/>
              </a:ext>
            </a:extLst>
          </p:cNvPr>
          <p:cNvSpPr/>
          <p:nvPr/>
        </p:nvSpPr>
        <p:spPr>
          <a:xfrm>
            <a:off x="571500" y="2351336"/>
            <a:ext cx="4524375" cy="9525"/>
          </a:xfrm>
          <a:prstGeom prst="rect">
            <a:avLst/>
          </a:prstGeom>
          <a:solidFill>
            <a:srgbClr val="D9E2EA"/>
          </a:solidFill>
          <a:ln/>
        </p:spPr>
        <p:txBody>
          <a:bodyPr/>
          <a:lstStyle/>
          <a:p>
            <a:endParaRPr lang="en-US"/>
          </a:p>
        </p:txBody>
      </p:sp>
      <p:sp>
        <p:nvSpPr>
          <p:cNvPr id="8" name="Shape 6">
            <a:extLst>
              <a:ext uri="{FF2B5EF4-FFF2-40B4-BE49-F238E27FC236}">
                <a16:creationId xmlns:a16="http://schemas.microsoft.com/office/drawing/2014/main" id="{6449165F-F505-6622-1906-AC19BBD008B2}"/>
              </a:ext>
              <a:ext uri="{C183D7F6-B498-43B3-948B-1728B52AA6E4}">
                <adec:decorative xmlns:adec="http://schemas.microsoft.com/office/drawing/2017/decorative" val="1"/>
              </a:ext>
            </a:extLst>
          </p:cNvPr>
          <p:cNvSpPr/>
          <p:nvPr/>
        </p:nvSpPr>
        <p:spPr>
          <a:xfrm>
            <a:off x="571500" y="4008388"/>
            <a:ext cx="4524375" cy="9525"/>
          </a:xfrm>
          <a:prstGeom prst="rect">
            <a:avLst/>
          </a:prstGeom>
          <a:solidFill>
            <a:srgbClr val="D9E2EA"/>
          </a:solidFill>
          <a:ln/>
        </p:spPr>
        <p:txBody>
          <a:bodyPr/>
          <a:lstStyle/>
          <a:p>
            <a:endParaRPr lang="en-US"/>
          </a:p>
        </p:txBody>
      </p:sp>
      <p:sp>
        <p:nvSpPr>
          <p:cNvPr id="9" name="Shape 7">
            <a:extLst>
              <a:ext uri="{FF2B5EF4-FFF2-40B4-BE49-F238E27FC236}">
                <a16:creationId xmlns:a16="http://schemas.microsoft.com/office/drawing/2014/main" id="{30B68819-28DD-8042-5058-DF2C56199A15}"/>
              </a:ext>
              <a:ext uri="{C183D7F6-B498-43B3-948B-1728B52AA6E4}">
                <adec:decorative xmlns:adec="http://schemas.microsoft.com/office/drawing/2017/decorative" val="1"/>
              </a:ext>
            </a:extLst>
          </p:cNvPr>
          <p:cNvSpPr/>
          <p:nvPr/>
        </p:nvSpPr>
        <p:spPr>
          <a:xfrm>
            <a:off x="571500" y="3282702"/>
            <a:ext cx="4524375" cy="9525"/>
          </a:xfrm>
          <a:prstGeom prst="rect">
            <a:avLst/>
          </a:prstGeom>
          <a:solidFill>
            <a:srgbClr val="D9E2EA"/>
          </a:solidFill>
          <a:ln/>
        </p:spPr>
        <p:txBody>
          <a:bodyPr/>
          <a:lstStyle/>
          <a:p>
            <a:endParaRPr lang="en-US"/>
          </a:p>
        </p:txBody>
      </p:sp>
      <p:sp>
        <p:nvSpPr>
          <p:cNvPr id="2" name="Text 0">
            <a:extLst>
              <a:ext uri="{FF2B5EF4-FFF2-40B4-BE49-F238E27FC236}">
                <a16:creationId xmlns:a16="http://schemas.microsoft.com/office/drawing/2014/main" id="{F2E43389-E269-E52E-B365-DE50B0578FA2}"/>
              </a:ext>
            </a:extLst>
          </p:cNvPr>
          <p:cNvSpPr>
            <a:spLocks noGrp="1"/>
          </p:cNvSpPr>
          <p:nvPr>
            <p:ph type="title"/>
          </p:nvPr>
        </p:nvSpPr>
        <p:spPr>
          <a:xfrm>
            <a:off x="571500" y="475488"/>
            <a:ext cx="452628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Recreational facilities</a:t>
            </a:r>
            <a:endParaRPr lang="en-US" sz="2850" dirty="0"/>
          </a:p>
        </p:txBody>
      </p:sp>
      <p:sp>
        <p:nvSpPr>
          <p:cNvPr id="12" name="Shape 9">
            <a:extLst>
              <a:ext uri="{FF2B5EF4-FFF2-40B4-BE49-F238E27FC236}">
                <a16:creationId xmlns:a16="http://schemas.microsoft.com/office/drawing/2014/main" id="{FD006356-0C07-E5EB-07F9-9DFEFBF76CA0}"/>
              </a:ext>
              <a:ext uri="{C183D7F6-B498-43B3-948B-1728B52AA6E4}">
                <adec:decorative xmlns:adec="http://schemas.microsoft.com/office/drawing/2017/decorative" val="1"/>
              </a:ext>
            </a:extLst>
          </p:cNvPr>
          <p:cNvSpPr/>
          <p:nvPr/>
        </p:nvSpPr>
        <p:spPr>
          <a:xfrm>
            <a:off x="5244084" y="0"/>
            <a:ext cx="86868" cy="5143500"/>
          </a:xfrm>
          <a:prstGeom prst="rect">
            <a:avLst/>
          </a:prstGeom>
          <a:solidFill>
            <a:srgbClr val="1D9ADD"/>
          </a:solidFill>
          <a:ln/>
        </p:spPr>
        <p:txBody>
          <a:bodyPr/>
          <a:lstStyle/>
          <a:p>
            <a:endParaRPr lang="en-US"/>
          </a:p>
        </p:txBody>
      </p:sp>
      <p:sp>
        <p:nvSpPr>
          <p:cNvPr id="4" name="Text 2">
            <a:extLst>
              <a:ext uri="{FF2B5EF4-FFF2-40B4-BE49-F238E27FC236}">
                <a16:creationId xmlns:a16="http://schemas.microsoft.com/office/drawing/2014/main" id="{EB10148B-BCAD-ABAB-FED0-0125730AC71A}"/>
              </a:ext>
            </a:extLst>
          </p:cNvPr>
          <p:cNvSpPr txBox="1"/>
          <p:nvPr/>
        </p:nvSpPr>
        <p:spPr>
          <a:xfrm>
            <a:off x="571500" y="1787652"/>
            <a:ext cx="4658868" cy="429768"/>
          </a:xfrm>
          <a:prstGeom prst="rect">
            <a:avLst/>
          </a:prstGeom>
          <a:noFill/>
          <a:ln/>
        </p:spPr>
        <p:txBody>
          <a:bodyPr wrap="square" lIns="12700" tIns="12700" rIns="12700" bIns="12700" rtlCol="0" anchor="t">
            <a:normAutofit fontScale="92500" lnSpcReduction="20000"/>
          </a:bodyPr>
          <a:lstStyle/>
          <a:p>
            <a:pPr marL="0" indent="0" algn="l">
              <a:lnSpc>
                <a:spcPct val="116757"/>
              </a:lnSpc>
              <a:buNone/>
            </a:pPr>
            <a:r>
              <a:rPr lang="en-US" sz="1400" dirty="0">
                <a:solidFill>
                  <a:srgbClr val="050708"/>
                </a:solidFill>
                <a:latin typeface="Tahoma"/>
                <a:cs typeface="Tahoma"/>
              </a:rPr>
              <a:t>Living in a neighborhood with a greater density of recreational facilities is associated with:</a:t>
            </a:r>
            <a:endParaRPr lang="en-US" sz="1400" dirty="0"/>
          </a:p>
        </p:txBody>
      </p:sp>
      <p:sp>
        <p:nvSpPr>
          <p:cNvPr id="6" name="Text 4">
            <a:extLst>
              <a:ext uri="{FF2B5EF4-FFF2-40B4-BE49-F238E27FC236}">
                <a16:creationId xmlns:a16="http://schemas.microsoft.com/office/drawing/2014/main" id="{A0EF0606-AA1F-34C0-B0BF-7987E871FA9D}"/>
              </a:ext>
            </a:extLst>
          </p:cNvPr>
          <p:cNvSpPr txBox="1"/>
          <p:nvPr/>
        </p:nvSpPr>
        <p:spPr>
          <a:xfrm>
            <a:off x="571500" y="2564892"/>
            <a:ext cx="1348740" cy="534924"/>
          </a:xfrm>
          <a:prstGeom prst="rect">
            <a:avLst/>
          </a:prstGeom>
          <a:noFill/>
          <a:ln/>
        </p:spPr>
        <p:txBody>
          <a:bodyPr wrap="square" lIns="12700" tIns="12700" rIns="12700" bIns="12700" rtlCol="0" anchor="t">
            <a:normAutofit/>
          </a:bodyPr>
          <a:lstStyle/>
          <a:p>
            <a:pPr marL="0" indent="0" algn="l">
              <a:lnSpc>
                <a:spcPct val="71053"/>
              </a:lnSpc>
              <a:buNone/>
            </a:pPr>
            <a:r>
              <a:rPr lang="en-US" sz="4050" b="1" kern="0" spc="-122" dirty="0">
                <a:solidFill>
                  <a:srgbClr val="004A98"/>
                </a:solidFill>
                <a:latin typeface="Tahoma"/>
                <a:ea typeface="Tahoma"/>
                <a:cs typeface="Tahoma"/>
              </a:rPr>
              <a:t>11%</a:t>
            </a:r>
            <a:endParaRPr lang="en-US" sz="4050" dirty="0"/>
          </a:p>
        </p:txBody>
      </p:sp>
      <p:sp>
        <p:nvSpPr>
          <p:cNvPr id="7" name="Text 5">
            <a:extLst>
              <a:ext uri="{FF2B5EF4-FFF2-40B4-BE49-F238E27FC236}">
                <a16:creationId xmlns:a16="http://schemas.microsoft.com/office/drawing/2014/main" id="{E475FAA9-18DA-7B5B-6DFC-EB0C8EFCE574}"/>
              </a:ext>
            </a:extLst>
          </p:cNvPr>
          <p:cNvSpPr txBox="1"/>
          <p:nvPr/>
        </p:nvSpPr>
        <p:spPr>
          <a:xfrm>
            <a:off x="1938528" y="2514600"/>
            <a:ext cx="2953512" cy="635508"/>
          </a:xfrm>
          <a:prstGeom prst="rect">
            <a:avLst/>
          </a:prstGeom>
          <a:noFill/>
          <a:ln/>
        </p:spPr>
        <p:txBody>
          <a:bodyPr wrap="square" lIns="12700" tIns="12700" rIns="12700" bIns="12700" rtlCol="0" anchor="t">
            <a:normAutofit/>
          </a:bodyPr>
          <a:lstStyle/>
          <a:p>
            <a:pPr marL="0" indent="0" algn="l">
              <a:lnSpc>
                <a:spcPct val="116757"/>
              </a:lnSpc>
              <a:buNone/>
            </a:pPr>
            <a:r>
              <a:rPr lang="en-US" sz="1400" dirty="0">
                <a:solidFill>
                  <a:srgbClr val="050708"/>
                </a:solidFill>
                <a:latin typeface="Tahoma"/>
                <a:ea typeface="Tahoma"/>
                <a:cs typeface="Tahoma"/>
              </a:rPr>
              <a:t>reduced risk of cardiometabolic disease in adults aging with disability</a:t>
            </a:r>
            <a:endParaRPr lang="en-US" sz="1400" dirty="0"/>
          </a:p>
        </p:txBody>
      </p:sp>
      <p:sp>
        <p:nvSpPr>
          <p:cNvPr id="10" name="Text 8">
            <a:extLst>
              <a:ext uri="{FF2B5EF4-FFF2-40B4-BE49-F238E27FC236}">
                <a16:creationId xmlns:a16="http://schemas.microsoft.com/office/drawing/2014/main" id="{83B308CA-6250-E1B4-4217-7DEC864A5CF7}"/>
              </a:ext>
            </a:extLst>
          </p:cNvPr>
          <p:cNvSpPr txBox="1"/>
          <p:nvPr/>
        </p:nvSpPr>
        <p:spPr>
          <a:xfrm>
            <a:off x="571500" y="3442716"/>
            <a:ext cx="4658868" cy="429768"/>
          </a:xfrm>
          <a:prstGeom prst="rect">
            <a:avLst/>
          </a:prstGeom>
          <a:noFill/>
          <a:ln/>
        </p:spPr>
        <p:txBody>
          <a:bodyPr wrap="square" lIns="12700" tIns="12700" rIns="12700" bIns="12700" rtlCol="0" anchor="t">
            <a:normAutofit lnSpcReduction="10000"/>
          </a:bodyPr>
          <a:lstStyle/>
          <a:p>
            <a:pPr marL="0" indent="0" algn="l">
              <a:lnSpc>
                <a:spcPct val="116757"/>
              </a:lnSpc>
              <a:buNone/>
            </a:pPr>
            <a:r>
              <a:rPr lang="en-US" sz="1200" dirty="0">
                <a:solidFill>
                  <a:srgbClr val="050708"/>
                </a:solidFill>
                <a:latin typeface="Tahoma"/>
                <a:cs typeface="Tahoma"/>
              </a:rPr>
              <a:t>Critical that recreational facilities are accessible and welcoming to people as they age with disability</a:t>
            </a:r>
            <a:endParaRPr lang="en-US" sz="1200" dirty="0"/>
          </a:p>
        </p:txBody>
      </p:sp>
      <p:pic>
        <p:nvPicPr>
          <p:cNvPr id="13" name="Picture 12" descr="An empty indoor fitness center with weight machines, a punching bag, and cardio equipment by the windows">
            <a:extLst>
              <a:ext uri="{FF2B5EF4-FFF2-40B4-BE49-F238E27FC236}">
                <a16:creationId xmlns:a16="http://schemas.microsoft.com/office/drawing/2014/main" id="{33B99567-8951-74CC-77D7-96657A717296}"/>
              </a:ext>
            </a:extLst>
          </p:cNvPr>
          <p:cNvPicPr>
            <a:picLocks noChangeAspect="1"/>
          </p:cNvPicPr>
          <p:nvPr/>
        </p:nvPicPr>
        <p:blipFill>
          <a:blip r:embed="rId3"/>
          <a:srcRect l="23289" t="107" r="9556" b="107"/>
          <a:stretch>
            <a:fillRect/>
          </a:stretch>
        </p:blipFill>
        <p:spPr>
          <a:xfrm>
            <a:off x="5330952" y="0"/>
            <a:ext cx="3813048" cy="5143500"/>
          </a:xfrm>
          <a:prstGeom prst="rect">
            <a:avLst/>
          </a:prstGeom>
        </p:spPr>
      </p:pic>
      <p:sp>
        <p:nvSpPr>
          <p:cNvPr id="14"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D66C0038-D20C-4421-B136-CA0FA3F74C25}" type="slidenum">
              <a:rPr lang="en-US" sz="900" dirty="0">
                <a:solidFill>
                  <a:srgbClr val="DDEBF7"/>
                </a:solidFill>
                <a:latin typeface="Tahoma"/>
                <a:cs typeface="Tahoma"/>
              </a:rPr>
              <a:t>13</a:t>
            </a:fld>
            <a:endParaRPr lang="en-US" sz="900" dirty="0"/>
          </a:p>
        </p:txBody>
      </p:sp>
    </p:spTree>
    <p:extLst>
      <p:ext uri="{BB962C8B-B14F-4D97-AF65-F5344CB8AC3E}">
        <p14:creationId xmlns:p14="http://schemas.microsoft.com/office/powerpoint/2010/main" val="2104143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53BA3-2FF9-ABB3-128F-77B6D3424260}"/>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C0AEDE8C-EF73-9E3B-4C80-AD5FDA394D7B}"/>
              </a:ext>
              <a:ext uri="{C183D7F6-B498-43B3-948B-1728B52AA6E4}">
                <adec:decorative xmlns:adec="http://schemas.microsoft.com/office/drawing/2017/decorative" val="1"/>
              </a:ext>
            </a:extLst>
          </p:cNvPr>
          <p:cNvSpPr/>
          <p:nvPr/>
        </p:nvSpPr>
        <p:spPr>
          <a:xfrm>
            <a:off x="571500" y="1625650"/>
            <a:ext cx="4524375" cy="9525"/>
          </a:xfrm>
          <a:prstGeom prst="rect">
            <a:avLst/>
          </a:prstGeom>
          <a:solidFill>
            <a:srgbClr val="D9E2EA"/>
          </a:solidFill>
          <a:ln/>
        </p:spPr>
        <p:txBody>
          <a:bodyPr/>
          <a:lstStyle/>
          <a:p>
            <a:endParaRPr lang="en-US"/>
          </a:p>
        </p:txBody>
      </p:sp>
      <p:sp>
        <p:nvSpPr>
          <p:cNvPr id="5" name="Shape 3">
            <a:extLst>
              <a:ext uri="{FF2B5EF4-FFF2-40B4-BE49-F238E27FC236}">
                <a16:creationId xmlns:a16="http://schemas.microsoft.com/office/drawing/2014/main" id="{9A93E6C0-9664-843F-CCAD-3F4787EA9E2F}"/>
              </a:ext>
              <a:ext uri="{C183D7F6-B498-43B3-948B-1728B52AA6E4}">
                <adec:decorative xmlns:adec="http://schemas.microsoft.com/office/drawing/2017/decorative" val="1"/>
              </a:ext>
            </a:extLst>
          </p:cNvPr>
          <p:cNvSpPr/>
          <p:nvPr/>
        </p:nvSpPr>
        <p:spPr>
          <a:xfrm>
            <a:off x="571500" y="2351336"/>
            <a:ext cx="4524375" cy="9525"/>
          </a:xfrm>
          <a:prstGeom prst="rect">
            <a:avLst/>
          </a:prstGeom>
          <a:solidFill>
            <a:srgbClr val="D9E2EA"/>
          </a:solidFill>
          <a:ln/>
        </p:spPr>
        <p:txBody>
          <a:bodyPr/>
          <a:lstStyle/>
          <a:p>
            <a:endParaRPr lang="en-US"/>
          </a:p>
        </p:txBody>
      </p:sp>
      <p:sp>
        <p:nvSpPr>
          <p:cNvPr id="8" name="Shape 6">
            <a:extLst>
              <a:ext uri="{FF2B5EF4-FFF2-40B4-BE49-F238E27FC236}">
                <a16:creationId xmlns:a16="http://schemas.microsoft.com/office/drawing/2014/main" id="{263C476A-AD74-70E6-D466-6769A22EF687}"/>
              </a:ext>
              <a:ext uri="{C183D7F6-B498-43B3-948B-1728B52AA6E4}">
                <adec:decorative xmlns:adec="http://schemas.microsoft.com/office/drawing/2017/decorative" val="1"/>
              </a:ext>
            </a:extLst>
          </p:cNvPr>
          <p:cNvSpPr/>
          <p:nvPr/>
        </p:nvSpPr>
        <p:spPr>
          <a:xfrm>
            <a:off x="571500" y="4008388"/>
            <a:ext cx="4524375" cy="9525"/>
          </a:xfrm>
          <a:prstGeom prst="rect">
            <a:avLst/>
          </a:prstGeom>
          <a:solidFill>
            <a:srgbClr val="D9E2EA"/>
          </a:solidFill>
          <a:ln/>
        </p:spPr>
        <p:txBody>
          <a:bodyPr/>
          <a:lstStyle/>
          <a:p>
            <a:endParaRPr lang="en-US"/>
          </a:p>
        </p:txBody>
      </p:sp>
      <p:sp>
        <p:nvSpPr>
          <p:cNvPr id="9" name="Shape 7">
            <a:extLst>
              <a:ext uri="{FF2B5EF4-FFF2-40B4-BE49-F238E27FC236}">
                <a16:creationId xmlns:a16="http://schemas.microsoft.com/office/drawing/2014/main" id="{5BB0D88E-4E17-E2E6-C812-4C2186A6D801}"/>
              </a:ext>
              <a:ext uri="{C183D7F6-B498-43B3-948B-1728B52AA6E4}">
                <adec:decorative xmlns:adec="http://schemas.microsoft.com/office/drawing/2017/decorative" val="1"/>
              </a:ext>
            </a:extLst>
          </p:cNvPr>
          <p:cNvSpPr/>
          <p:nvPr/>
        </p:nvSpPr>
        <p:spPr>
          <a:xfrm>
            <a:off x="571500" y="3282702"/>
            <a:ext cx="4524375" cy="9525"/>
          </a:xfrm>
          <a:prstGeom prst="rect">
            <a:avLst/>
          </a:prstGeom>
          <a:solidFill>
            <a:srgbClr val="D9E2EA"/>
          </a:solidFill>
          <a:ln/>
        </p:spPr>
        <p:txBody>
          <a:bodyPr/>
          <a:lstStyle/>
          <a:p>
            <a:endParaRPr lang="en-US"/>
          </a:p>
        </p:txBody>
      </p:sp>
      <p:sp>
        <p:nvSpPr>
          <p:cNvPr id="2" name="Text 0">
            <a:extLst>
              <a:ext uri="{FF2B5EF4-FFF2-40B4-BE49-F238E27FC236}">
                <a16:creationId xmlns:a16="http://schemas.microsoft.com/office/drawing/2014/main" id="{CB6864B7-735E-2301-99AD-41421A46F08B}"/>
              </a:ext>
            </a:extLst>
          </p:cNvPr>
          <p:cNvSpPr>
            <a:spLocks noGrp="1"/>
          </p:cNvSpPr>
          <p:nvPr>
            <p:ph type="title"/>
          </p:nvPr>
        </p:nvSpPr>
        <p:spPr>
          <a:xfrm>
            <a:off x="571500" y="475488"/>
            <a:ext cx="452628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Grocery stores</a:t>
            </a:r>
            <a:endParaRPr lang="en-US" sz="2850" dirty="0"/>
          </a:p>
        </p:txBody>
      </p:sp>
      <p:sp>
        <p:nvSpPr>
          <p:cNvPr id="12" name="Shape 9">
            <a:extLst>
              <a:ext uri="{FF2B5EF4-FFF2-40B4-BE49-F238E27FC236}">
                <a16:creationId xmlns:a16="http://schemas.microsoft.com/office/drawing/2014/main" id="{BE666476-9017-7B40-A918-0F620F110323}"/>
              </a:ext>
              <a:ext uri="{C183D7F6-B498-43B3-948B-1728B52AA6E4}">
                <adec:decorative xmlns:adec="http://schemas.microsoft.com/office/drawing/2017/decorative" val="1"/>
              </a:ext>
            </a:extLst>
          </p:cNvPr>
          <p:cNvSpPr/>
          <p:nvPr/>
        </p:nvSpPr>
        <p:spPr>
          <a:xfrm>
            <a:off x="5244084" y="0"/>
            <a:ext cx="86868" cy="5143500"/>
          </a:xfrm>
          <a:prstGeom prst="rect">
            <a:avLst/>
          </a:prstGeom>
          <a:solidFill>
            <a:srgbClr val="1D9ADD"/>
          </a:solidFill>
          <a:ln/>
        </p:spPr>
        <p:txBody>
          <a:bodyPr/>
          <a:lstStyle/>
          <a:p>
            <a:endParaRPr lang="en-US"/>
          </a:p>
        </p:txBody>
      </p:sp>
      <p:sp>
        <p:nvSpPr>
          <p:cNvPr id="4" name="Text 2">
            <a:extLst>
              <a:ext uri="{FF2B5EF4-FFF2-40B4-BE49-F238E27FC236}">
                <a16:creationId xmlns:a16="http://schemas.microsoft.com/office/drawing/2014/main" id="{A01F9702-2FEF-5991-015E-59F1C5AF5729}"/>
              </a:ext>
            </a:extLst>
          </p:cNvPr>
          <p:cNvSpPr txBox="1"/>
          <p:nvPr/>
        </p:nvSpPr>
        <p:spPr>
          <a:xfrm>
            <a:off x="571500" y="1787652"/>
            <a:ext cx="4658868" cy="429768"/>
          </a:xfrm>
          <a:prstGeom prst="rect">
            <a:avLst/>
          </a:prstGeom>
          <a:noFill/>
          <a:ln/>
        </p:spPr>
        <p:txBody>
          <a:bodyPr wrap="square" lIns="12700" tIns="12700" rIns="12700" bIns="12700" rtlCol="0" anchor="t">
            <a:normAutofit lnSpcReduction="10000"/>
          </a:bodyPr>
          <a:lstStyle/>
          <a:p>
            <a:pPr>
              <a:lnSpc>
                <a:spcPct val="116757"/>
              </a:lnSpc>
            </a:pPr>
            <a:r>
              <a:rPr lang="en-US" sz="1200" dirty="0">
                <a:solidFill>
                  <a:srgbClr val="050708"/>
                </a:solidFill>
                <a:latin typeface="Tahoma"/>
                <a:cs typeface="Tahoma"/>
              </a:rPr>
              <a:t>Living in a neighborhood with a greater density of grocery stores is associated with:</a:t>
            </a:r>
            <a:endParaRPr lang="en-US" sz="1200" dirty="0"/>
          </a:p>
        </p:txBody>
      </p:sp>
      <p:sp>
        <p:nvSpPr>
          <p:cNvPr id="6" name="Text 4">
            <a:extLst>
              <a:ext uri="{FF2B5EF4-FFF2-40B4-BE49-F238E27FC236}">
                <a16:creationId xmlns:a16="http://schemas.microsoft.com/office/drawing/2014/main" id="{D93FD0BF-9A94-AE74-B28B-4256EC5A7D58}"/>
              </a:ext>
            </a:extLst>
          </p:cNvPr>
          <p:cNvSpPr txBox="1"/>
          <p:nvPr/>
        </p:nvSpPr>
        <p:spPr>
          <a:xfrm>
            <a:off x="571500" y="2564892"/>
            <a:ext cx="1348740" cy="534924"/>
          </a:xfrm>
          <a:prstGeom prst="rect">
            <a:avLst/>
          </a:prstGeom>
          <a:noFill/>
          <a:ln/>
        </p:spPr>
        <p:txBody>
          <a:bodyPr wrap="square" lIns="12700" tIns="12700" rIns="12700" bIns="12700" rtlCol="0" anchor="t">
            <a:normAutofit/>
          </a:bodyPr>
          <a:lstStyle/>
          <a:p>
            <a:pPr marL="0" indent="0" algn="l">
              <a:lnSpc>
                <a:spcPct val="71053"/>
              </a:lnSpc>
              <a:buNone/>
            </a:pPr>
            <a:r>
              <a:rPr lang="en-US" sz="4050" b="1" kern="0" spc="-122" dirty="0">
                <a:solidFill>
                  <a:srgbClr val="004A98"/>
                </a:solidFill>
                <a:latin typeface="Tahoma"/>
                <a:ea typeface="Tahoma"/>
                <a:cs typeface="Tahoma"/>
              </a:rPr>
              <a:t>5%</a:t>
            </a:r>
            <a:endParaRPr lang="en-US" sz="4050" dirty="0"/>
          </a:p>
        </p:txBody>
      </p:sp>
      <p:sp>
        <p:nvSpPr>
          <p:cNvPr id="7" name="Text 5">
            <a:extLst>
              <a:ext uri="{FF2B5EF4-FFF2-40B4-BE49-F238E27FC236}">
                <a16:creationId xmlns:a16="http://schemas.microsoft.com/office/drawing/2014/main" id="{813A7869-C3D6-3D5F-C552-0744F2AE079F}"/>
              </a:ext>
            </a:extLst>
          </p:cNvPr>
          <p:cNvSpPr txBox="1"/>
          <p:nvPr/>
        </p:nvSpPr>
        <p:spPr>
          <a:xfrm>
            <a:off x="1938528" y="2514600"/>
            <a:ext cx="2953512" cy="635508"/>
          </a:xfrm>
          <a:prstGeom prst="rect">
            <a:avLst/>
          </a:prstGeom>
          <a:noFill/>
          <a:ln/>
        </p:spPr>
        <p:txBody>
          <a:bodyPr wrap="square" lIns="12700" tIns="12700" rIns="12700" bIns="12700" rtlCol="0" anchor="t">
            <a:normAutofit/>
          </a:bodyPr>
          <a:lstStyle/>
          <a:p>
            <a:pPr marL="0" marR="0" lvl="0" indent="0" algn="l" defTabSz="457200" rtl="0" eaLnBrk="1" fontAlgn="auto" latinLnBrk="0" hangingPunct="1">
              <a:lnSpc>
                <a:spcPct val="116757"/>
              </a:lnSpc>
              <a:spcBef>
                <a:spcPts val="0"/>
              </a:spcBef>
              <a:spcAft>
                <a:spcPts val="0"/>
              </a:spcAft>
              <a:buClrTx/>
              <a:buSzTx/>
              <a:buFontTx/>
              <a:buNone/>
              <a:tabLst/>
              <a:defRPr/>
            </a:pPr>
            <a:r>
              <a:rPr lang="en-US" sz="1400" dirty="0">
                <a:solidFill>
                  <a:srgbClr val="050708"/>
                </a:solidFill>
                <a:latin typeface="Tahoma"/>
                <a:ea typeface="Tahoma"/>
                <a:cs typeface="Tahoma"/>
              </a:rPr>
              <a:t>i</a:t>
            </a:r>
            <a:r>
              <a:rPr kumimoji="0" lang="en-US" sz="1400" b="0" i="0" u="none" strike="noStrike" kern="600" cap="none" spc="0" normalizeH="0" baseline="0" noProof="0" dirty="0" err="1">
                <a:ln>
                  <a:noFill/>
                </a:ln>
                <a:solidFill>
                  <a:srgbClr val="050708"/>
                </a:solidFill>
                <a:effectLst/>
                <a:uLnTx/>
                <a:uFillTx/>
                <a:latin typeface="Tahoma"/>
                <a:ea typeface="Tahoma"/>
                <a:cs typeface="Tahoma"/>
              </a:rPr>
              <a:t>ncreased</a:t>
            </a:r>
            <a:r>
              <a:rPr kumimoji="0" lang="en-US" sz="1400" b="0" i="0" u="none" strike="noStrike" kern="600" cap="none" spc="0" normalizeH="0" baseline="0" noProof="0" dirty="0">
                <a:ln>
                  <a:noFill/>
                </a:ln>
                <a:solidFill>
                  <a:srgbClr val="050708"/>
                </a:solidFill>
                <a:effectLst/>
                <a:uLnTx/>
                <a:uFillTx/>
                <a:latin typeface="Tahoma"/>
                <a:ea typeface="Tahoma"/>
                <a:cs typeface="Tahoma"/>
              </a:rPr>
              <a:t> risk of cardiometabolic disease in adults aging with disability</a:t>
            </a:r>
            <a:endParaRPr kumimoji="0" lang="en-US" sz="1400" b="0" i="0" u="none" strike="noStrike" kern="600" cap="none" spc="0" normalizeH="0" baseline="0" noProof="0" dirty="0">
              <a:ln>
                <a:noFill/>
              </a:ln>
              <a:solidFill>
                <a:prstClr val="black"/>
              </a:solidFill>
              <a:effectLst/>
              <a:uLnTx/>
              <a:uFillTx/>
              <a:latin typeface="Tahoma"/>
              <a:ea typeface="+mn-ea"/>
              <a:cs typeface="+mn-cs"/>
            </a:endParaRPr>
          </a:p>
        </p:txBody>
      </p:sp>
      <p:sp>
        <p:nvSpPr>
          <p:cNvPr id="10" name="Text 8">
            <a:extLst>
              <a:ext uri="{FF2B5EF4-FFF2-40B4-BE49-F238E27FC236}">
                <a16:creationId xmlns:a16="http://schemas.microsoft.com/office/drawing/2014/main" id="{478ED5F8-32C2-73C5-A17B-62B465D46A4A}"/>
              </a:ext>
            </a:extLst>
          </p:cNvPr>
          <p:cNvSpPr txBox="1"/>
          <p:nvPr/>
        </p:nvSpPr>
        <p:spPr>
          <a:xfrm>
            <a:off x="571500" y="3442716"/>
            <a:ext cx="4658868" cy="429768"/>
          </a:xfrm>
          <a:prstGeom prst="rect">
            <a:avLst/>
          </a:prstGeom>
          <a:noFill/>
          <a:ln/>
        </p:spPr>
        <p:txBody>
          <a:bodyPr wrap="square" lIns="12700" tIns="12700" rIns="12700" bIns="12700" rtlCol="0" anchor="t">
            <a:normAutofit fontScale="92500"/>
          </a:bodyPr>
          <a:lstStyle/>
          <a:p>
            <a:pPr marL="0" indent="0" algn="l">
              <a:lnSpc>
                <a:spcPct val="116757"/>
              </a:lnSpc>
              <a:buNone/>
            </a:pPr>
            <a:r>
              <a:rPr lang="en-US" sz="1200" dirty="0">
                <a:solidFill>
                  <a:srgbClr val="050708"/>
                </a:solidFill>
                <a:latin typeface="Tahoma"/>
                <a:ea typeface="Tahoma"/>
                <a:cs typeface="Tahoma"/>
              </a:rPr>
              <a:t>Healthy food in grocery stores is often more expensive;</a:t>
            </a:r>
          </a:p>
          <a:p>
            <a:pPr marL="0" indent="0" algn="l">
              <a:lnSpc>
                <a:spcPct val="116757"/>
              </a:lnSpc>
              <a:buNone/>
            </a:pPr>
            <a:r>
              <a:rPr lang="en-US" sz="1200" dirty="0">
                <a:solidFill>
                  <a:srgbClr val="050708"/>
                </a:solidFill>
                <a:latin typeface="Tahoma"/>
                <a:cs typeface="Tahoma"/>
              </a:rPr>
              <a:t>Barriers in grocery stores (narrow aisles, tall shelves) may deter shopping</a:t>
            </a:r>
            <a:endParaRPr lang="en-US" sz="1200" dirty="0"/>
          </a:p>
        </p:txBody>
      </p:sp>
      <p:pic>
        <p:nvPicPr>
          <p:cNvPr id="15" name="Picture 14" descr="A woman using a wheelchair reaches up to a high shelf in the dairy aisle of a grocery store">
            <a:extLst>
              <a:ext uri="{FF2B5EF4-FFF2-40B4-BE49-F238E27FC236}">
                <a16:creationId xmlns:a16="http://schemas.microsoft.com/office/drawing/2014/main" id="{7FC599F3-215E-9633-0EB8-67A3BEF5C8E7}"/>
              </a:ext>
            </a:extLst>
          </p:cNvPr>
          <p:cNvPicPr>
            <a:picLocks noChangeAspect="1"/>
          </p:cNvPicPr>
          <p:nvPr/>
        </p:nvPicPr>
        <p:blipFill>
          <a:blip r:embed="rId3"/>
          <a:srcRect l="30783" t="305" r="23186" b="585"/>
          <a:stretch>
            <a:fillRect/>
          </a:stretch>
        </p:blipFill>
        <p:spPr>
          <a:xfrm>
            <a:off x="5330952" y="0"/>
            <a:ext cx="3813048" cy="5143500"/>
          </a:xfrm>
          <a:prstGeom prst="rect">
            <a:avLst/>
          </a:prstGeom>
        </p:spPr>
      </p:pic>
      <p:sp>
        <p:nvSpPr>
          <p:cNvPr id="16"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BCEE4082-1578-441C-8F7B-C9C107500892}" type="slidenum">
              <a:rPr lang="en-US" sz="900" dirty="0">
                <a:solidFill>
                  <a:srgbClr val="DDEBF7"/>
                </a:solidFill>
                <a:latin typeface="Tahoma"/>
                <a:cs typeface="Tahoma"/>
              </a:rPr>
              <a:t>14</a:t>
            </a:fld>
            <a:endParaRPr lang="en-US" sz="900" dirty="0"/>
          </a:p>
        </p:txBody>
      </p:sp>
    </p:spTree>
    <p:extLst>
      <p:ext uri="{BB962C8B-B14F-4D97-AF65-F5344CB8AC3E}">
        <p14:creationId xmlns:p14="http://schemas.microsoft.com/office/powerpoint/2010/main" val="987948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1">
            <a:extLst>
              <a:ext uri="{C183D7F6-B498-43B3-948B-1728B52AA6E4}">
                <adec:decorative xmlns:adec="http://schemas.microsoft.com/office/drawing/2017/decorative" val="1"/>
              </a:ext>
            </a:extLst>
          </p:cNvPr>
          <p:cNvSpPr/>
          <p:nvPr/>
        </p:nvSpPr>
        <p:spPr>
          <a:xfrm>
            <a:off x="571500" y="1627632"/>
            <a:ext cx="4524375" cy="9525"/>
          </a:xfrm>
          <a:prstGeom prst="rect">
            <a:avLst/>
          </a:prstGeom>
          <a:solidFill>
            <a:srgbClr val="D9E2EA"/>
          </a:solidFill>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571500" y="2350008"/>
            <a:ext cx="4524375" cy="9525"/>
          </a:xfrm>
          <a:prstGeom prst="rect">
            <a:avLst/>
          </a:prstGeom>
          <a:solidFill>
            <a:srgbClr val="D9E2EA"/>
          </a:solidFill>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571500" y="4009644"/>
            <a:ext cx="4524375" cy="9525"/>
          </a:xfrm>
          <a:prstGeom prst="rect">
            <a:avLst/>
          </a:prstGeom>
          <a:solidFill>
            <a:srgbClr val="D9E2EA"/>
          </a:solidFill>
          <a:ln/>
        </p:spPr>
        <p:txBody>
          <a:bodyPr/>
          <a:lstStyle/>
          <a:p>
            <a:endParaRPr lang="en-US"/>
          </a:p>
        </p:txBody>
      </p:sp>
      <p:sp>
        <p:nvSpPr>
          <p:cNvPr id="21" name="Rule 5">
            <a:extLst>
              <a:ext uri="{C183D7F6-B498-43B3-948B-1728B52AA6E4}">
                <adec:decorative xmlns:adec="http://schemas.microsoft.com/office/drawing/2017/decorative" val="1"/>
              </a:ext>
            </a:extLst>
          </p:cNvPr>
          <p:cNvSpPr/>
          <p:nvPr/>
        </p:nvSpPr>
        <p:spPr>
          <a:xfrm>
            <a:off x="571500" y="4736592"/>
            <a:ext cx="4524375" cy="9525"/>
          </a:xfrm>
          <a:prstGeom prst="rect">
            <a:avLst/>
          </a:prstGeom>
          <a:solidFill>
            <a:srgbClr val="D9E2EA"/>
          </a:solidFill>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571500" y="3282696"/>
            <a:ext cx="4524375" cy="9525"/>
          </a:xfrm>
          <a:prstGeom prst="rect">
            <a:avLst/>
          </a:prstGeom>
          <a:solidFill>
            <a:srgbClr val="D9E2EA"/>
          </a:solidFill>
          <a:ln/>
        </p:spPr>
        <p:txBody>
          <a:bodyPr/>
          <a:lstStyle/>
          <a:p>
            <a:endParaRPr lang="en-US"/>
          </a:p>
        </p:txBody>
      </p:sp>
      <p:sp>
        <p:nvSpPr>
          <p:cNvPr id="2" name="Text 0"/>
          <p:cNvSpPr>
            <a:spLocks noGrp="1"/>
          </p:cNvSpPr>
          <p:nvPr>
            <p:ph type="title"/>
          </p:nvPr>
        </p:nvSpPr>
        <p:spPr>
          <a:xfrm>
            <a:off x="571500" y="475488"/>
            <a:ext cx="4526280" cy="433388"/>
          </a:xfrm>
          <a:prstGeom prst="rect">
            <a:avLst/>
          </a:prstGeom>
          <a:noFill/>
          <a:ln/>
        </p:spPr>
        <p:txBody>
          <a:bodyPr wrap="square" lIns="12700" tIns="12700" rIns="12700" bIns="12700" rtlCol="0" anchor="t">
            <a:normAutofit lnSpcReduction="10000"/>
          </a:bodyPr>
          <a:lstStyle/>
          <a:p>
            <a:pPr marL="0" indent="0" algn="l">
              <a:buNone/>
            </a:pPr>
            <a:r>
              <a:rPr lang="en-US" sz="2850" b="1" kern="0" spc="-57" dirty="0">
                <a:solidFill>
                  <a:srgbClr val="004A98"/>
                </a:solidFill>
                <a:latin typeface="Tahoma"/>
                <a:ea typeface="Tahoma"/>
                <a:cs typeface="Tahoma"/>
              </a:rPr>
              <a:t>Traffic </a:t>
            </a:r>
            <a:endParaRPr lang="en-US" sz="2850" dirty="0"/>
          </a:p>
        </p:txBody>
      </p:sp>
      <p:sp>
        <p:nvSpPr>
          <p:cNvPr id="12" name="Shape 9">
            <a:extLst>
              <a:ext uri="{C183D7F6-B498-43B3-948B-1728B52AA6E4}">
                <adec:decorative xmlns:adec="http://schemas.microsoft.com/office/drawing/2017/decorative" val="1"/>
              </a:ext>
            </a:extLst>
          </p:cNvPr>
          <p:cNvSpPr/>
          <p:nvPr/>
        </p:nvSpPr>
        <p:spPr>
          <a:xfrm>
            <a:off x="5244084" y="0"/>
            <a:ext cx="86868" cy="5143500"/>
          </a:xfrm>
          <a:prstGeom prst="rect">
            <a:avLst/>
          </a:prstGeom>
          <a:solidFill>
            <a:srgbClr val="1D9ADD"/>
          </a:solidFill>
          <a:ln/>
        </p:spPr>
        <p:txBody>
          <a:bodyPr/>
          <a:lstStyle/>
          <a:p>
            <a:endParaRPr lang="en-US"/>
          </a:p>
        </p:txBody>
      </p:sp>
      <p:sp>
        <p:nvSpPr>
          <p:cNvPr id="18" name="Text 2">
            <a:extLst>
              <a:ext uri="{FF2B5EF4-FFF2-40B4-BE49-F238E27FC236}">
                <a16:creationId xmlns:a16="http://schemas.microsoft.com/office/drawing/2014/main" id="{7F28861A-9972-B228-99AF-6E22F6EC9B58}"/>
              </a:ext>
            </a:extLst>
          </p:cNvPr>
          <p:cNvSpPr txBox="1"/>
          <p:nvPr/>
        </p:nvSpPr>
        <p:spPr>
          <a:xfrm>
            <a:off x="571500" y="1787652"/>
            <a:ext cx="4658868" cy="429768"/>
          </a:xfrm>
          <a:prstGeom prst="rect">
            <a:avLst/>
          </a:prstGeom>
          <a:noFill/>
          <a:ln/>
        </p:spPr>
        <p:txBody>
          <a:bodyPr wrap="square" lIns="12700" tIns="12700" rIns="12700" bIns="12700" rtlCol="0" anchor="t">
            <a:normAutofit/>
          </a:bodyPr>
          <a:lstStyle/>
          <a:p>
            <a:pPr>
              <a:lnSpc>
                <a:spcPct val="116757"/>
              </a:lnSpc>
            </a:pPr>
            <a:r>
              <a:rPr lang="en-US" sz="1200" dirty="0">
                <a:solidFill>
                  <a:srgbClr val="050708"/>
                </a:solidFill>
                <a:latin typeface="Tahoma"/>
                <a:cs typeface="Tahoma"/>
              </a:rPr>
              <a:t>Living in a neighborhood with lower traffic is associated with:</a:t>
            </a:r>
            <a:endParaRPr lang="en-US" sz="1200" dirty="0"/>
          </a:p>
        </p:txBody>
      </p:sp>
      <p:sp>
        <p:nvSpPr>
          <p:cNvPr id="6" name="Text 4"/>
          <p:cNvSpPr txBox="1"/>
          <p:nvPr/>
        </p:nvSpPr>
        <p:spPr>
          <a:xfrm>
            <a:off x="571500" y="2564892"/>
            <a:ext cx="1348740" cy="534924"/>
          </a:xfrm>
          <a:prstGeom prst="rect">
            <a:avLst/>
          </a:prstGeom>
          <a:noFill/>
          <a:ln/>
        </p:spPr>
        <p:txBody>
          <a:bodyPr wrap="square" lIns="12700" tIns="12700" rIns="12700" bIns="12700" rtlCol="0" anchor="t">
            <a:normAutofit/>
          </a:bodyPr>
          <a:lstStyle/>
          <a:p>
            <a:pPr marL="0" indent="0" algn="l">
              <a:lnSpc>
                <a:spcPct val="71053"/>
              </a:lnSpc>
              <a:buNone/>
            </a:pPr>
            <a:r>
              <a:rPr lang="en-US" sz="4050" b="1" kern="0" spc="-122" dirty="0">
                <a:solidFill>
                  <a:srgbClr val="004A98"/>
                </a:solidFill>
                <a:latin typeface="Tahoma"/>
                <a:ea typeface="Tahoma"/>
                <a:cs typeface="Tahoma"/>
              </a:rPr>
              <a:t>15%</a:t>
            </a:r>
            <a:endParaRPr lang="en-US" sz="4050" dirty="0"/>
          </a:p>
        </p:txBody>
      </p:sp>
      <p:sp>
        <p:nvSpPr>
          <p:cNvPr id="20" name="Text 5">
            <a:extLst>
              <a:ext uri="{FF2B5EF4-FFF2-40B4-BE49-F238E27FC236}">
                <a16:creationId xmlns:a16="http://schemas.microsoft.com/office/drawing/2014/main" id="{4B189DD7-1E96-E37E-04F5-A7FE23F6E3E8}"/>
              </a:ext>
            </a:extLst>
          </p:cNvPr>
          <p:cNvSpPr txBox="1"/>
          <p:nvPr/>
        </p:nvSpPr>
        <p:spPr>
          <a:xfrm>
            <a:off x="1938528" y="2514600"/>
            <a:ext cx="2953512" cy="635508"/>
          </a:xfrm>
          <a:prstGeom prst="rect">
            <a:avLst/>
          </a:prstGeom>
          <a:noFill/>
          <a:ln/>
        </p:spPr>
        <p:txBody>
          <a:bodyPr wrap="square" lIns="12700" tIns="12700" rIns="12700" bIns="12700" rtlCol="0" anchor="t">
            <a:normAutofit/>
          </a:bodyPr>
          <a:lstStyle/>
          <a:p>
            <a:pPr marL="0" marR="0" lvl="0" indent="0" algn="l" defTabSz="457200" rtl="0" eaLnBrk="1" fontAlgn="auto" latinLnBrk="0" hangingPunct="1">
              <a:lnSpc>
                <a:spcPct val="116757"/>
              </a:lnSpc>
              <a:spcBef>
                <a:spcPts val="0"/>
              </a:spcBef>
              <a:spcAft>
                <a:spcPts val="0"/>
              </a:spcAft>
              <a:buClrTx/>
              <a:buSzTx/>
              <a:buFontTx/>
              <a:buNone/>
              <a:tabLst/>
              <a:defRPr/>
            </a:pPr>
            <a:r>
              <a:rPr lang="en-US" sz="1400" dirty="0">
                <a:solidFill>
                  <a:srgbClr val="050708"/>
                </a:solidFill>
                <a:latin typeface="Tahoma"/>
                <a:ea typeface="Tahoma"/>
                <a:cs typeface="Tahoma"/>
              </a:rPr>
              <a:t>r</a:t>
            </a:r>
            <a:r>
              <a:rPr kumimoji="0" lang="en-US" sz="1400" b="0" i="0" u="none" strike="noStrike" kern="600" cap="none" spc="0" normalizeH="0" baseline="0" noProof="0" dirty="0">
                <a:ln>
                  <a:noFill/>
                </a:ln>
                <a:solidFill>
                  <a:srgbClr val="050708"/>
                </a:solidFill>
                <a:effectLst/>
                <a:uLnTx/>
                <a:uFillTx/>
                <a:latin typeface="Tahoma"/>
                <a:ea typeface="Tahoma"/>
                <a:cs typeface="Tahoma"/>
              </a:rPr>
              <a:t>educed risk of cardiometabolic disease in adults aging with disability</a:t>
            </a:r>
            <a:endParaRPr kumimoji="0" lang="en-US" sz="1400" b="0" i="0" u="none" strike="noStrike" kern="600" cap="none" spc="0" normalizeH="0" baseline="0" noProof="0" dirty="0">
              <a:ln>
                <a:noFill/>
              </a:ln>
              <a:solidFill>
                <a:prstClr val="black"/>
              </a:solidFill>
              <a:effectLst/>
              <a:uLnTx/>
              <a:uFillTx/>
              <a:latin typeface="Tahoma"/>
              <a:ea typeface="+mn-ea"/>
              <a:cs typeface="+mn-cs"/>
            </a:endParaRPr>
          </a:p>
        </p:txBody>
      </p:sp>
      <p:sp>
        <p:nvSpPr>
          <p:cNvPr id="14" name="Text 2">
            <a:extLst>
              <a:ext uri="{FF2B5EF4-FFF2-40B4-BE49-F238E27FC236}">
                <a16:creationId xmlns:a16="http://schemas.microsoft.com/office/drawing/2014/main" id="{8D117091-4594-2C6A-F3B3-0B8BD0A74747}"/>
              </a:ext>
            </a:extLst>
          </p:cNvPr>
          <p:cNvSpPr txBox="1"/>
          <p:nvPr/>
        </p:nvSpPr>
        <p:spPr>
          <a:xfrm>
            <a:off x="571500" y="3442716"/>
            <a:ext cx="4658868" cy="429768"/>
          </a:xfrm>
          <a:prstGeom prst="rect">
            <a:avLst/>
          </a:prstGeom>
          <a:noFill/>
          <a:ln/>
        </p:spPr>
        <p:txBody>
          <a:bodyPr wrap="square" lIns="12700" tIns="12700" rIns="12700" bIns="12700" rtlCol="0" anchor="t">
            <a:normAutofit lnSpcReduction="10000"/>
          </a:bodyPr>
          <a:lstStyle/>
          <a:p>
            <a:pPr marL="0" indent="0" algn="l">
              <a:lnSpc>
                <a:spcPct val="116757"/>
              </a:lnSpc>
              <a:buNone/>
            </a:pPr>
            <a:r>
              <a:rPr lang="en-US" sz="1200" dirty="0">
                <a:solidFill>
                  <a:srgbClr val="050708"/>
                </a:solidFill>
                <a:latin typeface="Tahoma"/>
                <a:ea typeface="Tahoma"/>
                <a:cs typeface="Tahoma"/>
              </a:rPr>
              <a:t>People with disability often rely on public transit or pedestrian walkways, and may not have resources to own/adapt a vehicle </a:t>
            </a:r>
            <a:endParaRPr lang="en-US" sz="1200" dirty="0"/>
          </a:p>
        </p:txBody>
      </p:sp>
      <p:sp>
        <p:nvSpPr>
          <p:cNvPr id="4" name="Text 2"/>
          <p:cNvSpPr txBox="1"/>
          <p:nvPr/>
        </p:nvSpPr>
        <p:spPr>
          <a:xfrm>
            <a:off x="571500" y="4169664"/>
            <a:ext cx="4658868" cy="429768"/>
          </a:xfrm>
          <a:prstGeom prst="rect">
            <a:avLst/>
          </a:prstGeom>
          <a:noFill/>
          <a:ln/>
        </p:spPr>
        <p:txBody>
          <a:bodyPr wrap="square" lIns="12700" tIns="12700" rIns="12700" bIns="12700" rtlCol="0" anchor="t">
            <a:normAutofit lnSpcReduction="10000"/>
          </a:bodyPr>
          <a:lstStyle/>
          <a:p>
            <a:pPr marL="0" indent="0" algn="l">
              <a:lnSpc>
                <a:spcPct val="116757"/>
              </a:lnSpc>
              <a:buNone/>
            </a:pPr>
            <a:r>
              <a:rPr lang="en-US" sz="1200" dirty="0">
                <a:solidFill>
                  <a:srgbClr val="050708"/>
                </a:solidFill>
                <a:latin typeface="Tahoma"/>
                <a:ea typeface="Tahoma"/>
                <a:cs typeface="Tahoma"/>
              </a:rPr>
              <a:t>Heavy traffic is the top environmental factor in injuries and deaths among disabled pedestrians (Schwartz, 2022)</a:t>
            </a:r>
            <a:endParaRPr lang="en-US" sz="1200" dirty="0"/>
          </a:p>
        </p:txBody>
      </p:sp>
      <p:pic>
        <p:nvPicPr>
          <p:cNvPr id="16" name="Picture 15" descr="An older adult with white hair, seen from behind, rides a power wheelchair along a tree-lined path">
            <a:extLst>
              <a:ext uri="{FF2B5EF4-FFF2-40B4-BE49-F238E27FC236}">
                <a16:creationId xmlns:a16="http://schemas.microsoft.com/office/drawing/2014/main" id="{3FCC1C4F-2234-2D45-D95E-68DAA61DAD4D}"/>
              </a:ext>
            </a:extLst>
          </p:cNvPr>
          <p:cNvPicPr>
            <a:picLocks noChangeAspect="1"/>
          </p:cNvPicPr>
          <p:nvPr/>
        </p:nvPicPr>
        <p:blipFill>
          <a:blip r:embed="rId3"/>
          <a:srcRect l="30431" r="20108"/>
          <a:stretch>
            <a:fillRect/>
          </a:stretch>
        </p:blipFill>
        <p:spPr>
          <a:xfrm>
            <a:off x="5330952" y="0"/>
            <a:ext cx="3813048" cy="5143500"/>
          </a:xfrm>
          <a:prstGeom prst="rect">
            <a:avLst/>
          </a:prstGeom>
        </p:spPr>
      </p:pic>
      <p:sp>
        <p:nvSpPr>
          <p:cNvPr id="22"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E3C621B3-0C3D-44B9-972A-141E67A0FC22}" type="slidenum">
              <a:rPr lang="en-US" sz="900" dirty="0">
                <a:solidFill>
                  <a:srgbClr val="DDEBF7"/>
                </a:solidFill>
                <a:latin typeface="Tahoma"/>
                <a:cs typeface="Tahoma"/>
              </a:rPr>
              <a:t>15</a:t>
            </a:fld>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50708"/>
        </a:solidFill>
        <a:effectLst/>
      </p:bgPr>
    </p:bg>
    <p:spTree>
      <p:nvGrpSpPr>
        <p:cNvPr id="1" name=""/>
        <p:cNvGrpSpPr/>
        <p:nvPr/>
      </p:nvGrpSpPr>
      <p:grpSpPr>
        <a:xfrm>
          <a:off x="0" y="0"/>
          <a:ext cx="0" cy="0"/>
          <a:chOff x="0" y="0"/>
          <a:chExt cx="0" cy="0"/>
        </a:xfrm>
      </p:grpSpPr>
      <p:pic>
        <p:nvPicPr>
          <p:cNvPr id="2" name="Image 0">
            <a:extLst>
              <a:ext uri="{C183D7F6-B498-43B3-948B-1728B52AA6E4}">
                <adec:decorative xmlns:adec="http://schemas.microsoft.com/office/drawing/2017/decorative" val="1"/>
              </a:ext>
            </a:extLst>
          </p:cNvPr>
          <p:cNvPicPr>
            <a:picLocks noChangeAspect="1"/>
          </p:cNvPicPr>
          <p:nvPr/>
        </p:nvPicPr>
        <p:blipFill>
          <a:blip r:embed="rId3"/>
          <a:srcRect t="7802" b="7802"/>
          <a:stretch/>
        </p:blipFill>
        <p:spPr>
          <a:xfrm>
            <a:off x="0" y="0"/>
            <a:ext cx="9144000" cy="51435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1786"/>
            <a:ext cx="9144000" cy="5143500"/>
          </a:xfrm>
          <a:prstGeom prst="rect">
            <a:avLst/>
          </a:prstGeom>
          <a:gradFill rotWithShape="1">
            <a:gsLst>
              <a:gs pos="0">
                <a:srgbClr val="002854">
                  <a:alpha val="94000"/>
                </a:srgbClr>
              </a:gs>
              <a:gs pos="45000">
                <a:srgbClr val="002854">
                  <a:alpha val="82000"/>
                </a:srgbClr>
              </a:gs>
              <a:gs pos="80000">
                <a:srgbClr val="002854">
                  <a:alpha val="60000"/>
                </a:srgbClr>
              </a:gs>
              <a:gs pos="100000">
                <a:srgbClr val="002854">
                  <a:alpha val="45000"/>
                </a:srgbClr>
              </a:gs>
            </a:gsLst>
            <a:lin ang="0" scaled="0"/>
          </a:gradFill>
          <a:ln/>
        </p:spPr>
        <p:txBody>
          <a:bodyPr/>
          <a:lstStyle/>
          <a:p>
            <a:endParaRPr lang="en-US"/>
          </a:p>
        </p:txBody>
      </p:sp>
      <p:sp>
        <p:nvSpPr>
          <p:cNvPr id="4" name="Shape 1">
            <a:extLst>
              <a:ext uri="{C183D7F6-B498-43B3-948B-1728B52AA6E4}">
                <adec:decorative xmlns:adec="http://schemas.microsoft.com/office/drawing/2017/decorative" val="1"/>
              </a:ext>
            </a:extLst>
          </p:cNvPr>
          <p:cNvSpPr/>
          <p:nvPr/>
        </p:nvSpPr>
        <p:spPr>
          <a:xfrm>
            <a:off x="4286250" y="1121417"/>
            <a:ext cx="571500" cy="57150"/>
          </a:xfrm>
          <a:prstGeom prst="rect">
            <a:avLst/>
          </a:prstGeom>
          <a:solidFill>
            <a:srgbClr val="49AA31"/>
          </a:solidFill>
          <a:ln/>
        </p:spPr>
        <p:txBody>
          <a:bodyPr/>
          <a:lstStyle/>
          <a:p>
            <a:endParaRPr lang="en-US"/>
          </a:p>
        </p:txBody>
      </p:sp>
      <p:sp>
        <p:nvSpPr>
          <p:cNvPr id="5" name="Text 2"/>
          <p:cNvSpPr>
            <a:spLocks noGrp="1"/>
          </p:cNvSpPr>
          <p:nvPr>
            <p:ph type="title"/>
          </p:nvPr>
        </p:nvSpPr>
        <p:spPr>
          <a:xfrm>
            <a:off x="1200150" y="1194710"/>
            <a:ext cx="6743700" cy="2986286"/>
          </a:xfrm>
          <a:prstGeom prst="rect">
            <a:avLst/>
          </a:prstGeom>
          <a:noFill/>
          <a:ln/>
        </p:spPr>
        <p:txBody>
          <a:bodyPr wrap="square" lIns="12700" tIns="12700" rIns="12700" bIns="12700" rtlCol="0" anchor="t">
            <a:normAutofit/>
          </a:bodyPr>
          <a:lstStyle/>
          <a:p>
            <a:pPr marL="0" indent="0" algn="ctr">
              <a:buNone/>
            </a:pPr>
            <a:r>
              <a:rPr lang="en-US" sz="3600" b="1" kern="0" spc="-78" dirty="0">
                <a:solidFill>
                  <a:srgbClr val="FFFFFF"/>
                </a:solidFill>
                <a:latin typeface="Tahoma"/>
                <a:ea typeface="Tahoma"/>
                <a:cs typeface="Tahoma"/>
              </a:rPr>
              <a:t>Identifying neighborhood factors that could mitigate cardiometabolic risk is critical for supporting healthy aging with disability </a:t>
            </a:r>
            <a:endParaRPr lang="en-US" sz="3600" dirty="0">
              <a:latin typeface="Tahoma"/>
            </a:endParaRPr>
          </a:p>
        </p:txBody>
      </p:sp>
      <p:sp>
        <p:nvSpPr>
          <p:cNvPr id="6" name="Slide Number"/>
          <p:cNvSpPr txBox="1"/>
          <p:nvPr/>
        </p:nvSpPr>
        <p:spPr>
          <a:xfrm>
            <a:off x="8576311" y="4814888"/>
            <a:ext cx="320040" cy="157163"/>
          </a:xfrm>
          <a:prstGeom prst="rect">
            <a:avLst/>
          </a:prstGeom>
          <a:noFill/>
        </p:spPr>
        <p:txBody>
          <a:bodyPr wrap="none" lIns="12700" tIns="12700" rIns="12700" bIns="12700" rtlCol="0" anchor="t">
            <a:noAutofit/>
          </a:bodyPr>
          <a:lstStyle/>
          <a:p>
            <a:pPr marL="0" indent="0" algn="r">
              <a:buNone/>
            </a:pPr>
            <a:fld id="{A551C060-CDF7-4C80-A9BE-F60BF5C140CB}" type="slidenum">
              <a:rPr lang="en-US" sz="900" dirty="0">
                <a:solidFill>
                  <a:srgbClr val="DDEBF7"/>
                </a:solidFill>
                <a:latin typeface="Tahoma"/>
                <a:cs typeface="Tahoma"/>
              </a:rPr>
              <a:t>16</a:t>
            </a:fld>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3175" cap="flat" cmpd="sng" algn="ctr">
          <a:solidFill>
            <a:schemeClr val="phClr"/>
          </a:solidFill>
          <a:prstDash val="solid"/>
          <a:miter lim="800000"/>
        </a:ln>
        <a:ln w="6350" cap="flat" cmpd="sng" algn="ctr">
          <a:solidFill>
            <a:schemeClr val="phClr"/>
          </a:solidFill>
          <a:prstDash val="solid"/>
          <a:miter lim="800000"/>
        </a:ln>
        <a:ln w="9525"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9525"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793</Words>
  <Application>Microsoft Office PowerPoint</Application>
  <PresentationFormat>On-screen Show (16:9)</PresentationFormat>
  <Paragraphs>156</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Tahoma</vt:lpstr>
      <vt:lpstr>Office Theme</vt:lpstr>
      <vt:lpstr>Maintaining Health while Aging with Disability:</vt:lpstr>
      <vt:lpstr>Aging with disability</vt:lpstr>
      <vt:lpstr>Health disparities and disability</vt:lpstr>
      <vt:lpstr>Health behaviors and disability</vt:lpstr>
      <vt:lpstr>Neighborhoods and Incident Cardiometabolic Disease in People Aging with Disability</vt:lpstr>
      <vt:lpstr>Data source: Medicare claims</vt:lpstr>
      <vt:lpstr>Measures</vt:lpstr>
      <vt:lpstr>NaNDA’s neighborhood measures (ZCTA)</vt:lpstr>
      <vt:lpstr>Cox regression models</vt:lpstr>
      <vt:lpstr>Results: Cardiometabolic incidence (3-year)</vt:lpstr>
      <vt:lpstr>Results</vt:lpstr>
      <vt:lpstr>Implications</vt:lpstr>
      <vt:lpstr>Recreational facilities</vt:lpstr>
      <vt:lpstr>Grocery stores</vt:lpstr>
      <vt:lpstr>Traffic </vt:lpstr>
      <vt:lpstr>Identifying neighborhood factors that could mitigate cardiometabolic risk is critical for supporting healthy aging with disability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Maintaining Health while Aging with Disability: The Role of the Neighborhood Environment</dc:title>
  <dc:subject>PptxGenJS Presentation</dc:subject>
  <dc:creator/>
  <cp:lastModifiedBy/>
  <cp:revision>5</cp:revision>
  <dcterms:created xsi:type="dcterms:W3CDTF">2026-09-22T20:13:35Z</dcterms:created>
  <dcterms:modified xsi:type="dcterms:W3CDTF">2026-09-30T22:09:59Z</dcterms:modified>
</cp:coreProperties>
</file>