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autoCompressPictures="0">
  <p:sldMasterIdLst>
    <p:sldMasterId id="2147483662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0" r:id="rId21"/>
    <p:sldId id="276" r:id="rId22"/>
    <p:sldId id="277" r:id="rId23"/>
    <p:sldId id="278" r:id="rId24"/>
    <p:sldId id="275" r:id="rId25"/>
    <p:sldId id="279" r:id="rId26"/>
    <p:sldId id="281" r:id="rId27"/>
    <p:sldId id="282" r:id="rId28"/>
    <p:sldId id="283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828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maiz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E6F4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946950" y="1097425"/>
            <a:ext cx="7250100" cy="17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Tahoma"/>
              <a:buNone/>
              <a:defRPr sz="5200" b="0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946950" y="2910325"/>
            <a:ext cx="7250100" cy="1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708"/>
              </a:buClr>
              <a:buSzPts val="2000"/>
              <a:buFont typeface="Tahoma"/>
              <a:buNone/>
              <a:defRPr sz="2000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290508" y="44450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5C666D"/>
                </a:solidFill>
              </a:defRPr>
            </a:lvl1pPr>
            <a:lvl2pPr lvl="1">
              <a:buNone/>
              <a:defRPr>
                <a:solidFill>
                  <a:srgbClr val="5C666D"/>
                </a:solidFill>
              </a:defRPr>
            </a:lvl2pPr>
            <a:lvl3pPr lvl="2">
              <a:buNone/>
              <a:defRPr>
                <a:solidFill>
                  <a:srgbClr val="5C666D"/>
                </a:solidFill>
              </a:defRPr>
            </a:lvl3pPr>
            <a:lvl4pPr lvl="3">
              <a:buNone/>
              <a:defRPr>
                <a:solidFill>
                  <a:srgbClr val="5C666D"/>
                </a:solidFill>
              </a:defRPr>
            </a:lvl4pPr>
            <a:lvl5pPr lvl="4">
              <a:buNone/>
              <a:defRPr>
                <a:solidFill>
                  <a:srgbClr val="5C666D"/>
                </a:solidFill>
              </a:defRPr>
            </a:lvl5pPr>
            <a:lvl6pPr lvl="5">
              <a:buNone/>
              <a:defRPr>
                <a:solidFill>
                  <a:srgbClr val="5C666D"/>
                </a:solidFill>
              </a:defRPr>
            </a:lvl6pPr>
            <a:lvl7pPr lvl="6">
              <a:buNone/>
              <a:defRPr>
                <a:solidFill>
                  <a:srgbClr val="5C666D"/>
                </a:solidFill>
              </a:defRPr>
            </a:lvl7pPr>
            <a:lvl8pPr lvl="7">
              <a:buNone/>
              <a:defRPr>
                <a:solidFill>
                  <a:srgbClr val="5C666D"/>
                </a:solidFill>
              </a:defRPr>
            </a:lvl8pPr>
            <a:lvl9pPr lvl="8">
              <a:buNone/>
              <a:defRPr>
                <a:solidFill>
                  <a:srgbClr val="5C666D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46825" y="644113"/>
            <a:ext cx="3186000" cy="453300"/>
          </a:xfrm>
          <a:prstGeom prst="roundRect">
            <a:avLst>
              <a:gd name="adj" fmla="val 16667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6825" y="600000"/>
            <a:ext cx="1975867" cy="4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Dark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718350" y="1149888"/>
            <a:ext cx="7250100" cy="175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Tahoma"/>
              <a:buNone/>
              <a:defRPr sz="5200" b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718350" y="3010431"/>
            <a:ext cx="7250100" cy="1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000"/>
              <a:buFont typeface="Tahoma"/>
              <a:buNone/>
              <a:defRPr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290508" y="44450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6825" y="620000"/>
            <a:ext cx="2315151" cy="4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E6F4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D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800"/>
              <a:buChar char="●"/>
              <a:defRPr>
                <a:solidFill>
                  <a:srgbClr val="FFFEFE"/>
                </a:solidFill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600"/>
              <a:buChar char="○"/>
              <a:defRPr>
                <a:solidFill>
                  <a:srgbClr val="FFFEFE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EFE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EFE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EFE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EFE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EFE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EFE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EFE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EFE"/>
                </a:solidFill>
              </a:defRPr>
            </a:lvl1pPr>
            <a:lvl2pPr lvl="1">
              <a:buNone/>
              <a:defRPr>
                <a:solidFill>
                  <a:srgbClr val="FFFEFE"/>
                </a:solidFill>
              </a:defRPr>
            </a:lvl2pPr>
            <a:lvl3pPr lvl="2">
              <a:buNone/>
              <a:defRPr>
                <a:solidFill>
                  <a:srgbClr val="FFFEFE"/>
                </a:solidFill>
              </a:defRPr>
            </a:lvl3pPr>
            <a:lvl4pPr lvl="3">
              <a:buNone/>
              <a:defRPr>
                <a:solidFill>
                  <a:srgbClr val="FFFEFE"/>
                </a:solidFill>
              </a:defRPr>
            </a:lvl4pPr>
            <a:lvl5pPr lvl="4">
              <a:buNone/>
              <a:defRPr>
                <a:solidFill>
                  <a:srgbClr val="FFFEFE"/>
                </a:solidFill>
              </a:defRPr>
            </a:lvl5pPr>
            <a:lvl6pPr lvl="5">
              <a:buNone/>
              <a:defRPr>
                <a:solidFill>
                  <a:srgbClr val="FFFEFE"/>
                </a:solidFill>
              </a:defRPr>
            </a:lvl6pPr>
            <a:lvl7pPr lvl="6">
              <a:buNone/>
              <a:defRPr>
                <a:solidFill>
                  <a:srgbClr val="FFFEFE"/>
                </a:solidFill>
              </a:defRPr>
            </a:lvl7pPr>
            <a:lvl8pPr lvl="7">
              <a:buNone/>
              <a:defRPr>
                <a:solidFill>
                  <a:srgbClr val="FFFEFE"/>
                </a:solidFill>
              </a:defRPr>
            </a:lvl8pPr>
            <a:lvl9pPr lvl="8">
              <a:buNone/>
              <a:defRPr>
                <a:solidFill>
                  <a:srgbClr val="FFFEFE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311700" y="1251250"/>
            <a:ext cx="8520600" cy="28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412310" y="9769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311700" y="1259600"/>
            <a:ext cx="3999900" cy="30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832400" y="1259600"/>
            <a:ext cx="3999900" cy="30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412310" y="9769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412310" y="9769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1732050"/>
            <a:ext cx="4295700" cy="24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4295700" cy="11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/>
          <p:nvPr/>
        </p:nvSpPr>
        <p:spPr>
          <a:xfrm>
            <a:off x="412310" y="14341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5044267" y="1091842"/>
            <a:ext cx="3719100" cy="2949300"/>
            <a:chOff x="5044267" y="1091842"/>
            <a:chExt cx="3719100" cy="2949300"/>
          </a:xfrm>
        </p:grpSpPr>
        <p:sp>
          <p:nvSpPr>
            <p:cNvPr id="63" name="Google Shape;63;p11"/>
            <p:cNvSpPr/>
            <p:nvPr/>
          </p:nvSpPr>
          <p:spPr>
            <a:xfrm>
              <a:off x="5196667" y="1244242"/>
              <a:ext cx="3566700" cy="2796900"/>
            </a:xfrm>
            <a:prstGeom prst="rect">
              <a:avLst/>
            </a:prstGeom>
            <a:solidFill>
              <a:srgbClr val="1D9A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5044267" y="1091842"/>
              <a:ext cx="3566700" cy="279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5" name="Google Shape;65;p11"/>
            <p:cNvPicPr preferRelativeResize="0"/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6000549" y="2000313"/>
              <a:ext cx="1654150" cy="1284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311700" y="468625"/>
            <a:ext cx="5998800" cy="43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708"/>
              </a:buClr>
              <a:buSzPts val="4800"/>
              <a:buNone/>
              <a:defRPr sz="4800" b="1">
                <a:solidFill>
                  <a:srgbClr val="FFFFFF"/>
                </a:solidFill>
              </a:defRPr>
            </a:lvl1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hasCustomPrompt="1"/>
          </p:nvPr>
        </p:nvSpPr>
        <p:spPr>
          <a:xfrm>
            <a:off x="970200" y="1116425"/>
            <a:ext cx="7203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970200" y="3152225"/>
            <a:ext cx="7203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marL="914400" lvl="1" indent="-3302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6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35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0708"/>
              </a:buClr>
              <a:buSzPts val="3200"/>
              <a:buFont typeface="Tahoma"/>
              <a:buNone/>
              <a:defRPr sz="3200" b="1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50708"/>
              </a:buClr>
              <a:buSzPts val="1800"/>
              <a:buFont typeface="Tahoma"/>
              <a:buChar char="●"/>
              <a:defRPr sz="1800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302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600"/>
              <a:buFont typeface="Tahoma"/>
              <a:buChar char="○"/>
              <a:defRPr sz="1600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lvl="2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■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lvl="3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●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lvl="4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○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lvl="5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■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lvl="6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●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lvl="7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○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lvl="8" indent="-317500">
              <a:lnSpc>
                <a:spcPct val="130000"/>
              </a:lnSpc>
              <a:spcBef>
                <a:spcPts val="1600"/>
              </a:spcBef>
              <a:spcAft>
                <a:spcPts val="1600"/>
              </a:spcAft>
              <a:buClr>
                <a:srgbClr val="050708"/>
              </a:buClr>
              <a:buSzPts val="1400"/>
              <a:buFont typeface="Tahoma"/>
              <a:buChar char="■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rgbClr val="5C666D"/>
                </a:solidFill>
              </a:defRPr>
            </a:lvl1pPr>
            <a:lvl2pPr lvl="1" algn="r">
              <a:buNone/>
              <a:defRPr sz="1000">
                <a:solidFill>
                  <a:srgbClr val="5C666D"/>
                </a:solidFill>
              </a:defRPr>
            </a:lvl2pPr>
            <a:lvl3pPr lvl="2" algn="r">
              <a:buNone/>
              <a:defRPr sz="1000">
                <a:solidFill>
                  <a:srgbClr val="5C666D"/>
                </a:solidFill>
              </a:defRPr>
            </a:lvl3pPr>
            <a:lvl4pPr lvl="3" algn="r">
              <a:buNone/>
              <a:defRPr sz="1000">
                <a:solidFill>
                  <a:srgbClr val="5C666D"/>
                </a:solidFill>
              </a:defRPr>
            </a:lvl4pPr>
            <a:lvl5pPr lvl="4" algn="r">
              <a:buNone/>
              <a:defRPr sz="1000">
                <a:solidFill>
                  <a:srgbClr val="5C666D"/>
                </a:solidFill>
              </a:defRPr>
            </a:lvl5pPr>
            <a:lvl6pPr lvl="5" algn="r">
              <a:buNone/>
              <a:defRPr sz="1000">
                <a:solidFill>
                  <a:srgbClr val="5C666D"/>
                </a:solidFill>
              </a:defRPr>
            </a:lvl6pPr>
            <a:lvl7pPr lvl="6" algn="r">
              <a:buNone/>
              <a:defRPr sz="1000">
                <a:solidFill>
                  <a:srgbClr val="5C666D"/>
                </a:solidFill>
              </a:defRPr>
            </a:lvl7pPr>
            <a:lvl8pPr lvl="7" algn="r">
              <a:buNone/>
              <a:defRPr sz="1000">
                <a:solidFill>
                  <a:srgbClr val="5C666D"/>
                </a:solidFill>
              </a:defRPr>
            </a:lvl8pPr>
            <a:lvl9pPr lvl="8" algn="r">
              <a:buNone/>
              <a:defRPr sz="1000">
                <a:solidFill>
                  <a:srgbClr val="5C666D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-fair.org/fair-principle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om.com/share/5d852818a8ad422ca0f3e610914dc68d?sid=d7320bc0-09da-474e-a472-ec00445f0e0f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9.png"/><Relationship Id="rId9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Using Neighborhood Data in Aging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</a:rPr>
              <a:t>The National Neighborhood Data Archive (NaNDA)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</a:rPr>
              <a:t>GSA Annual Scientific Meeting Online Workshop Series 2026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</a:rPr>
              <a:t>Wednesday, October 7, 2026, 12:00 to 2:00 PM 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Funding &amp; support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dirty="0"/>
              <a:t>National Institute</a:t>
            </a:r>
            <a:r>
              <a:rPr lang="en-US" sz="1700" b="0" dirty="0"/>
              <a:t>s of Health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500" b="0" i="0" u="none" strike="noStrike" dirty="0">
                <a:solidFill>
                  <a:srgbClr val="050708"/>
                </a:solidFill>
                <a:effectLst/>
                <a:latin typeface="Tahoma" panose="020B0604030504040204" pitchFamily="34" charset="0"/>
              </a:rPr>
              <a:t>National Institute on Aging, R01AG109115</a:t>
            </a:r>
            <a:endParaRPr lang="en-US" sz="1500" b="0" dirty="0"/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500" b="0" dirty="0"/>
              <a:t>National Institute of Nursing Research</a:t>
            </a:r>
            <a:r>
              <a:rPr lang="en-US" sz="1500" b="0" dirty="0"/>
              <a:t>, U01NR020556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500" b="0" dirty="0"/>
              <a:t>National Institute on Minority Health and Health Disparities, U01NR020556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19778A-8D3F-C92D-2DD3-C9826DC5C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0110" y="3415702"/>
            <a:ext cx="8632190" cy="731520"/>
            <a:chOff x="200110" y="3415702"/>
            <a:chExt cx="8632190" cy="731520"/>
          </a:xfrm>
        </p:grpSpPr>
        <p:pic>
          <p:nvPicPr>
            <p:cNvPr id="4" name="Google Shape;76;p14" descr="National Institute of Nursing Research logo">
              <a:extLst>
                <a:ext uri="{FF2B5EF4-FFF2-40B4-BE49-F238E27FC236}">
                  <a16:creationId xmlns:a16="http://schemas.microsoft.com/office/drawing/2014/main" id="{02A8BCD3-88EB-1913-F024-EF7E09D0292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4605" y="3415702"/>
              <a:ext cx="2743200" cy="731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7;p14" descr="National Institute on Minority Health and Health Disparities logo">
              <a:extLst>
                <a:ext uri="{FF2B5EF4-FFF2-40B4-BE49-F238E27FC236}">
                  <a16:creationId xmlns:a16="http://schemas.microsoft.com/office/drawing/2014/main" id="{45C5B5E1-4997-DB0A-065B-4E6EC3A4FC0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89100" y="3415702"/>
              <a:ext cx="2743200" cy="731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Picture 2" descr="National Institute on Aging logo">
              <a:extLst>
                <a:ext uri="{FF2B5EF4-FFF2-40B4-BE49-F238E27FC236}">
                  <a16:creationId xmlns:a16="http://schemas.microsoft.com/office/drawing/2014/main" id="{DD1E4DC3-5D22-152C-CC08-36CC485196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110" y="3420274"/>
              <a:ext cx="2743200" cy="726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0" name="Picture 6" descr="Institute for Social Research, University of Michigan logo">
            <a:extLst>
              <a:ext uri="{FF2B5EF4-FFF2-40B4-BE49-F238E27FC236}">
                <a16:creationId xmlns:a16="http://schemas.microsoft.com/office/drawing/2014/main" id="{8E92AF2B-4C6F-B8B7-A757-15E506D66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2" y="22845"/>
            <a:ext cx="2128838" cy="212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143AA1D0-987A-489E-846C-27AEF85A8E8B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2</a:t>
            </a:fld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Your presenters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dirty="0"/>
              <a:t>Philippa Clarke </a:t>
            </a:r>
            <a:r>
              <a:rPr lang="en-US" sz="1000" dirty="0" err="1"/>
              <a:t>she|her</a:t>
            </a:r>
            <a:endParaRPr lang="en-US" sz="1500" b="1" dirty="0"/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dirty="0"/>
              <a:t>Research Professor, </a:t>
            </a:r>
            <a:r>
              <a:rPr sz="1300" b="0" dirty="0" err="1"/>
              <a:t>NaNDA</a:t>
            </a:r>
            <a:r>
              <a:rPr sz="1300" b="0" dirty="0"/>
              <a:t> </a:t>
            </a:r>
            <a:r>
              <a:rPr lang="en-US" sz="1300" b="0" dirty="0"/>
              <a:t>Co-</a:t>
            </a:r>
            <a:r>
              <a:rPr sz="1300" b="0" dirty="0"/>
              <a:t>Principal Investigator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lang="en-US" sz="1500" b="1" dirty="0"/>
              <a:t>Grace </a:t>
            </a:r>
            <a:r>
              <a:rPr lang="en-US" sz="1500" b="1" dirty="0" err="1"/>
              <a:t>Noppert</a:t>
            </a:r>
            <a:r>
              <a:rPr lang="en-US" sz="1500" b="1" dirty="0"/>
              <a:t> </a:t>
            </a:r>
            <a:r>
              <a:rPr lang="en-US" sz="1000" dirty="0" err="1"/>
              <a:t>she|her</a:t>
            </a:r>
            <a:endParaRPr lang="en-US" sz="1500" b="1" dirty="0"/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dirty="0"/>
              <a:t>Research Ass</a:t>
            </a:r>
            <a:r>
              <a:rPr lang="en-US" sz="1300" b="0" dirty="0"/>
              <a:t>ociate</a:t>
            </a:r>
            <a:r>
              <a:rPr sz="1300" b="0" dirty="0"/>
              <a:t> Professor, </a:t>
            </a:r>
            <a:r>
              <a:rPr sz="1300" b="0" dirty="0" err="1"/>
              <a:t>NaNDA</a:t>
            </a:r>
            <a:r>
              <a:rPr sz="1300" b="0" dirty="0"/>
              <a:t> Co-</a:t>
            </a:r>
            <a:r>
              <a:rPr lang="en-US" sz="1300" b="0" dirty="0"/>
              <a:t>Principal </a:t>
            </a:r>
            <a:r>
              <a:rPr sz="1300" b="0" dirty="0"/>
              <a:t>Investigator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lang="en-US" sz="1500" b="1" dirty="0"/>
              <a:t>Lindsay Gypin </a:t>
            </a:r>
            <a:r>
              <a:rPr lang="en-US" sz="1000" dirty="0" err="1"/>
              <a:t>she|her</a:t>
            </a:r>
            <a:endParaRPr lang="en-US" sz="1000" dirty="0"/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300" b="0" dirty="0"/>
              <a:t>Data Librarian and Senior Project Manager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/>
              <a:t>Robert Melendez</a:t>
            </a:r>
            <a:r>
              <a:rPr lang="en-US" sz="1500" b="1" dirty="0"/>
              <a:t> </a:t>
            </a:r>
            <a:r>
              <a:rPr lang="en-US" sz="1000" dirty="0" err="1"/>
              <a:t>he|him</a:t>
            </a:r>
            <a:endParaRPr sz="1500" b="1" dirty="0"/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300" dirty="0"/>
              <a:t>Data Analyst</a:t>
            </a:r>
            <a:endParaRPr sz="1300" b="0" dirty="0"/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1" dirty="0"/>
              <a:t>Will Clary</a:t>
            </a:r>
            <a:r>
              <a:rPr lang="en-US" sz="1500" b="1" dirty="0"/>
              <a:t> </a:t>
            </a:r>
            <a:r>
              <a:rPr lang="en-US" sz="1000" dirty="0" err="1"/>
              <a:t>he|him</a:t>
            </a:r>
            <a:endParaRPr sz="1000" b="1" dirty="0"/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0" dirty="0"/>
              <a:t>Research </a:t>
            </a:r>
            <a:r>
              <a:rPr lang="en-US" sz="1300" b="0" dirty="0"/>
              <a:t>Data A</a:t>
            </a:r>
            <a:r>
              <a:rPr sz="1300" b="0" dirty="0"/>
              <a:t>nalyst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9EE276-A23B-DDF7-7C9D-F0C9A675D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400" y="3398150"/>
            <a:ext cx="1359150" cy="1359150"/>
          </a:xfrm>
          <a:prstGeom prst="rect">
            <a:avLst/>
          </a:prstGeom>
        </p:spPr>
      </p:pic>
      <p:sp>
        <p:nvSpPr>
          <p:cNvPr id="9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CE6B2701-56C5-4802-A79C-68337361CF51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3</a:t>
            </a:fld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000197"/>
              </p:ext>
            </p:extLst>
          </p:nvPr>
        </p:nvGraphicFramePr>
        <p:xfrm>
          <a:off x="411480" y="1234440"/>
          <a:ext cx="8321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Time (ET)</a:t>
                      </a:r>
                    </a:p>
                  </a:txBody>
                  <a:tcPr marR="73152" marT="27432" marB="27432">
                    <a:solidFill>
                      <a:srgbClr val="004A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Tahoma"/>
                        </a:rPr>
                        <a:t>What we are doing</a:t>
                      </a:r>
                    </a:p>
                  </a:txBody>
                  <a:tcPr marR="73152" marT="27432" marB="27432">
                    <a:solidFill>
                      <a:srgbClr val="004A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Who</a:t>
                      </a:r>
                    </a:p>
                  </a:txBody>
                  <a:tcPr marR="73152" marT="27432" marB="27432">
                    <a:solidFill>
                      <a:srgbClr val="004A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50708"/>
                          </a:solidFill>
                          <a:latin typeface="Tahoma"/>
                        </a:rPr>
                        <a:t>12:00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50708"/>
                          </a:solidFill>
                          <a:latin typeface="Tahoma"/>
                        </a:rPr>
                        <a:t>Welcome and logistics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50708"/>
                          </a:solidFill>
                          <a:latin typeface="Tahoma"/>
                        </a:rPr>
                        <a:t>Philippa &amp; Lindsay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50708"/>
                          </a:solidFill>
                          <a:latin typeface="Tahoma"/>
                        </a:rPr>
                        <a:t>12:05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50708"/>
                          </a:solidFill>
                          <a:latin typeface="Tahoma"/>
                        </a:rPr>
                        <a:t>What is </a:t>
                      </a:r>
                      <a:r>
                        <a:rPr sz="1400" dirty="0" err="1">
                          <a:solidFill>
                            <a:srgbClr val="050708"/>
                          </a:solidFill>
                          <a:latin typeface="Tahoma"/>
                        </a:rPr>
                        <a:t>NaNDA</a:t>
                      </a:r>
                      <a:r>
                        <a:rPr sz="1400" dirty="0">
                          <a:solidFill>
                            <a:srgbClr val="050708"/>
                          </a:solidFill>
                          <a:latin typeface="Tahoma"/>
                        </a:rPr>
                        <a:t>? Overview and repository tour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50708"/>
                          </a:solidFill>
                          <a:latin typeface="Tahoma"/>
                        </a:rPr>
                        <a:t>Lindsay &amp; Philippa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50708"/>
                          </a:solidFill>
                          <a:latin typeface="Tahoma"/>
                        </a:rPr>
                        <a:t>12:30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050708"/>
                          </a:solidFill>
                          <a:latin typeface="Tahoma"/>
                        </a:rPr>
                        <a:t>NaNDA</a:t>
                      </a:r>
                      <a:r>
                        <a:rPr sz="1400" dirty="0">
                          <a:solidFill>
                            <a:srgbClr val="050708"/>
                          </a:solidFill>
                          <a:latin typeface="Tahoma"/>
                        </a:rPr>
                        <a:t> in action: examples from aging research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50708"/>
                          </a:solidFill>
                          <a:latin typeface="Tahoma"/>
                        </a:rPr>
                        <a:t>Philippa &amp; Grace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050708"/>
                          </a:solidFill>
                          <a:latin typeface="Tahoma"/>
                        </a:rPr>
                        <a:t>12:55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50708"/>
                          </a:solidFill>
                          <a:latin typeface="Tahoma"/>
                        </a:rPr>
                        <a:t>Choose your breakout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50708"/>
                          </a:solidFill>
                          <a:latin typeface="Tahoma"/>
                        </a:rPr>
                        <a:t>Lindsay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50708"/>
                          </a:solidFill>
                          <a:latin typeface="Tahoma"/>
                        </a:rPr>
                        <a:t>1:00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50708"/>
                          </a:solidFill>
                          <a:latin typeface="Tahoma"/>
                        </a:rPr>
                        <a:t>Breakouts: beginner and intermediate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50708"/>
                          </a:solidFill>
                          <a:latin typeface="Tahoma"/>
                        </a:rPr>
                        <a:t>All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50708"/>
                          </a:solidFill>
                          <a:latin typeface="Tahoma"/>
                        </a:rPr>
                        <a:t>1:45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50708"/>
                          </a:solidFill>
                          <a:latin typeface="Tahoma"/>
                        </a:rPr>
                        <a:t>Reconvene and report back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50708"/>
                          </a:solidFill>
                          <a:latin typeface="Tahoma"/>
                        </a:rPr>
                        <a:t>Grace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50708"/>
                          </a:solidFill>
                          <a:latin typeface="Tahoma"/>
                        </a:rPr>
                        <a:t>1:55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50708"/>
                          </a:solidFill>
                          <a:latin typeface="Tahoma"/>
                        </a:rPr>
                        <a:t>Wrap-up and resources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50708"/>
                          </a:solidFill>
                          <a:latin typeface="Tahoma"/>
                        </a:rPr>
                        <a:t>Lindsay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A61D69A7-DF70-4226-A937-8834A729F765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4</a:t>
            </a:fld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Housekeeping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/>
              <a:t>Captions are available. Turn them on with Show Captions in your Zoom toolbar.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 dirty="0"/>
              <a:t>Stay muted in the full group. You are welcome to unmute in your breakout.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 dirty="0"/>
              <a:t>Chat is for comments and links. Q&amp;A is for questions you want us to answer.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 dirty="0"/>
              <a:t>GSA Digital Programs is running the technical side. Message the host if something breaks.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 dirty="0"/>
              <a:t>You do not need to install anything. Everything today runs in a browser.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A09F0960-7B27-44A9-9F12-9227119D25E4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5</a:t>
            </a:fld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</a:t>
            </a:r>
            <a:r>
              <a:t>orkshop </a:t>
            </a:r>
            <a:r>
              <a:rPr dirty="0"/>
              <a:t>materials</a:t>
            </a:r>
          </a:p>
        </p:txBody>
      </p:sp>
      <p:sp>
        <p:nvSpPr>
          <p:cNvPr id="10" name="Everyone materials card"/>
          <p:cNvSpPr/>
          <p:nvPr/>
        </p:nvSpPr>
        <p:spPr>
          <a:xfrm>
            <a:off x="412310" y="1170000"/>
            <a:ext cx="2651207" cy="2120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3736" tIns="173736" rIns="173736" bIns="9144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004A98"/>
                </a:solidFill>
                <a:latin typeface="Tahoma"/>
                <a:cs typeface="Tahoma"/>
              </a:rPr>
              <a:t>EVERYONE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4A98"/>
                </a:solidFill>
                <a:latin typeface="Tahoma"/>
                <a:cs typeface="Tahoma"/>
              </a:rPr>
              <a:t>Presentation slides</a:t>
            </a:r>
          </a:p>
          <a:p>
            <a:pPr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103333"/>
                </a:solidFill>
                <a:latin typeface="Tahoma"/>
                <a:cs typeface="Tahoma"/>
              </a:rPr>
              <a:t>Slides from all of today's presentations.</a:t>
            </a:r>
          </a:p>
        </p:txBody>
      </p:sp>
      <p:sp>
        <p:nvSpPr>
          <p:cNvPr id="11" name="Everyone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2310" y="1170000"/>
            <a:ext cx="2651207" cy="4572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Beginner materials card"/>
          <p:cNvSpPr/>
          <p:nvPr/>
        </p:nvSpPr>
        <p:spPr>
          <a:xfrm>
            <a:off x="3246397" y="1170000"/>
            <a:ext cx="2651207" cy="2120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3736" tIns="173736" rIns="173736" bIns="9144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004A98"/>
                </a:solidFill>
                <a:latin typeface="Tahoma"/>
                <a:cs typeface="Tahoma"/>
              </a:rPr>
              <a:t>BEGINNER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4A98"/>
                </a:solidFill>
                <a:latin typeface="Tahoma"/>
                <a:cs typeface="Tahoma"/>
              </a:rPr>
              <a:t>Participant Handout</a:t>
            </a:r>
          </a:p>
          <a:p>
            <a:pPr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103333"/>
                </a:solidFill>
                <a:latin typeface="Tahoma"/>
                <a:cs typeface="Tahoma"/>
              </a:rPr>
              <a:t>For Choosing Your First NaNDA Dataset: your worksheet, plus the breakout's slide content. Scavenger hunt answers are at the bottom.</a:t>
            </a:r>
          </a:p>
        </p:txBody>
      </p:sp>
      <p:sp>
        <p:nvSpPr>
          <p:cNvPr id="13" name="Beginner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397" y="1170000"/>
            <a:ext cx="2651207" cy="4572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Intermediate materials card"/>
          <p:cNvSpPr/>
          <p:nvPr/>
        </p:nvSpPr>
        <p:spPr>
          <a:xfrm>
            <a:off x="6080484" y="1170000"/>
            <a:ext cx="2651207" cy="2120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3736" tIns="173736" rIns="173736" bIns="9144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004A98"/>
                </a:solidFill>
                <a:latin typeface="Tahoma"/>
                <a:cs typeface="Tahoma"/>
              </a:rPr>
              <a:t>INTERMEDIATE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4A98"/>
                </a:solidFill>
                <a:latin typeface="Tahoma"/>
                <a:cs typeface="Tahoma"/>
              </a:rPr>
              <a:t>Practice data and code</a:t>
            </a:r>
          </a:p>
          <a:p>
            <a:pPr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103333"/>
                </a:solidFill>
                <a:latin typeface="Tahoma"/>
                <a:cs typeface="Tahoma"/>
              </a:rPr>
              <a:t>For Linking NaNDA with Your Data: practice data and sample merge code in Stata, R, and Python.</a:t>
            </a:r>
          </a:p>
        </p:txBody>
      </p:sp>
      <p:sp>
        <p:nvSpPr>
          <p:cNvPr id="15" name="Intermediate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484" y="1170000"/>
            <a:ext cx="2651207" cy="4572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Links in chat"/>
          <p:cNvSpPr/>
          <p:nvPr/>
        </p:nvSpPr>
        <p:spPr>
          <a:xfrm>
            <a:off x="412310" y="3420000"/>
            <a:ext cx="8319380" cy="5400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wrap="square" lIns="173736" tIns="0" rIns="173736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ahoma"/>
                <a:cs typeface="Tahoma"/>
              </a:rPr>
              <a:t>Available through the workshop DOI. The link is in the chat.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D8456AFF-6F96-4B36-A6F9-2655AB604378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6</a:t>
            </a:fld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685800"/>
            <a:ext cx="5532120" cy="3566160"/>
          </a:xfrm>
        </p:spPr>
        <p:txBody>
          <a:bodyPr/>
          <a:lstStyle/>
          <a:p>
            <a:r>
              <a:rPr sz="3000" dirty="0">
                <a:solidFill>
                  <a:srgbClr val="FFFFFF"/>
                </a:solidFill>
              </a:rPr>
              <a:t>In the chat: what do you wish you could measure about the neighborhoods?</a:t>
            </a:r>
          </a:p>
        </p:txBody>
      </p:sp>
      <p:pic>
        <p:nvPicPr>
          <p:cNvPr id="3" name="Picture 2" descr="Frankie, the NaNDA globe mascot, think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240280" cy="2240280"/>
          </a:xfrm>
          <a:prstGeom prst="rect">
            <a:avLst/>
          </a:prstGeom>
        </p:spPr>
      </p:pic>
      <p:sp>
        <p:nvSpPr>
          <p:cNvPr id="4" name="Slide Number"/>
          <p:cNvSpPr txBox="1"/>
          <p:nvPr/>
        </p:nvSpPr>
        <p:spPr>
          <a:xfrm>
            <a:off x="8420000" y="4640000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26C778D5-A0AE-4AE1-955E-4E344087A89A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7</a:t>
            </a:fld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 2:00 you will be able 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dirty="0"/>
              <a:t>Identify which </a:t>
            </a:r>
            <a:r>
              <a:rPr sz="1700" dirty="0" err="1"/>
              <a:t>NaNDA</a:t>
            </a:r>
            <a:r>
              <a:rPr sz="1700" dirty="0"/>
              <a:t> datasets </a:t>
            </a:r>
            <a:r>
              <a:rPr sz="1700" b="0" dirty="0"/>
              <a:t>fit your research question, by geographic level, years covered, and topic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0" dirty="0"/>
              <a:t>Link </a:t>
            </a:r>
            <a:r>
              <a:rPr sz="1700" b="0" dirty="0" err="1"/>
              <a:t>NaNDA</a:t>
            </a:r>
            <a:r>
              <a:rPr sz="1700" b="0" dirty="0"/>
              <a:t> to your own data using geographic identifiers, including when to use tract_fips10 or tract_fips20, and how ZIP codes differ from ZCTAs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0" dirty="0"/>
              <a:t>Frame a research question that combines neighborhood measures with your individual-level aging outcomes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0BF734AC-E2F6-4965-A868-FBF4012B3D27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8</a:t>
            </a:fld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Two </a:t>
            </a:r>
            <a:r>
              <a:rPr lang="en-US" dirty="0"/>
              <a:t>options</a:t>
            </a:r>
            <a:r>
              <a:rPr dirty="0"/>
              <a:t>. You pick one at 12:55.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/>
              <a:t>Beginner: Choosing Your First </a:t>
            </a:r>
            <a:r>
              <a:rPr sz="1600" b="1" dirty="0" err="1"/>
              <a:t>NaNDA</a:t>
            </a:r>
            <a:r>
              <a:rPr sz="1600" b="1" dirty="0"/>
              <a:t> Dataset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 dirty="0"/>
              <a:t>Census tracts, ZCTAs, and which matches your data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 dirty="0"/>
              <a:t>Matching </a:t>
            </a:r>
            <a:r>
              <a:rPr sz="1400" b="0" dirty="0" err="1"/>
              <a:t>NaNDA</a:t>
            </a:r>
            <a:r>
              <a:rPr sz="1400" b="0" dirty="0"/>
              <a:t> years to your collection period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 dirty="0"/>
              <a:t>Reading a codebook and finding the identifier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 dirty="0"/>
              <a:t>Hands-on time in the repository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/>
              <a:t>Intermediate: Linking </a:t>
            </a:r>
            <a:r>
              <a:rPr sz="1600" b="1" dirty="0" err="1"/>
              <a:t>NaNDA</a:t>
            </a:r>
            <a:r>
              <a:rPr sz="1600" b="1" dirty="0"/>
              <a:t> with Your Data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 dirty="0"/>
              <a:t>Identifiers and the pitfalls that break a merge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 dirty="0"/>
              <a:t>When you need a crosswalk, and which one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 dirty="0"/>
              <a:t>A live merge you can follow along with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 dirty="0"/>
              <a:t>Drafting a research question that uses both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420841AF-276D-473F-BE8C-2D35B3F58AF0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9</a:t>
            </a:fld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>
            <a:spLocks noGrp="1"/>
          </p:cNvSpPr>
          <p:nvPr>
            <p:ph type="title"/>
          </p:nvPr>
        </p:nvSpPr>
        <p:spPr>
          <a:xfrm>
            <a:off x="571500" y="1571625"/>
            <a:ext cx="4709160" cy="153918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78621"/>
              </a:lnSpc>
              <a:buNone/>
            </a:pPr>
            <a:r>
              <a:rPr lang="en-US" sz="6300" b="1" kern="0" spc="-150" dirty="0" err="1">
                <a:solidFill>
                  <a:srgbClr val="FFFFFF"/>
                </a:solidFill>
                <a:latin typeface="Tahoma" pitchFamily="34" charset="0"/>
              </a:rPr>
              <a:t>NaNDA</a:t>
            </a:r>
            <a:r>
              <a:rPr lang="en-US" sz="6300" b="1" kern="0" spc="-150" dirty="0">
                <a:solidFill>
                  <a:srgbClr val="FFFFFF"/>
                </a:solidFill>
                <a:latin typeface="Tahoma" pitchFamily="34" charset="0"/>
              </a:rPr>
              <a:t> overview</a:t>
            </a:r>
            <a:endParaRPr lang="en-US" sz="6300" dirty="0"/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3000" y="-1047750"/>
            <a:ext cx="5238750" cy="5238750"/>
          </a:xfrm>
          <a:prstGeom prst="ellipse">
            <a:avLst/>
          </a:prstGeom>
          <a:solidFill>
            <a:srgbClr val="0A5BB0"/>
          </a:solidFill>
          <a:ln/>
        </p:spPr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3000" y="666750"/>
            <a:ext cx="3619500" cy="3619500"/>
          </a:xfrm>
          <a:prstGeom prst="ellipse">
            <a:avLst/>
          </a:prstGeom>
          <a:solidFill>
            <a:srgbClr val="1D9ADD"/>
          </a:solidFill>
          <a:ln/>
        </p:spPr>
      </p:sp>
      <p:pic>
        <p:nvPicPr>
          <p:cNvPr id="4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5875" y="952500"/>
            <a:ext cx="3333750" cy="3333750"/>
          </a:xfrm>
          <a:prstGeom prst="rect">
            <a:avLst/>
          </a:prstGeom>
        </p:spPr>
      </p:pic>
      <p:pic>
        <p:nvPicPr>
          <p:cNvPr id="5" name="NaNDA" descr="NaNDA, National Neighborhood Data Archive,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2205112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263206"/>
            <a:ext cx="4709160" cy="56376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925"/>
              </a:lnSpc>
              <a:buNone/>
            </a:pPr>
            <a:r>
              <a:rPr lang="en-US" sz="1650" dirty="0">
                <a:solidFill>
                  <a:srgbClr val="DDEBF7"/>
                </a:solidFill>
                <a:latin typeface="Tahoma" pitchFamily="34" charset="0"/>
              </a:rPr>
              <a:t>An overview of the National Neighborhood Data Archive, and a tour of the repository</a:t>
            </a:r>
            <a:endParaRPr lang="en-US" sz="1650" dirty="0"/>
          </a:p>
        </p:txBody>
      </p:sp>
      <p:sp>
        <p:nvSpPr>
          <p:cNvPr id="8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4105275"/>
            <a:ext cx="4286250" cy="14288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4505325"/>
            <a:ext cx="4714875" cy="1809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DEBF7"/>
                </a:solidFill>
                <a:latin typeface="Tahoma" pitchFamily="34" charset="0"/>
              </a:rPr>
              <a:t>GSA Annual Scientific Meeting Online Workshop Series 2026, October 7, 2026</a:t>
            </a:r>
            <a:endParaRPr lang="en-US" sz="1050" dirty="0"/>
          </a:p>
        </p:txBody>
      </p:sp>
      <p:sp>
        <p:nvSpPr>
          <p:cNvPr id="11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022F1562-271C-4978-8EFB-015EEBB77C1D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10</a:t>
            </a:fld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71500" y="571500"/>
            <a:ext cx="2158365" cy="1390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82759"/>
              </a:lnSpc>
              <a:buNone/>
            </a:pPr>
            <a:r>
              <a:rPr lang="en-US" sz="3600" b="1" kern="0" spc="-75" dirty="0">
                <a:solidFill>
                  <a:srgbClr val="004A98"/>
                </a:solidFill>
                <a:latin typeface="Tahoma" pitchFamily="34" charset="0"/>
              </a:rPr>
              <a:t>What we'll cover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4610100"/>
            <a:ext cx="571500" cy="5715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19500" y="1452563"/>
            <a:ext cx="4953000" cy="9525"/>
          </a:xfrm>
          <a:prstGeom prst="rect">
            <a:avLst/>
          </a:prstGeom>
          <a:solidFill>
            <a:srgbClr val="D5E1EC"/>
          </a:solidFill>
          <a:ln/>
        </p:spPr>
      </p:sp>
      <p:sp>
        <p:nvSpPr>
          <p:cNvPr id="6" name="Text 4"/>
          <p:cNvSpPr/>
          <p:nvPr/>
        </p:nvSpPr>
        <p:spPr>
          <a:xfrm>
            <a:off x="3619500" y="762000"/>
            <a:ext cx="466725" cy="342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D9ADD"/>
                </a:solidFill>
                <a:latin typeface="Tahoma" pitchFamily="34" charset="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276725" y="833438"/>
            <a:ext cx="4424649" cy="495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dirty="0">
                <a:solidFill>
                  <a:srgbClr val="103333"/>
                </a:solidFill>
                <a:latin typeface="Tahoma" pitchFamily="34" charset="0"/>
              </a:rPr>
              <a:t>Why neighborhood context matters for aging research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19500" y="2071688"/>
            <a:ext cx="4953000" cy="9525"/>
          </a:xfrm>
          <a:prstGeom prst="rect">
            <a:avLst/>
          </a:prstGeom>
          <a:solidFill>
            <a:srgbClr val="D5E1EC"/>
          </a:solidFill>
          <a:ln/>
        </p:spPr>
      </p:sp>
      <p:sp>
        <p:nvSpPr>
          <p:cNvPr id="9" name="Text 7"/>
          <p:cNvSpPr/>
          <p:nvPr/>
        </p:nvSpPr>
        <p:spPr>
          <a:xfrm>
            <a:off x="3619500" y="1604963"/>
            <a:ext cx="466725" cy="342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D9ADD"/>
                </a:solidFill>
                <a:latin typeface="Tahoma" pitchFamily="34" charset="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276725" y="1676400"/>
            <a:ext cx="3026361" cy="2571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dirty="0">
                <a:solidFill>
                  <a:srgbClr val="103333"/>
                </a:solidFill>
                <a:latin typeface="Tahoma" pitchFamily="34" charset="0"/>
              </a:rPr>
              <a:t>What NaNDA is, and what is in it</a:t>
            </a:r>
            <a:endParaRPr lang="en-US" sz="15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19500" y="2914650"/>
            <a:ext cx="4953000" cy="9525"/>
          </a:xfrm>
          <a:prstGeom prst="rect">
            <a:avLst/>
          </a:prstGeom>
          <a:solidFill>
            <a:srgbClr val="D5E1EC"/>
          </a:solidFill>
          <a:ln/>
        </p:spPr>
      </p:sp>
      <p:sp>
        <p:nvSpPr>
          <p:cNvPr id="12" name="Text 10"/>
          <p:cNvSpPr/>
          <p:nvPr/>
        </p:nvSpPr>
        <p:spPr>
          <a:xfrm>
            <a:off x="3619500" y="2224088"/>
            <a:ext cx="466725" cy="342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D9ADD"/>
                </a:solidFill>
                <a:latin typeface="Tahoma" pitchFamily="34" charset="0"/>
              </a:rPr>
              <a:t>03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276725" y="2295525"/>
            <a:ext cx="4424649" cy="495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dirty="0">
                <a:solidFill>
                  <a:srgbClr val="103333"/>
                </a:solidFill>
                <a:latin typeface="Tahoma" pitchFamily="34" charset="0"/>
              </a:rPr>
              <a:t>Which NaNDA datasets are already linked to the studies you use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19500" y="3533775"/>
            <a:ext cx="4953000" cy="9525"/>
          </a:xfrm>
          <a:prstGeom prst="rect">
            <a:avLst/>
          </a:prstGeom>
          <a:solidFill>
            <a:srgbClr val="D5E1EC"/>
          </a:solidFill>
          <a:ln/>
        </p:spPr>
      </p:sp>
      <p:sp>
        <p:nvSpPr>
          <p:cNvPr id="15" name="Text 13"/>
          <p:cNvSpPr/>
          <p:nvPr/>
        </p:nvSpPr>
        <p:spPr>
          <a:xfrm>
            <a:off x="3619500" y="3067050"/>
            <a:ext cx="466725" cy="342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D9ADD"/>
                </a:solidFill>
                <a:latin typeface="Tahoma" pitchFamily="34" charset="0"/>
              </a:rPr>
              <a:t>04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276725" y="3138488"/>
            <a:ext cx="3748981" cy="2571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dirty="0">
                <a:solidFill>
                  <a:srgbClr val="103333"/>
                </a:solidFill>
                <a:latin typeface="Tahoma" pitchFamily="34" charset="0"/>
              </a:rPr>
              <a:t>Geography: the part that trips people up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9500" y="3686175"/>
            <a:ext cx="466725" cy="342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A98"/>
                </a:solidFill>
                <a:latin typeface="Tahoma" pitchFamily="34" charset="0"/>
              </a:rPr>
              <a:t>05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276725" y="3757613"/>
            <a:ext cx="2894573" cy="2571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b="1" dirty="0">
                <a:solidFill>
                  <a:srgbClr val="103333"/>
                </a:solidFill>
                <a:latin typeface="Tahoma" pitchFamily="34" charset="0"/>
              </a:rPr>
              <a:t>A live tour of the repository</a:t>
            </a:r>
            <a:endParaRPr lang="en-US" sz="1500" dirty="0"/>
          </a:p>
        </p:txBody>
      </p:sp>
      <p:sp>
        <p:nvSpPr>
          <p:cNvPr id="19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5A3FFAFA-D4AF-41FA-909C-1F116BA67F30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11</a:t>
            </a:fld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4572000" y="571500"/>
            <a:ext cx="4169569" cy="933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82759"/>
              </a:lnSpc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Tahoma" pitchFamily="34" charset="0"/>
              </a:rPr>
              <a:t>What is your neighborhood?</a:t>
            </a:r>
            <a:endParaRPr lang="en-US" sz="3600" dirty="0"/>
          </a:p>
        </p:txBody>
      </p:sp>
      <p:pic>
        <p:nvPicPr>
          <p:cNvPr id="2" name="Black-and-white portrait of Fred Rogers of Mister Rogers' Ne" descr="Black-and-white portrait of Fred Rogers of Mister Rogers' Neighborhood, smiling and leaning on the model Neighborhood Trolley"/>
          <p:cNvPicPr>
            <a:picLocks noChangeAspect="1"/>
          </p:cNvPicPr>
          <p:nvPr/>
        </p:nvPicPr>
        <p:blipFill>
          <a:blip r:embed="rId3"/>
          <a:srcRect l="8776" r="8776"/>
          <a:stretch/>
        </p:blipFill>
        <p:spPr>
          <a:xfrm>
            <a:off x="0" y="0"/>
            <a:ext cx="3905250" cy="5143500"/>
          </a:xfrm>
          <a:prstGeom prst="rect">
            <a:avLst/>
          </a:prstGeom>
        </p:spPr>
      </p:pic>
      <p:sp>
        <p:nvSpPr>
          <p:cNvPr id="3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5250" y="0"/>
            <a:ext cx="66675" cy="514350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0" y="1695450"/>
            <a:ext cx="4452938" cy="2809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3774"/>
              </a:lnSpc>
              <a:buNone/>
            </a:pPr>
            <a:r>
              <a:rPr lang="en-US" sz="1650" dirty="0">
                <a:solidFill>
                  <a:srgbClr val="DDEBF7"/>
                </a:solidFill>
                <a:latin typeface="Tahoma" pitchFamily="34" charset="0"/>
              </a:rPr>
              <a:t>A few blocks.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572000" y="2062163"/>
            <a:ext cx="4452938" cy="2809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3774"/>
              </a:lnSpc>
              <a:buNone/>
            </a:pPr>
            <a:r>
              <a:rPr lang="en-US" sz="1650" dirty="0">
                <a:solidFill>
                  <a:srgbClr val="DDEBF7"/>
                </a:solidFill>
                <a:latin typeface="Tahoma" pitchFamily="34" charset="0"/>
              </a:rPr>
              <a:t>A school catchment.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572000" y="2428875"/>
            <a:ext cx="4169569" cy="542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3774"/>
              </a:lnSpc>
              <a:buNone/>
            </a:pPr>
            <a:r>
              <a:rPr lang="en-US" sz="1650" dirty="0">
                <a:solidFill>
                  <a:srgbClr val="DDEBF7"/>
                </a:solidFill>
                <a:latin typeface="Tahoma" pitchFamily="34" charset="0"/>
              </a:rPr>
              <a:t>A census tract, because that is what the data came in.</a:t>
            </a:r>
            <a:endParaRPr lang="en-US" sz="165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3162300"/>
            <a:ext cx="4048125" cy="815281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9" name="Text 6"/>
          <p:cNvSpPr/>
          <p:nvPr/>
        </p:nvSpPr>
        <p:spPr>
          <a:xfrm>
            <a:off x="4743450" y="3295650"/>
            <a:ext cx="3826669" cy="56763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931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</a:rPr>
              <a:t>Your choice changes your findings</a:t>
            </a:r>
            <a:endParaRPr lang="en-US" sz="1800" dirty="0"/>
          </a:p>
        </p:txBody>
      </p:sp>
      <p:sp>
        <p:nvSpPr>
          <p:cNvPr id="10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12919A55-0FE4-48AB-B7AE-58AEACEC890F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12</a:t>
            </a:fld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71500" y="666750"/>
            <a:ext cx="4086225" cy="1809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050" b="1" kern="0" spc="113" dirty="0">
                <a:solidFill>
                  <a:srgbClr val="004A98"/>
                </a:solidFill>
                <a:latin typeface="Tahoma" pitchFamily="34" charset="0"/>
              </a:rPr>
              <a:t>SOCIAL DETERMINANTS OF HEALTH</a:t>
            </a:r>
            <a:endParaRPr lang="en-US" sz="1050" dirty="0"/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7750" y="0"/>
            <a:ext cx="4286250" cy="514350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1057275"/>
            <a:ext cx="3826193" cy="10430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3091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</a:rPr>
              <a:t>Neighborhood and built environment is one of the five domains.</a:t>
            </a:r>
            <a:endParaRPr lang="en-US" sz="24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2309887"/>
            <a:ext cx="3714750" cy="14288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2495625"/>
            <a:ext cx="3826193" cy="5143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500" dirty="0">
                <a:solidFill>
                  <a:srgbClr val="103333"/>
                </a:solidFill>
                <a:latin typeface="Tahoma" pitchFamily="34" charset="0"/>
              </a:rPr>
              <a:t>It is also the one most researchers have the least data on.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76875" y="619125"/>
            <a:ext cx="3048000" cy="3352800"/>
          </a:xfrm>
          <a:prstGeom prst="rect">
            <a:avLst/>
          </a:prstGeom>
          <a:ln/>
          <a:effectLst>
            <a:outerShdw blurRad="285750" dist="142875" dir="5400000" algn="bl" rotWithShape="0">
              <a:srgbClr val="004A98">
                <a:alpha val="18000"/>
              </a:srgbClr>
            </a:outerShdw>
          </a:effectLst>
        </p:spPr>
      </p:sp>
      <p:pic>
        <p:nvPicPr>
          <p:cNvPr id="8" name="Healthy People 2030 graphic showing the five domains of the " descr="Healthy People 2030 graphic showing the five domains of the social determinants of health: economic stability, education access and quality, health care access and quality, neighborhood and built environment, and social and community context"/>
          <p:cNvPicPr>
            <a:picLocks noChangeAspect="1"/>
          </p:cNvPicPr>
          <p:nvPr/>
        </p:nvPicPr>
        <p:blipFill>
          <a:blip r:embed="rId3"/>
          <a:srcRect t="-50" b="-50"/>
          <a:stretch/>
        </p:blipFill>
        <p:spPr>
          <a:xfrm>
            <a:off x="5039239" y="375344"/>
            <a:ext cx="3856407" cy="4242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4576763"/>
            <a:ext cx="3896239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B8A"/>
                </a:solidFill>
                <a:latin typeface="Tahoma" pitchFamily="34" charset="0"/>
              </a:rPr>
              <a:t>Healthy People 2030, U.S. Department of Health and Human Services.</a:t>
            </a:r>
            <a:endParaRPr lang="en-US" sz="900" dirty="0"/>
          </a:p>
        </p:txBody>
      </p:sp>
      <p:sp>
        <p:nvSpPr>
          <p:cNvPr id="10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A18CD298-B2A3-4C39-A166-347BB99701A9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13</a:t>
            </a:fld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1500" y="476250"/>
            <a:ext cx="6547537" cy="48101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004A98"/>
                </a:solidFill>
                <a:latin typeface="Tahoma" pitchFamily="34" charset="0"/>
              </a:rPr>
              <a:t>What we mean by neighborhood</a:t>
            </a:r>
            <a:endParaRPr lang="en-US" sz="30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50" y="1333500"/>
            <a:ext cx="3886200" cy="328612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333500"/>
            <a:ext cx="3886200" cy="557213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485900"/>
            <a:ext cx="3545586" cy="2714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Tahoma" pitchFamily="34" charset="0"/>
              </a:rPr>
              <a:t>Built and physical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00100" y="2081213"/>
            <a:ext cx="19399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1D9ADD"/>
                </a:solidFill>
                <a:latin typeface="Tahoma" pitchFamily="34" charset="0"/>
              </a:rPr>
              <a:t>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248" y="2085975"/>
            <a:ext cx="2478977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dirty="0">
                <a:solidFill>
                  <a:srgbClr val="103333"/>
                </a:solidFill>
                <a:latin typeface="Tahoma" pitchFamily="34" charset="0"/>
              </a:rPr>
              <a:t>Walkability, public transit, traffic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100" y="2437433"/>
            <a:ext cx="19399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1D9ADD"/>
                </a:solidFill>
                <a:latin typeface="Tahoma" pitchFamily="34" charset="0"/>
              </a:rPr>
              <a:t>•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248" y="2442195"/>
            <a:ext cx="2608817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dirty="0">
                <a:solidFill>
                  <a:srgbClr val="103333"/>
                </a:solidFill>
                <a:latin typeface="Tahoma" pitchFamily="34" charset="0"/>
              </a:rPr>
              <a:t>Food stores, parks and recreation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0100" y="2793653"/>
            <a:ext cx="19399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1D9ADD"/>
                </a:solidFill>
                <a:latin typeface="Tahoma" pitchFamily="34" charset="0"/>
              </a:rPr>
              <a:t>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248" y="2798415"/>
            <a:ext cx="18298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dirty="0">
                <a:solidFill>
                  <a:srgbClr val="103333"/>
                </a:solidFill>
                <a:latin typeface="Tahoma" pitchFamily="34" charset="0"/>
              </a:rPr>
              <a:t>Healthcare, hospitals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0100" y="3149873"/>
            <a:ext cx="19399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1D9ADD"/>
                </a:solidFill>
                <a:latin typeface="Tahoma" pitchFamily="34" charset="0"/>
              </a:rPr>
              <a:t>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248" y="3154636"/>
            <a:ext cx="2843952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dirty="0">
                <a:solidFill>
                  <a:srgbClr val="103333"/>
                </a:solidFill>
                <a:latin typeface="Tahoma" pitchFamily="34" charset="0"/>
              </a:rPr>
              <a:t>Air pollution, climate, air conditioning</a:t>
            </a:r>
            <a:endParaRPr lang="en-US" sz="135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333500"/>
            <a:ext cx="3886200" cy="328612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333500"/>
            <a:ext cx="3886200" cy="557213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6" name="Text 14"/>
          <p:cNvSpPr/>
          <p:nvPr/>
        </p:nvSpPr>
        <p:spPr>
          <a:xfrm>
            <a:off x="4914900" y="1485900"/>
            <a:ext cx="3545586" cy="2714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Tahoma" pitchFamily="34" charset="0"/>
              </a:rPr>
              <a:t>Social and economic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4900" y="2081213"/>
            <a:ext cx="19399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•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66048" y="2085975"/>
            <a:ext cx="299021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dirty="0">
                <a:solidFill>
                  <a:srgbClr val="103333"/>
                </a:solidFill>
                <a:latin typeface="Tahoma" pitchFamily="34" charset="0"/>
              </a:rPr>
              <a:t>Disadvantage, affluence, gentrification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14900" y="2437433"/>
            <a:ext cx="19399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•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66048" y="2442195"/>
            <a:ext cx="299021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dirty="0">
                <a:solidFill>
                  <a:srgbClr val="103333"/>
                </a:solidFill>
                <a:latin typeface="Tahoma" pitchFamily="34" charset="0"/>
              </a:rPr>
              <a:t>Mortgage lending, housing affordability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14900" y="2793653"/>
            <a:ext cx="19399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66048" y="2798415"/>
            <a:ext cx="267067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dirty="0">
                <a:solidFill>
                  <a:srgbClr val="103333"/>
                </a:solidFill>
                <a:latin typeface="Tahoma" pitchFamily="34" charset="0"/>
              </a:rPr>
              <a:t>School quality, employment, crime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14900" y="3149873"/>
            <a:ext cx="193998" cy="4647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•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66048" y="3154636"/>
            <a:ext cx="2837606" cy="446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dirty="0">
                <a:solidFill>
                  <a:srgbClr val="103333"/>
                </a:solidFill>
                <a:latin typeface="Tahoma" pitchFamily="34" charset="0"/>
              </a:rPr>
              <a:t>Voter registration, turnout, and partisanship</a:t>
            </a:r>
            <a:endParaRPr lang="en-US" sz="135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12A3494-C293-1841-2DE3-B147B3408744}"/>
              </a:ext>
            </a:extLst>
          </p:cNvPr>
          <p:cNvSpPr/>
          <p:nvPr/>
        </p:nvSpPr>
        <p:spPr>
          <a:xfrm>
            <a:off x="1048596" y="3490658"/>
            <a:ext cx="1596087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dirty="0">
                <a:solidFill>
                  <a:srgbClr val="103333"/>
                </a:solidFill>
                <a:latin typeface="Tahoma" pitchFamily="34" charset="0"/>
              </a:rPr>
              <a:t>Broadband </a:t>
            </a:r>
            <a:endParaRPr lang="en-US" sz="135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00A8A017-7ECE-07C0-99EF-4F72666F0BF6}"/>
              </a:ext>
            </a:extLst>
          </p:cNvPr>
          <p:cNvSpPr/>
          <p:nvPr/>
        </p:nvSpPr>
        <p:spPr>
          <a:xfrm>
            <a:off x="811374" y="3486886"/>
            <a:ext cx="19399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1D9ADD"/>
                </a:solidFill>
                <a:latin typeface="Tahoma" pitchFamily="34" charset="0"/>
              </a:rPr>
              <a:t>•</a:t>
            </a:r>
            <a:endParaRPr lang="en-US" sz="1350" dirty="0"/>
          </a:p>
        </p:txBody>
      </p:sp>
      <p:sp>
        <p:nvSpPr>
          <p:cNvPr id="27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92378531-DEE6-4FE7-A046-BD615DCFDA8A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14</a:t>
            </a:fld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1500" y="476250"/>
            <a:ext cx="4605434" cy="48101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004A98"/>
                </a:solidFill>
                <a:latin typeface="Tahoma" pitchFamily="34" charset="0"/>
              </a:rPr>
              <a:t>Where data come from</a:t>
            </a:r>
            <a:endParaRPr lang="en-US" sz="30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381125"/>
            <a:ext cx="2344564" cy="319087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381125"/>
            <a:ext cx="2344564" cy="47625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657350"/>
            <a:ext cx="2076101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82759"/>
              </a:lnSpc>
              <a:buNone/>
            </a:pPr>
            <a:r>
              <a:rPr lang="en-US" sz="3600" b="1" dirty="0">
                <a:solidFill>
                  <a:srgbClr val="004A98"/>
                </a:solidFill>
                <a:latin typeface="Tahoma" pitchFamily="34" charset="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2247900"/>
            <a:ext cx="2076101" cy="2952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3333"/>
                </a:solidFill>
                <a:latin typeface="Tahoma" pitchFamily="34" charset="0"/>
              </a:rPr>
              <a:t>Ask people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0100" y="2657475"/>
            <a:ext cx="1943985" cy="87243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1200" dirty="0">
                <a:solidFill>
                  <a:srgbClr val="103333"/>
                </a:solidFill>
                <a:latin typeface="Tahoma" pitchFamily="34" charset="0"/>
              </a:rPr>
              <a:t>Survey items on safety, cohesion, park quality. Captures perception, but it is your own data collection.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6564" y="1381125"/>
            <a:ext cx="2344639" cy="319087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6564" y="1381125"/>
            <a:ext cx="2344639" cy="47625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0" name="Text 8"/>
          <p:cNvSpPr/>
          <p:nvPr/>
        </p:nvSpPr>
        <p:spPr>
          <a:xfrm>
            <a:off x="3335164" y="1657350"/>
            <a:ext cx="2076182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82759"/>
              </a:lnSpc>
              <a:buNone/>
            </a:pPr>
            <a:r>
              <a:rPr lang="en-US" sz="3600" b="1" dirty="0">
                <a:solidFill>
                  <a:srgbClr val="004A98"/>
                </a:solidFill>
                <a:latin typeface="Tahoma" pitchFamily="34" charset="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5164" y="2247900"/>
            <a:ext cx="2076182" cy="2952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3333"/>
                </a:solidFill>
                <a:latin typeface="Tahoma" pitchFamily="34" charset="0"/>
              </a:rPr>
              <a:t>Go look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5164" y="2657475"/>
            <a:ext cx="1944062" cy="87243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1200" dirty="0">
                <a:solidFill>
                  <a:srgbClr val="103333"/>
                </a:solidFill>
                <a:latin typeface="Tahoma" pitchFamily="34" charset="0"/>
              </a:rPr>
              <a:t>Systematic social observation, in person or by street view. Rich, and expensive.</a:t>
            </a:r>
            <a:endParaRPr lang="en-US" sz="12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702" y="1381125"/>
            <a:ext cx="2930724" cy="3190875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702" y="1381125"/>
            <a:ext cx="2930724" cy="47625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302" y="1657350"/>
            <a:ext cx="2720876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82759"/>
              </a:lnSpc>
              <a:buNone/>
            </a:pPr>
            <a:r>
              <a:rPr lang="en-US" sz="3600" b="1" dirty="0">
                <a:solidFill>
                  <a:srgbClr val="CDEAF8"/>
                </a:solidFill>
                <a:latin typeface="Tahoma" pitchFamily="34" charset="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870302" y="2247900"/>
            <a:ext cx="2547729" cy="571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</a:rPr>
              <a:t>Use data that already exist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70302" y="2933700"/>
            <a:ext cx="2547729" cy="87243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</a:rPr>
              <a:t>Census and ACS, business point data, parcel data, weather stations, administrative records. </a:t>
            </a:r>
            <a:r>
              <a:rPr lang="en-US" sz="1200" b="1" dirty="0">
                <a:solidFill>
                  <a:srgbClr val="FFFFFF"/>
                </a:solidFill>
                <a:latin typeface="Tahoma" pitchFamily="34" charset="0"/>
              </a:rPr>
              <a:t>This is what NaNDA is built from.</a:t>
            </a:r>
            <a:endParaRPr lang="en-US" sz="1200" dirty="0"/>
          </a:p>
        </p:txBody>
      </p:sp>
      <p:sp>
        <p:nvSpPr>
          <p:cNvPr id="18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50A6BD0C-857F-424A-AE32-787820748BBC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15</a:t>
            </a:fld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571500" y="1985963"/>
            <a:ext cx="4441587" cy="1616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172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ahoma" pitchFamily="34" charset="0"/>
              </a:rPr>
              <a:t>Every research team was building the same neighborhood measures from scratch.</a:t>
            </a:r>
            <a:endParaRPr lang="en-US" sz="2700" dirty="0"/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48352" y="1485895"/>
            <a:ext cx="4286250" cy="4286250"/>
          </a:xfrm>
          <a:prstGeom prst="ellipse">
            <a:avLst/>
          </a:prstGeom>
          <a:solidFill>
            <a:srgbClr val="1D9ADD"/>
          </a:solidFill>
          <a:ln/>
        </p:spPr>
      </p:sp>
      <p:pic>
        <p:nvPicPr>
          <p:cNvPr id="3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5500" y="2000250"/>
            <a:ext cx="2952750" cy="2952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571500"/>
            <a:ext cx="3202186" cy="933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66207"/>
              </a:lnSpc>
              <a:buNone/>
            </a:pPr>
            <a:r>
              <a:rPr lang="en-US" sz="9000" b="1" dirty="0">
                <a:solidFill>
                  <a:srgbClr val="1D9ADD"/>
                </a:solidFill>
                <a:latin typeface="Tahoma" pitchFamily="34" charset="0"/>
              </a:rPr>
              <a:t>2019</a:t>
            </a:r>
            <a:endParaRPr lang="en-US" sz="9000" dirty="0"/>
          </a:p>
        </p:txBody>
      </p:sp>
      <p:sp>
        <p:nvSpPr>
          <p:cNvPr id="6" name="Text 3"/>
          <p:cNvSpPr/>
          <p:nvPr/>
        </p:nvSpPr>
        <p:spPr>
          <a:xfrm>
            <a:off x="571500" y="3806131"/>
            <a:ext cx="5199698" cy="8076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95172"/>
              </a:lnSpc>
              <a:buNone/>
            </a:pPr>
            <a:r>
              <a:rPr lang="en-US" sz="2700" b="1" dirty="0">
                <a:solidFill>
                  <a:srgbClr val="1D9ADD"/>
                </a:solidFill>
                <a:latin typeface="Tahoma" pitchFamily="34" charset="0"/>
              </a:rPr>
              <a:t>In 2019, NaNDA was founded</a:t>
            </a:r>
            <a:endParaRPr lang="en-US" sz="2700" dirty="0"/>
          </a:p>
        </p:txBody>
      </p:sp>
      <p:sp>
        <p:nvSpPr>
          <p:cNvPr id="7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A9D15050-0BAA-44C9-B74F-F23D164C845E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16</a:t>
            </a:fld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666750" y="1524000"/>
            <a:ext cx="3993565" cy="571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004A98"/>
                </a:solidFill>
                <a:latin typeface="Tahoma" pitchFamily="34" charset="0"/>
              </a:rPr>
              <a:t>What is NaNDA?</a:t>
            </a:r>
            <a:endParaRPr lang="en-US" sz="3600" dirty="0"/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04A98"/>
          </a:solidFill>
          <a:ln/>
        </p:spPr>
      </p:sp>
      <p:pic>
        <p:nvPicPr>
          <p:cNvPr id="3" name="NaNDA" descr="NaNDA, National Neighborhood Data Archive,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23875"/>
            <a:ext cx="905098" cy="714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286000"/>
            <a:ext cx="5297805" cy="1552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103333"/>
                </a:solidFill>
                <a:latin typeface="Tahoma" pitchFamily="34" charset="0"/>
              </a:rPr>
              <a:t>The National Neighborhood Data Archive (NaNDA) is an </a:t>
            </a:r>
            <a:r>
              <a:rPr lang="en-US" sz="1725" b="1" dirty="0">
                <a:solidFill>
                  <a:srgbClr val="004A98"/>
                </a:solidFill>
                <a:latin typeface="Tahoma" pitchFamily="34" charset="0"/>
              </a:rPr>
              <a:t>open data repository</a:t>
            </a:r>
            <a:r>
              <a:rPr lang="en-US" sz="1725" dirty="0">
                <a:solidFill>
                  <a:srgbClr val="103333"/>
                </a:solidFill>
                <a:latin typeface="Tahoma" pitchFamily="34" charset="0"/>
              </a:rPr>
              <a:t>. It provides </a:t>
            </a:r>
            <a:r>
              <a:rPr lang="en-US" sz="1725" b="1" dirty="0">
                <a:solidFill>
                  <a:srgbClr val="004A98"/>
                </a:solidFill>
                <a:latin typeface="Tahoma" pitchFamily="34" charset="0"/>
              </a:rPr>
              <a:t>FAIR datasets </a:t>
            </a:r>
            <a:r>
              <a:rPr lang="en-US" sz="1725" dirty="0">
                <a:solidFill>
                  <a:srgbClr val="103333"/>
                </a:solidFill>
                <a:latin typeface="Tahoma" pitchFamily="34" charset="0"/>
              </a:rPr>
              <a:t>about physical and social environment that researchers can easily combine with their own data.</a:t>
            </a:r>
            <a:endParaRPr lang="en-US" sz="1725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857250"/>
            <a:ext cx="3619500" cy="3619500"/>
          </a:xfrm>
          <a:prstGeom prst="ellipse">
            <a:avLst/>
          </a:prstGeom>
          <a:solidFill>
            <a:srgbClr val="EEF4FA"/>
          </a:solidFill>
          <a:ln/>
        </p:spPr>
      </p:sp>
      <p:pic>
        <p:nvPicPr>
          <p:cNvPr id="7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1238250"/>
            <a:ext cx="2667000" cy="2667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AAC07BD7-19F2-40E8-947C-E4C97798668D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t>17</a:t>
            </a:fld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1500" y="476250"/>
            <a:ext cx="4120850" cy="48101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004A98"/>
                </a:solidFill>
                <a:latin typeface="Tahoma" pitchFamily="34" charset="0"/>
              </a:rPr>
              <a:t>FAIR data principles</a:t>
            </a:r>
            <a:endParaRPr lang="en-US" sz="30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5375" y="2305050"/>
            <a:ext cx="6953250" cy="28575"/>
          </a:xfrm>
          <a:prstGeom prst="rect">
            <a:avLst/>
          </a:prstGeom>
          <a:solidFill>
            <a:srgbClr val="5AD2EA"/>
          </a:solidFill>
          <a:ln/>
        </p:spPr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250" y="1428750"/>
            <a:ext cx="1762125" cy="1762125"/>
          </a:xfrm>
          <a:prstGeom prst="ellipse">
            <a:avLst/>
          </a:prstGeom>
          <a:solidFill>
            <a:srgbClr val="004A98"/>
          </a:solidFill>
          <a:ln/>
          <a:effectLst>
            <a:outerShdw blurRad="50800" dist="254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5869" y="2004207"/>
            <a:ext cx="1047750" cy="1066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ctr">
              <a:lnSpc>
                <a:spcPct val="83019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Tahoma" pitchFamily="34" charset="0"/>
              </a:rPr>
              <a:t>F</a:t>
            </a:r>
            <a:endParaRPr lang="en-US" sz="825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8835" y="3457575"/>
            <a:ext cx="1116881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4A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185" y="3543300"/>
            <a:ext cx="888281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13" dirty="0">
                <a:solidFill>
                  <a:srgbClr val="004A98"/>
                </a:solidFill>
                <a:latin typeface="Tahoma" pitchFamily="34" charset="0"/>
              </a:rPr>
              <a:t>FINDABLE</a:t>
            </a:r>
            <a:endParaRPr lang="en-US" sz="1125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9375" y="1428750"/>
            <a:ext cx="1762125" cy="1762125"/>
          </a:xfrm>
          <a:prstGeom prst="ellipse">
            <a:avLst/>
          </a:prstGeom>
          <a:solidFill>
            <a:srgbClr val="1D9ADD"/>
          </a:solidFill>
          <a:ln/>
          <a:effectLst>
            <a:outerShdw blurRad="50800" dist="254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48994" y="2004207"/>
            <a:ext cx="1047750" cy="1066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ctr">
              <a:lnSpc>
                <a:spcPct val="83019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Tahoma" pitchFamily="34" charset="0"/>
              </a:rPr>
              <a:t>A</a:t>
            </a:r>
            <a:endParaRPr lang="en-US" sz="825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48571" y="3457575"/>
            <a:ext cx="130373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D9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1921" y="3543300"/>
            <a:ext cx="1076147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13" dirty="0">
                <a:solidFill>
                  <a:srgbClr val="103333"/>
                </a:solidFill>
                <a:latin typeface="Tahoma" pitchFamily="34" charset="0"/>
              </a:rPr>
              <a:t>ACCESSIBLE</a:t>
            </a:r>
            <a:endParaRPr lang="en-US" sz="1125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2500" y="1428750"/>
            <a:ext cx="1762125" cy="1762125"/>
          </a:xfrm>
          <a:prstGeom prst="ellipse">
            <a:avLst/>
          </a:prstGeom>
          <a:solidFill>
            <a:srgbClr val="0E9BA9"/>
          </a:solidFill>
          <a:ln/>
          <a:effectLst>
            <a:outerShdw blurRad="50800" dist="254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6722" y="2004207"/>
            <a:ext cx="1047750" cy="1066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ctr">
              <a:lnSpc>
                <a:spcPct val="83019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Tahoma" pitchFamily="34" charset="0"/>
              </a:rPr>
              <a:t>I</a:t>
            </a:r>
            <a:endParaRPr lang="en-US" sz="825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7670" y="3457575"/>
            <a:ext cx="1671787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9B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1020" y="3543300"/>
            <a:ext cx="1455240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13" dirty="0">
                <a:solidFill>
                  <a:srgbClr val="103333"/>
                </a:solidFill>
                <a:latin typeface="Tahoma" pitchFamily="34" charset="0"/>
              </a:rPr>
              <a:t>INTEROPERABLE</a:t>
            </a:r>
            <a:endParaRPr lang="en-US" sz="1125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05625" y="1428750"/>
            <a:ext cx="1762125" cy="1762125"/>
          </a:xfrm>
          <a:prstGeom prst="ellipse">
            <a:avLst/>
          </a:prstGeom>
          <a:solidFill>
            <a:srgbClr val="3A9B1F"/>
          </a:solidFill>
          <a:ln/>
          <a:effectLst>
            <a:outerShdw blurRad="50800" dist="254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847" y="1989920"/>
            <a:ext cx="1047750" cy="1066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ctr">
              <a:lnSpc>
                <a:spcPct val="83019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Tahoma" pitchFamily="34" charset="0"/>
              </a:rPr>
              <a:t>R</a:t>
            </a:r>
            <a:endParaRPr lang="en-US" sz="825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19578" y="3457575"/>
            <a:ext cx="1134219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A9B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2928" y="3543300"/>
            <a:ext cx="905619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13" dirty="0">
                <a:solidFill>
                  <a:srgbClr val="103333"/>
                </a:solidFill>
                <a:latin typeface="Tahoma" pitchFamily="34" charset="0"/>
              </a:rPr>
              <a:t>REUSABLE</a:t>
            </a:r>
            <a:endParaRPr lang="en-US" sz="1125" dirty="0"/>
          </a:p>
        </p:txBody>
      </p:sp>
      <p:sp>
        <p:nvSpPr>
          <p:cNvPr id="20" name="Text 18">
            <a:hlinkClick r:id="rId3"/>
          </p:cNvPr>
          <p:cNvSpPr/>
          <p:nvPr/>
        </p:nvSpPr>
        <p:spPr>
          <a:xfrm>
            <a:off x="381000" y="4695825"/>
            <a:ext cx="1583412" cy="1809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004A98"/>
                </a:solidFill>
                <a:latin typeface="Tahoma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go-fair.org/fair-principles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1165D6ED-CD6E-4819-9A01-C8A99603A54A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t>18</a:t>
            </a:fld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1500" y="476250"/>
            <a:ext cx="6376988" cy="9429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004A98"/>
                </a:solidFill>
                <a:latin typeface="Tahoma" pitchFamily="34" charset="0"/>
              </a:rPr>
              <a:t>Examples of neighborhood topics include:</a:t>
            </a:r>
            <a:endParaRPr lang="en-US" sz="3000" dirty="0"/>
          </a:p>
        </p:txBody>
      </p:sp>
      <p:pic>
        <p:nvPicPr>
          <p:cNvPr id="3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" b="96"/>
          <a:stretch/>
        </p:blipFill>
        <p:spPr>
          <a:xfrm>
            <a:off x="7143750" y="333375"/>
            <a:ext cx="1428750" cy="938213"/>
          </a:xfrm>
          <a:prstGeom prst="rect">
            <a:avLst/>
          </a:prstGeom>
        </p:spPr>
      </p:pic>
      <p:sp>
        <p:nvSpPr>
          <p:cNvPr id="4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428750"/>
            <a:ext cx="1900238" cy="1528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428750"/>
            <a:ext cx="1900238" cy="3810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638300"/>
            <a:ext cx="1604058" cy="4286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Health care services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2950" y="2124075"/>
            <a:ext cx="1604058" cy="5204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34506E"/>
                </a:solidFill>
                <a:latin typeface="Tahoma" pitchFamily="34" charset="0"/>
              </a:rPr>
              <a:t>(health care providers, residential care facilities, hospitals)</a:t>
            </a:r>
            <a:endParaRPr lang="en-US" sz="975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5088" y="1428750"/>
            <a:ext cx="1900238" cy="1528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5088" y="1428750"/>
            <a:ext cx="1900238" cy="3810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0" name="Text 7"/>
          <p:cNvSpPr/>
          <p:nvPr/>
        </p:nvSpPr>
        <p:spPr>
          <a:xfrm>
            <a:off x="2776538" y="1638300"/>
            <a:ext cx="1713072" cy="22383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Parks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776538" y="1919288"/>
            <a:ext cx="1604058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34506E"/>
                </a:solidFill>
                <a:latin typeface="Tahoma" pitchFamily="34" charset="0"/>
              </a:rPr>
              <a:t>(public parks, national and state parks)</a:t>
            </a:r>
            <a:endParaRPr lang="en-US" sz="975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8675" y="1428750"/>
            <a:ext cx="1900238" cy="1528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8675" y="1428750"/>
            <a:ext cx="1900238" cy="3810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4" name="Text 11"/>
          <p:cNvSpPr/>
          <p:nvPr/>
        </p:nvSpPr>
        <p:spPr>
          <a:xfrm>
            <a:off x="4810125" y="1638300"/>
            <a:ext cx="1713072" cy="22383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Social Services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10125" y="1919288"/>
            <a:ext cx="1604058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34506E"/>
                </a:solidFill>
                <a:latin typeface="Tahoma" pitchFamily="34" charset="0"/>
              </a:rPr>
              <a:t>(crisis centers, shelters, child day care services)</a:t>
            </a:r>
            <a:endParaRPr lang="en-US" sz="975" dirty="0"/>
          </a:p>
        </p:txBody>
      </p:sp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2263" y="1428750"/>
            <a:ext cx="1900238" cy="1528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2263" y="1428750"/>
            <a:ext cx="1900238" cy="3810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8" name="Text 15"/>
          <p:cNvSpPr/>
          <p:nvPr/>
        </p:nvSpPr>
        <p:spPr>
          <a:xfrm>
            <a:off x="6843713" y="1638300"/>
            <a:ext cx="1713072" cy="22383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Transportation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843713" y="1919288"/>
            <a:ext cx="1604058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34506E"/>
                </a:solidFill>
                <a:latin typeface="Tahoma" pitchFamily="34" charset="0"/>
              </a:rPr>
              <a:t>(street connectivity, public transit stops, traffic)</a:t>
            </a:r>
            <a:endParaRPr lang="en-US" sz="975" dirty="0"/>
          </a:p>
        </p:txBody>
      </p:sp>
      <p:sp>
        <p:nvSpPr>
          <p:cNvPr id="2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3090863"/>
            <a:ext cx="1900238" cy="1528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3090863"/>
            <a:ext cx="1900238" cy="3810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22" name="Text 19"/>
          <p:cNvSpPr/>
          <p:nvPr/>
        </p:nvSpPr>
        <p:spPr>
          <a:xfrm>
            <a:off x="742950" y="3300413"/>
            <a:ext cx="1713072" cy="22383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Broadband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42950" y="3581400"/>
            <a:ext cx="1604058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34506E"/>
                </a:solidFill>
                <a:latin typeface="Tahoma" pitchFamily="34" charset="0"/>
              </a:rPr>
              <a:t>(internet availability, speed, adoption, and access)</a:t>
            </a:r>
            <a:endParaRPr lang="en-US" sz="975" dirty="0"/>
          </a:p>
        </p:txBody>
      </p:sp>
      <p:sp>
        <p:nvSpPr>
          <p:cNvPr id="24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5088" y="3090863"/>
            <a:ext cx="1900238" cy="1528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5088" y="3090863"/>
            <a:ext cx="1900238" cy="3810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26" name="Text 23"/>
          <p:cNvSpPr/>
          <p:nvPr/>
        </p:nvSpPr>
        <p:spPr>
          <a:xfrm>
            <a:off x="2776538" y="3300413"/>
            <a:ext cx="1604058" cy="4286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Liquor, tobacco and dispensaries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2776538" y="3786188"/>
            <a:ext cx="1604058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34506E"/>
                </a:solidFill>
                <a:latin typeface="Tahoma" pitchFamily="34" charset="0"/>
              </a:rPr>
              <a:t>(counts and density measures)</a:t>
            </a:r>
            <a:endParaRPr lang="en-US" sz="975" dirty="0"/>
          </a:p>
        </p:txBody>
      </p:sp>
      <p:sp>
        <p:nvSpPr>
          <p:cNvPr id="28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8675" y="3090863"/>
            <a:ext cx="1900238" cy="1528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8675" y="3090863"/>
            <a:ext cx="1900238" cy="3810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30" name="Text 27"/>
          <p:cNvSpPr/>
          <p:nvPr/>
        </p:nvSpPr>
        <p:spPr>
          <a:xfrm>
            <a:off x="4810125" y="3300413"/>
            <a:ext cx="1713072" cy="22383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Crimes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810125" y="3581400"/>
            <a:ext cx="1713072" cy="186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34506E"/>
                </a:solidFill>
                <a:latin typeface="Tahoma" pitchFamily="34" charset="0"/>
              </a:rPr>
              <a:t>(crime reported by the FBI)</a:t>
            </a:r>
            <a:endParaRPr lang="en-US" sz="975" dirty="0"/>
          </a:p>
        </p:txBody>
      </p:sp>
      <p:sp>
        <p:nvSpPr>
          <p:cNvPr id="32" name="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2263" y="3090863"/>
            <a:ext cx="1900238" cy="1528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2263" y="3090863"/>
            <a:ext cx="1900238" cy="3810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34" name="Text 31"/>
          <p:cNvSpPr/>
          <p:nvPr/>
        </p:nvSpPr>
        <p:spPr>
          <a:xfrm>
            <a:off x="6843713" y="3300413"/>
            <a:ext cx="1713072" cy="22383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Grocery stores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6843713" y="3581400"/>
            <a:ext cx="1604058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34506E"/>
                </a:solidFill>
                <a:latin typeface="Tahoma" pitchFamily="34" charset="0"/>
              </a:rPr>
              <a:t>(counts and density measures)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DB74219E-5CB3-41D0-8F8B-7A625AB7808E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t>19</a:t>
            </a:fld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1500" y="476250"/>
            <a:ext cx="2717111" cy="48101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004A98"/>
                </a:solidFill>
                <a:latin typeface="Tahoma" pitchFamily="34" charset="0"/>
              </a:rPr>
              <a:t>Data updates</a:t>
            </a:r>
            <a:endParaRPr lang="en-US" sz="30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333500"/>
            <a:ext cx="2565351" cy="1543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333500"/>
            <a:ext cx="57150" cy="154305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5" name="Text 3"/>
          <p:cNvSpPr/>
          <p:nvPr/>
        </p:nvSpPr>
        <p:spPr>
          <a:xfrm>
            <a:off x="838200" y="1865040"/>
            <a:ext cx="2151774" cy="49902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8824"/>
              </a:lnSpc>
              <a:buNone/>
            </a:pPr>
            <a:r>
              <a:rPr lang="en-US" sz="1575" b="1" dirty="0">
                <a:solidFill>
                  <a:srgbClr val="004A98"/>
                </a:solidFill>
                <a:latin typeface="Tahoma" pitchFamily="34" charset="0"/>
              </a:rPr>
              <a:t>Business Openings &amp; Closings</a:t>
            </a:r>
            <a:endParaRPr lang="en-US" sz="1575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9251" y="1333500"/>
            <a:ext cx="2565425" cy="1543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9251" y="1333500"/>
            <a:ext cx="57150" cy="154305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8" name="Text 6"/>
          <p:cNvSpPr/>
          <p:nvPr/>
        </p:nvSpPr>
        <p:spPr>
          <a:xfrm>
            <a:off x="3555951" y="1865040"/>
            <a:ext cx="2151850" cy="49902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8824"/>
              </a:lnSpc>
              <a:buNone/>
            </a:pPr>
            <a:r>
              <a:rPr lang="en-US" sz="1575" b="1" dirty="0">
                <a:solidFill>
                  <a:srgbClr val="004A98"/>
                </a:solidFill>
                <a:latin typeface="Tahoma" pitchFamily="34" charset="0"/>
              </a:rPr>
              <a:t>Quality of Public Transit</a:t>
            </a:r>
            <a:endParaRPr lang="en-US" sz="1575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7075" y="1333500"/>
            <a:ext cx="2565425" cy="1543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7075" y="1333500"/>
            <a:ext cx="57150" cy="154305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1" name="Text 9"/>
          <p:cNvSpPr/>
          <p:nvPr/>
        </p:nvSpPr>
        <p:spPr>
          <a:xfrm>
            <a:off x="6273775" y="1676400"/>
            <a:ext cx="2151850" cy="876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4651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</a:rPr>
              <a:t>Updated Voter Registration, Turnout, Partisanship (2024, Census Tract)</a:t>
            </a:r>
            <a:endParaRPr lang="en-US" sz="135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3028950"/>
            <a:ext cx="2565351" cy="1543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3028950"/>
            <a:ext cx="57150" cy="154305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3440460"/>
            <a:ext cx="2151774" cy="73900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98824"/>
              </a:lnSpc>
              <a:buNone/>
            </a:pPr>
            <a:r>
              <a:rPr lang="en-US" sz="1575" b="1" dirty="0">
                <a:solidFill>
                  <a:srgbClr val="004A98"/>
                </a:solidFill>
                <a:latin typeface="Tahoma" pitchFamily="34" charset="0"/>
              </a:rPr>
              <a:t>National Housing Preservation Database</a:t>
            </a:r>
            <a:endParaRPr lang="en-US" sz="1575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9251" y="3028950"/>
            <a:ext cx="2565425" cy="1543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9251" y="3028950"/>
            <a:ext cx="57150" cy="154305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17" name="Text 15"/>
          <p:cNvSpPr/>
          <p:nvPr/>
        </p:nvSpPr>
        <p:spPr>
          <a:xfrm>
            <a:off x="3555951" y="3560490"/>
            <a:ext cx="2151850" cy="49902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8824"/>
              </a:lnSpc>
              <a:buNone/>
            </a:pPr>
            <a:r>
              <a:rPr lang="en-US" sz="1575" b="1" dirty="0">
                <a:solidFill>
                  <a:srgbClr val="004A98"/>
                </a:solidFill>
                <a:latin typeface="Tahoma" pitchFamily="34" charset="0"/>
              </a:rPr>
              <a:t>LGBTQ+ Health &amp; Policy</a:t>
            </a:r>
            <a:endParaRPr lang="en-US" sz="1575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7075" y="3028950"/>
            <a:ext cx="2565425" cy="1543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7075" y="3028950"/>
            <a:ext cx="57150" cy="1543050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20" name="Text 18"/>
          <p:cNvSpPr/>
          <p:nvPr/>
        </p:nvSpPr>
        <p:spPr>
          <a:xfrm>
            <a:off x="6273775" y="3680445"/>
            <a:ext cx="2298093" cy="2590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8824"/>
              </a:lnSpc>
              <a:buNone/>
            </a:pPr>
            <a:r>
              <a:rPr lang="en-US" sz="1575" b="1" dirty="0">
                <a:solidFill>
                  <a:srgbClr val="004A98"/>
                </a:solidFill>
                <a:latin typeface="Tahoma" pitchFamily="34" charset="0"/>
              </a:rPr>
              <a:t>Policing</a:t>
            </a:r>
            <a:endParaRPr lang="en-US" sz="1575" dirty="0"/>
          </a:p>
        </p:txBody>
      </p:sp>
      <p:sp>
        <p:nvSpPr>
          <p:cNvPr id="21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1016B7C2-DBA2-4067-AB94-6634CDD7E67B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20</a:t>
            </a:fld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90750" cy="5143500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333375" y="571500"/>
            <a:ext cx="1667828" cy="109894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8723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Tahoma" pitchFamily="34" charset="0"/>
              </a:rPr>
              <a:t>Hierarchy of select geographic entities</a:t>
            </a:r>
            <a:endParaRPr lang="en-US" sz="2025" dirty="0"/>
          </a:p>
        </p:txBody>
      </p:sp>
      <p:pic>
        <p:nvPicPr>
          <p:cNvPr id="4" name="Census Bureau diagram of the hierarchy of geographic entitie" descr="Census Bureau diagram of the hierarchy of geographic entities. The main spine runs from nation to regions, divisions, states, counties, census tracts, and block groups. Other entities branch off it: ZIP Code Tabulation Areas (ZCTAs); American Indian, Alaska Native, and Hawaiian Home Lands; urban areas; metropolitan and micropolitan areas; places; school districts; congressional districts; Public Use Microdata Areas; Alaska Native regional areas; state legislative districts; and county subdivisions."/>
          <p:cNvPicPr>
            <a:picLocks noChangeAspect="1"/>
          </p:cNvPicPr>
          <p:nvPr/>
        </p:nvPicPr>
        <p:blipFill>
          <a:blip r:embed="rId3"/>
          <a:srcRect l="-16" r="-16"/>
          <a:stretch/>
        </p:blipFill>
        <p:spPr>
          <a:xfrm>
            <a:off x="2381250" y="261938"/>
            <a:ext cx="6572250" cy="4619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3375" y="4719638"/>
            <a:ext cx="596652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DEBF7"/>
                </a:solidFill>
                <a:latin typeface="Tahoma" pitchFamily="34" charset="0"/>
              </a:rPr>
              <a:t>census.gov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772DF588-FD9C-4BFD-9B06-559B0299300A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t>21</a:t>
            </a:fld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90750" cy="5143500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333375" y="571500"/>
            <a:ext cx="1667828" cy="55899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8723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Tahoma" pitchFamily="34" charset="0"/>
              </a:rPr>
              <a:t>NaNDA geographies</a:t>
            </a:r>
            <a:endParaRPr lang="en-US" sz="2025" dirty="0"/>
          </a:p>
        </p:txBody>
      </p:sp>
      <p:pic>
        <p:nvPicPr>
          <p:cNvPr id="4" name="The same Census Bureau hierarchy diagram with the four geogr" descr="The same Census Bureau hierarchy diagram with the four geographies NaNDA publishes circled in pink: ZIP Code Tabulation Areas, school districts, counties, and census tracts."/>
          <p:cNvPicPr>
            <a:picLocks noChangeAspect="1"/>
          </p:cNvPicPr>
          <p:nvPr/>
        </p:nvPicPr>
        <p:blipFill>
          <a:blip r:embed="rId3"/>
          <a:srcRect l="-16" r="-16"/>
          <a:stretch/>
        </p:blipFill>
        <p:spPr>
          <a:xfrm>
            <a:off x="2381250" y="261938"/>
            <a:ext cx="6572250" cy="4619625"/>
          </a:xfrm>
          <a:prstGeom prst="rect">
            <a:avLst/>
          </a:prstGeom>
        </p:spPr>
      </p:pic>
      <p:pic>
        <p:nvPicPr>
          <p:cNvPr id="5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209" y="2645643"/>
            <a:ext cx="1018654" cy="577453"/>
          </a:xfrm>
          <a:prstGeom prst="rect">
            <a:avLst/>
          </a:prstGeom>
        </p:spPr>
      </p:pic>
      <p:pic>
        <p:nvPicPr>
          <p:cNvPr id="6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405" y="2774975"/>
            <a:ext cx="1071265" cy="609749"/>
          </a:xfrm>
          <a:prstGeom prst="rect">
            <a:avLst/>
          </a:prstGeom>
        </p:spPr>
      </p:pic>
      <p:pic>
        <p:nvPicPr>
          <p:cNvPr id="7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098" y="3467919"/>
            <a:ext cx="1511573" cy="609749"/>
          </a:xfrm>
          <a:prstGeom prst="rect">
            <a:avLst/>
          </a:prstGeom>
        </p:spPr>
      </p:pic>
      <p:pic>
        <p:nvPicPr>
          <p:cNvPr id="8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557" y="1278211"/>
            <a:ext cx="1813917" cy="937766"/>
          </a:xfrm>
          <a:prstGeom prst="rect">
            <a:avLst/>
          </a:prstGeom>
        </p:spPr>
      </p:pic>
      <p:pic>
        <p:nvPicPr>
          <p:cNvPr id="9" name="NaNDA" descr="NaNDA, National Neighborhood Data Archive,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" y="3545979"/>
            <a:ext cx="1238250" cy="9783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333375" y="4719638"/>
            <a:ext cx="596652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DEBF7"/>
                </a:solidFill>
                <a:latin typeface="Tahoma" pitchFamily="34" charset="0"/>
              </a:rPr>
              <a:t>census.gov</a:t>
            </a:r>
            <a:endParaRPr lang="en-US" sz="900" dirty="0"/>
          </a:p>
        </p:txBody>
      </p:sp>
      <p:sp>
        <p:nvSpPr>
          <p:cNvPr id="11" name="Text 3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D2DAEB10-2F46-47E8-B094-DF78A60D72E2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t>22</a:t>
            </a:fld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1500" y="476250"/>
            <a:ext cx="5480224" cy="48101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004A98"/>
                </a:solidFill>
                <a:latin typeface="Tahoma" pitchFamily="34" charset="0"/>
              </a:rPr>
              <a:t>Which geography do I use?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2950" y="1285875"/>
            <a:ext cx="2988945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75" dirty="0">
                <a:solidFill>
                  <a:srgbClr val="4F6B8A"/>
                </a:solidFill>
                <a:latin typeface="Tahoma" pitchFamily="34" charset="0"/>
              </a:rPr>
              <a:t>IF YOUR DATA HAVE…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200525" y="1285875"/>
            <a:ext cx="4654868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75" dirty="0">
                <a:solidFill>
                  <a:srgbClr val="004A98"/>
                </a:solidFill>
                <a:latin typeface="Tahoma" pitchFamily="34" charset="0"/>
              </a:rPr>
              <a:t>JOIN TO NANDA USING…</a:t>
            </a:r>
            <a:endParaRPr lang="en-US" sz="975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547813"/>
            <a:ext cx="3028950" cy="983903"/>
          </a:xfrm>
          <a:prstGeom prst="rect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42950" y="1719263"/>
            <a:ext cx="2776919" cy="66005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</a:rPr>
              <a:t>A census tract, FIPS code, or GEOID (11 digits)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81400" y="1547813"/>
            <a:ext cx="466725" cy="100295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ADD"/>
                </a:solidFill>
                <a:latin typeface="Tahoma" pitchFamily="34" charset="0"/>
              </a:rPr>
              <a:t>→</a:t>
            </a:r>
            <a:endParaRPr lang="en-US" sz="24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9075" y="1547813"/>
            <a:ext cx="4543425" cy="983903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200525" y="1719263"/>
            <a:ext cx="4326541" cy="66005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1200" dirty="0">
                <a:solidFill>
                  <a:srgbClr val="103333"/>
                </a:solidFill>
                <a:latin typeface="Tahoma" pitchFamily="34" charset="0"/>
              </a:rPr>
              <a:t>The FIPS code directly. Check whether it uses 2010 or 2020 geographic boundaries: </a:t>
            </a:r>
            <a:r>
              <a:rPr lang="en-US" sz="1125" b="1" dirty="0">
                <a:solidFill>
                  <a:srgbClr val="004A98"/>
                </a:solidFill>
                <a:latin typeface="Courier New" pitchFamily="34" charset="0"/>
              </a:rPr>
              <a:t>tract_fips10 </a:t>
            </a:r>
            <a:r>
              <a:rPr lang="en-US" sz="1200" dirty="0">
                <a:solidFill>
                  <a:srgbClr val="103333"/>
                </a:solidFill>
                <a:latin typeface="Tahoma" pitchFamily="34" charset="0"/>
              </a:rPr>
              <a:t>and </a:t>
            </a:r>
            <a:r>
              <a:rPr lang="en-US" sz="1125" b="1" dirty="0">
                <a:solidFill>
                  <a:srgbClr val="004A98"/>
                </a:solidFill>
                <a:latin typeface="Courier New" pitchFamily="34" charset="0"/>
              </a:rPr>
              <a:t>tract_fips20 </a:t>
            </a:r>
            <a:r>
              <a:rPr lang="en-US" sz="1200" dirty="0">
                <a:solidFill>
                  <a:srgbClr val="103333"/>
                </a:solidFill>
                <a:latin typeface="Tahoma" pitchFamily="34" charset="0"/>
              </a:rPr>
              <a:t>are not interchangeable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2646015"/>
            <a:ext cx="3028950" cy="565770"/>
          </a:xfrm>
          <a:prstGeom prst="rect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42950" y="2817465"/>
            <a:ext cx="2776919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</a:rPr>
              <a:t>A ZIP code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1400" y="2646015"/>
            <a:ext cx="466725" cy="5848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ADD"/>
                </a:solidFill>
                <a:latin typeface="Tahoma" pitchFamily="34" charset="0"/>
              </a:rPr>
              <a:t>→</a:t>
            </a:r>
            <a:endParaRPr lang="en-US" sz="24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9075" y="2646015"/>
            <a:ext cx="4543425" cy="565770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200525" y="2817465"/>
            <a:ext cx="433682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1200" dirty="0">
                <a:solidFill>
                  <a:srgbClr val="103333"/>
                </a:solidFill>
                <a:latin typeface="Tahoma" pitchFamily="34" charset="0"/>
              </a:rPr>
              <a:t>A ZIP-code-to-ZCTA crosswalk. Some ZIP codes have no ZCTA</a:t>
            </a:r>
            <a:endParaRPr lang="en-US" sz="12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3326086"/>
            <a:ext cx="3028950" cy="788640"/>
          </a:xfrm>
          <a:prstGeom prst="rect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42950" y="3497536"/>
            <a:ext cx="2776919" cy="4647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</a:rPr>
              <a:t>Full street addresses (not PO boxes)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81400" y="3326086"/>
            <a:ext cx="466725" cy="8076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ADD"/>
                </a:solidFill>
                <a:latin typeface="Tahoma" pitchFamily="34" charset="0"/>
              </a:rPr>
              <a:t>→</a:t>
            </a:r>
            <a:endParaRPr lang="en-US" sz="24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9075" y="3326086"/>
            <a:ext cx="4543425" cy="788640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200525" y="3497536"/>
            <a:ext cx="4336828" cy="4647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14872"/>
              </a:lnSpc>
              <a:buNone/>
            </a:pPr>
            <a:r>
              <a:rPr lang="en-US" sz="1200" dirty="0">
                <a:solidFill>
                  <a:srgbClr val="103333"/>
                </a:solidFill>
                <a:latin typeface="Tahoma" pitchFamily="34" charset="0"/>
              </a:rPr>
              <a:t>Geocode first, in ArcGIS or an online geocoder, then join on the resulting FIPS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B305E88E-645A-4E5A-97EB-4C7F31F66739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t>23</a:t>
            </a:fld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1500" y="428625"/>
            <a:ext cx="4131737" cy="48101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004A98"/>
                </a:solidFill>
                <a:latin typeface="Tahoma" pitchFamily="34" charset="0"/>
              </a:rPr>
              <a:t>“Pre-linked” NaNDA</a:t>
            </a:r>
            <a:endParaRPr lang="en-US" sz="30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4336629"/>
            <a:ext cx="8001000" cy="19050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095375"/>
            <a:ext cx="2213000" cy="339031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5" name="Text 3"/>
          <p:cNvSpPr/>
          <p:nvPr/>
        </p:nvSpPr>
        <p:spPr>
          <a:xfrm>
            <a:off x="695325" y="1190625"/>
            <a:ext cx="2031740" cy="16758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b="1" kern="0" spc="75" dirty="0">
                <a:solidFill>
                  <a:srgbClr val="FFFFFF"/>
                </a:solidFill>
                <a:latin typeface="Tahoma" pitchFamily="34" charset="0"/>
              </a:rPr>
              <a:t>DATA SOURCE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84500" y="1095375"/>
            <a:ext cx="1872556" cy="339031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7" name="Text 5"/>
          <p:cNvSpPr/>
          <p:nvPr/>
        </p:nvSpPr>
        <p:spPr>
          <a:xfrm>
            <a:off x="2908325" y="1190625"/>
            <a:ext cx="1681082" cy="16758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b="1" kern="0" spc="75" dirty="0">
                <a:solidFill>
                  <a:srgbClr val="FFFFFF"/>
                </a:solidFill>
                <a:latin typeface="Tahoma" pitchFamily="34" charset="0"/>
              </a:rPr>
              <a:t>POPULATION</a:t>
            </a:r>
            <a:endParaRPr lang="en-US" sz="9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7056" y="1095375"/>
            <a:ext cx="1276797" cy="339031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9" name="Text 7"/>
          <p:cNvSpPr/>
          <p:nvPr/>
        </p:nvSpPr>
        <p:spPr>
          <a:xfrm>
            <a:off x="4780881" y="1190625"/>
            <a:ext cx="1067451" cy="16758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b="1" kern="0" spc="75" dirty="0">
                <a:solidFill>
                  <a:srgbClr val="FFFFFF"/>
                </a:solidFill>
                <a:latin typeface="Tahoma" pitchFamily="34" charset="0"/>
              </a:rPr>
              <a:t>GEOGRAPHY</a:t>
            </a:r>
            <a:endParaRPr lang="en-US" sz="9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33852" y="1095375"/>
            <a:ext cx="2638648" cy="339031"/>
          </a:xfrm>
          <a:prstGeom prst="rect">
            <a:avLst/>
          </a:prstGeom>
          <a:solidFill>
            <a:srgbClr val="004A98"/>
          </a:solidFill>
          <a:ln/>
        </p:spPr>
      </p:sp>
      <p:sp>
        <p:nvSpPr>
          <p:cNvPr id="11" name="Text 9"/>
          <p:cNvSpPr/>
          <p:nvPr/>
        </p:nvSpPr>
        <p:spPr>
          <a:xfrm>
            <a:off x="6057677" y="1190625"/>
            <a:ext cx="2470158" cy="16758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b="1" kern="0" spc="75" dirty="0">
                <a:solidFill>
                  <a:srgbClr val="FFFFFF"/>
                </a:solidFill>
                <a:latin typeface="Tahoma" pitchFamily="34" charset="0"/>
              </a:rPr>
              <a:t>PROTOCOL FOR ACCESS</a:t>
            </a:r>
            <a:endParaRPr lang="en-US" sz="9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1434406"/>
            <a:ext cx="2213000" cy="55245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3" name="Text 11"/>
          <p:cNvSpPr/>
          <p:nvPr/>
        </p:nvSpPr>
        <p:spPr>
          <a:xfrm>
            <a:off x="695325" y="1539181"/>
            <a:ext cx="203174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</a:rPr>
              <a:t>Health and Retirement Study</a:t>
            </a:r>
            <a:endParaRPr lang="en-US" sz="1125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84500" y="1434406"/>
            <a:ext cx="1872556" cy="55245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2908325" y="1539181"/>
            <a:ext cx="1681082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US adults age 51+</a:t>
            </a:r>
            <a:endParaRPr lang="en-US" sz="975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7056" y="1434406"/>
            <a:ext cx="1276797" cy="55245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4780881" y="1539181"/>
            <a:ext cx="1067451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</a:rPr>
              <a:t>Census tract</a:t>
            </a:r>
            <a:endParaRPr lang="en-US" sz="975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33852" y="1434406"/>
            <a:ext cx="2638648" cy="55245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6057677" y="1539181"/>
            <a:ext cx="2470158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Accessed through virtual enclave with restricted data application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95325" y="2091631"/>
            <a:ext cx="203174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</a:rPr>
              <a:t>National Health and Aging Trends Study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908325" y="2091631"/>
            <a:ext cx="1681082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US adults age 65+ 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780881" y="2091631"/>
            <a:ext cx="1067451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</a:rPr>
              <a:t>Census tract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057677" y="2091631"/>
            <a:ext cx="2470158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Accessed through virtual enclave with restricted data application</a:t>
            </a:r>
            <a:endParaRPr lang="en-US" sz="975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2539306"/>
            <a:ext cx="2213000" cy="55245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5" name="Text 23"/>
          <p:cNvSpPr/>
          <p:nvPr/>
        </p:nvSpPr>
        <p:spPr>
          <a:xfrm>
            <a:off x="695325" y="2644081"/>
            <a:ext cx="203174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</a:rPr>
              <a:t>Panel Study of Income Dynamics</a:t>
            </a:r>
            <a:endParaRPr lang="en-US" sz="1125" dirty="0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84500" y="2539306"/>
            <a:ext cx="1872556" cy="55245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7" name="Text 25"/>
          <p:cNvSpPr/>
          <p:nvPr/>
        </p:nvSpPr>
        <p:spPr>
          <a:xfrm>
            <a:off x="2908325" y="2644081"/>
            <a:ext cx="1681082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1968 US sample</a:t>
            </a:r>
            <a:endParaRPr lang="en-US" sz="975" dirty="0"/>
          </a:p>
        </p:txBody>
      </p:sp>
      <p:sp>
        <p:nvSpPr>
          <p:cNvPr id="28" name="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7056" y="2539306"/>
            <a:ext cx="1276797" cy="55245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9" name="Text 27"/>
          <p:cNvSpPr/>
          <p:nvPr/>
        </p:nvSpPr>
        <p:spPr>
          <a:xfrm>
            <a:off x="4780881" y="2644081"/>
            <a:ext cx="1067451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</a:rPr>
              <a:t>Block group</a:t>
            </a:r>
            <a:endParaRPr lang="en-US" sz="975" dirty="0"/>
          </a:p>
        </p:txBody>
      </p:sp>
      <p:sp>
        <p:nvSpPr>
          <p:cNvPr id="30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33852" y="2539306"/>
            <a:ext cx="2638648" cy="55245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31" name="Text 29"/>
          <p:cNvSpPr/>
          <p:nvPr/>
        </p:nvSpPr>
        <p:spPr>
          <a:xfrm>
            <a:off x="6057677" y="2644081"/>
            <a:ext cx="2470158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Accessed through virtual enclave with restricted data application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95325" y="3196531"/>
            <a:ext cx="203174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</a:rPr>
              <a:t>Michigan Medicine Electronic Health Records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2908325" y="3196531"/>
            <a:ext cx="1681082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Michigan Medicine patients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780881" y="3196531"/>
            <a:ext cx="1067451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</a:rPr>
              <a:t>Residential address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6057677" y="3196531"/>
            <a:ext cx="2470158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IRB approval and U-M affiliation, accessed through DataDirect</a:t>
            </a:r>
            <a:endParaRPr lang="en-US" sz="975" dirty="0"/>
          </a:p>
        </p:txBody>
      </p:sp>
      <p:sp>
        <p:nvSpPr>
          <p:cNvPr id="36" name="Shap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3644206"/>
            <a:ext cx="2213000" cy="692423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37" name="Text 35"/>
          <p:cNvSpPr/>
          <p:nvPr/>
        </p:nvSpPr>
        <p:spPr>
          <a:xfrm>
            <a:off x="695325" y="3748981"/>
            <a:ext cx="2031740" cy="50192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</a:rPr>
              <a:t>Federal Statistical Research Data Centers</a:t>
            </a:r>
            <a:endParaRPr lang="en-US" sz="1125" dirty="0"/>
          </a:p>
        </p:txBody>
      </p:sp>
      <p:sp>
        <p:nvSpPr>
          <p:cNvPr id="38" name="Shap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84500" y="3644206"/>
            <a:ext cx="1872556" cy="692423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39" name="Text 37"/>
          <p:cNvSpPr/>
          <p:nvPr/>
        </p:nvSpPr>
        <p:spPr>
          <a:xfrm>
            <a:off x="2908325" y="3748981"/>
            <a:ext cx="1681082" cy="50192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Varies by dataset (Census, NCHS, AHRQ surveys)</a:t>
            </a:r>
            <a:endParaRPr lang="en-US" sz="975" dirty="0"/>
          </a:p>
        </p:txBody>
      </p:sp>
      <p:sp>
        <p:nvSpPr>
          <p:cNvPr id="40" name="Shap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7056" y="3644206"/>
            <a:ext cx="1276797" cy="692423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41" name="Text 39"/>
          <p:cNvSpPr/>
          <p:nvPr/>
        </p:nvSpPr>
        <p:spPr>
          <a:xfrm>
            <a:off x="4780881" y="3748981"/>
            <a:ext cx="1067451" cy="50192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</a:rPr>
              <a:t>Census block</a:t>
            </a:r>
            <a:endParaRPr lang="en-US" sz="975" dirty="0"/>
          </a:p>
        </p:txBody>
      </p:sp>
      <p:sp>
        <p:nvSpPr>
          <p:cNvPr id="42" name="Shap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33852" y="3644206"/>
            <a:ext cx="2638648" cy="692423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43" name="Text 41"/>
          <p:cNvSpPr/>
          <p:nvPr/>
        </p:nvSpPr>
        <p:spPr>
          <a:xfrm>
            <a:off x="6057677" y="3748981"/>
            <a:ext cx="2470158" cy="50192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103333"/>
                </a:solidFill>
                <a:latin typeface="Tahoma" pitchFamily="34" charset="0"/>
              </a:rPr>
              <a:t>Approved project proposal and background check, accessed in a secure research data center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95592964-E364-4A07-ADC4-97E46436CD8E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t>24</a:t>
            </a:fld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1500" y="619125"/>
            <a:ext cx="7358063" cy="857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0722"/>
              </a:lnSpc>
              <a:buNone/>
            </a:pPr>
            <a:r>
              <a:rPr lang="en-US" sz="3000" b="1" kern="0" spc="-37" dirty="0">
                <a:solidFill>
                  <a:srgbClr val="FFFFFF"/>
                </a:solidFill>
                <a:latin typeface="Tahoma" pitchFamily="34" charset="0"/>
              </a:rPr>
              <a:t>Your data plus NaNDA data, joined on one geographic identifier.</a:t>
            </a:r>
            <a:endParaRPr lang="en-US" sz="30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2476500"/>
            <a:ext cx="1428750" cy="1428750"/>
          </a:xfrm>
          <a:prstGeom prst="ellipse">
            <a:avLst/>
          </a:prstGeom>
          <a:solidFill>
            <a:srgbClr val="1D9ADD"/>
          </a:solidFill>
          <a:ln/>
        </p:spPr>
      </p:sp>
      <p:pic>
        <p:nvPicPr>
          <p:cNvPr id="4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88" y="2833688"/>
            <a:ext cx="714375" cy="714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8931" y="4057650"/>
            <a:ext cx="534814" cy="5238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Tahoma" pitchFamily="34" charset="0"/>
              </a:rPr>
              <a:t>Your Data</a:t>
            </a:r>
            <a:endParaRPr lang="en-US" sz="1650" dirty="0"/>
          </a:p>
        </p:txBody>
      </p:sp>
      <p:pic>
        <p:nvPicPr>
          <p:cNvPr id="6" name="plus" descr="plus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2762250" y="2928938"/>
            <a:ext cx="523875" cy="523875"/>
          </a:xfrm>
          <a:prstGeom prst="rect">
            <a:avLst/>
          </a:prstGeom>
        </p:spPr>
      </p:pic>
      <p:sp>
        <p:nvSpPr>
          <p:cNvPr id="7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7625" y="2476500"/>
            <a:ext cx="1428750" cy="1428750"/>
          </a:xfrm>
          <a:prstGeom prst="ellipse">
            <a:avLst/>
          </a:prstGeom>
          <a:solidFill>
            <a:srgbClr val="1D9ADD"/>
          </a:solidFill>
          <a:ln/>
        </p:spPr>
      </p:sp>
      <p:pic>
        <p:nvPicPr>
          <p:cNvPr id="8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2833688"/>
            <a:ext cx="714375" cy="7143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77680" y="4057650"/>
            <a:ext cx="788640" cy="5238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Tahoma" pitchFamily="34" charset="0"/>
              </a:rPr>
              <a:t>NaNDA Data</a:t>
            </a:r>
            <a:endParaRPr lang="en-US" sz="1650" dirty="0"/>
          </a:p>
        </p:txBody>
      </p:sp>
      <p:pic>
        <p:nvPicPr>
          <p:cNvPr id="10" name="equals" descr="equals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5857875" y="2928938"/>
            <a:ext cx="523875" cy="523875"/>
          </a:xfrm>
          <a:prstGeom prst="rect">
            <a:avLst/>
          </a:prstGeom>
        </p:spPr>
      </p:pic>
      <p:sp>
        <p:nvSpPr>
          <p:cNvPr id="11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2381250"/>
            <a:ext cx="1619250" cy="1619250"/>
          </a:xfrm>
          <a:prstGeom prst="ellipse">
            <a:avLst/>
          </a:prstGeom>
          <a:solidFill>
            <a:srgbClr val="1D9ADD"/>
          </a:solidFill>
          <a:ln>
            <a:noFill/>
          </a:ln>
        </p:spPr>
      </p:sp>
      <p:sp>
        <p:nvSpPr>
          <p:cNvPr id="12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0363" y="2533650"/>
            <a:ext cx="1314450" cy="1314450"/>
          </a:xfrm>
          <a:prstGeom prst="ellipse">
            <a:avLst/>
          </a:prstGeom>
          <a:solidFill>
            <a:srgbClr val="004A98"/>
          </a:solidFill>
          <a:ln w="76200">
            <a:solidFill>
              <a:srgbClr val="004A98"/>
            </a:solidFill>
            <a:prstDash val="solid"/>
          </a:ln>
        </p:spPr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B0761E-CAE9-44F8-5E0D-D506810BA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086563" y="2609850"/>
            <a:ext cx="1162050" cy="1162050"/>
            <a:chOff x="5336977" y="3648075"/>
            <a:chExt cx="1162050" cy="1162050"/>
          </a:xfrm>
        </p:grpSpPr>
        <p:sp>
          <p:nvSpPr>
            <p:cNvPr id="13" name="Shap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36977" y="3648075"/>
              <a:ext cx="1162050" cy="116205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14" name="Decorative image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5608439" y="3919538"/>
              <a:ext cx="619125" cy="619125"/>
            </a:xfrm>
            <a:prstGeom prst="rect">
              <a:avLst/>
            </a:prstGeom>
          </p:spPr>
        </p:pic>
      </p:grpSp>
      <p:sp>
        <p:nvSpPr>
          <p:cNvPr id="15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9683" y="4229100"/>
            <a:ext cx="1595810" cy="3762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9"/>
          <p:cNvSpPr/>
          <p:nvPr/>
        </p:nvSpPr>
        <p:spPr>
          <a:xfrm>
            <a:off x="6923243" y="4267200"/>
            <a:ext cx="1488691" cy="3190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4A98"/>
                </a:solidFill>
                <a:latin typeface="Tahoma" pitchFamily="34" charset="0"/>
              </a:rPr>
              <a:t>New Ideas</a:t>
            </a:r>
            <a:endParaRPr lang="en-US" sz="1950" dirty="0"/>
          </a:p>
        </p:txBody>
      </p:sp>
      <p:sp>
        <p:nvSpPr>
          <p:cNvPr id="18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5E87A260-0A07-4104-B359-B89C0278FF52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25</a:t>
            </a:fld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71500" y="523875"/>
            <a:ext cx="2550795" cy="1695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83019"/>
              </a:lnSpc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Tahoma" pitchFamily="34" charset="0"/>
              </a:rPr>
              <a:t>NaNDA repository walk through</a:t>
            </a:r>
            <a:endParaRPr lang="en-US" sz="33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2371725"/>
            <a:ext cx="476250" cy="47625"/>
          </a:xfrm>
          <a:prstGeom prst="rect">
            <a:avLst/>
          </a:prstGeom>
          <a:solidFill>
            <a:srgbClr val="1D9ADD"/>
          </a:solidFill>
          <a:ln/>
        </p:spPr>
      </p:sp>
      <p:sp>
        <p:nvSpPr>
          <p:cNvPr id="4" name="Text 2">
            <a:hlinkClick r:id="rId3"/>
          </p:cNvPr>
          <p:cNvSpPr/>
          <p:nvPr/>
        </p:nvSpPr>
        <p:spPr>
          <a:xfrm>
            <a:off x="571500" y="3993357"/>
            <a:ext cx="2551176" cy="59769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125" b="1" u="sng" dirty="0">
                <a:solidFill>
                  <a:srgbClr val="FFFFFF"/>
                </a:solidFill>
                <a:uFill>
                  <a:solidFill>
                    <a:srgbClr val="1D9ADD"/>
                  </a:solidFill>
                </a:uFill>
                <a:latin typeface="Tahoma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Navigating the National</a:t>
            </a:r>
            <a:br>
              <a:rPr lang="en-US" sz="1125" b="1" u="sng" dirty="0">
                <a:solidFill>
                  <a:srgbClr val="FFFFFF"/>
                </a:solidFill>
                <a:uFill>
                  <a:solidFill>
                    <a:srgbClr val="1D9ADD"/>
                  </a:solidFill>
                </a:uFill>
                <a:latin typeface="Tahoma" pitchFamily="34" charset="0"/>
              </a:rPr>
            </a:br>
            <a:r>
              <a:rPr lang="en-US" sz="1125" b="1" u="sng" dirty="0">
                <a:solidFill>
                  <a:srgbClr val="FFFFFF"/>
                </a:solidFill>
                <a:uFill>
                  <a:solidFill>
                    <a:srgbClr val="1D9ADD"/>
                  </a:solidFill>
                </a:uFill>
                <a:latin typeface="Tahoma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Neighborhood Data Archive 🗺️</a:t>
            </a:r>
            <a:br>
              <a:rPr lang="en-US" sz="1125" b="1" u="sng" dirty="0">
                <a:solidFill>
                  <a:srgbClr val="FFFFFF"/>
                </a:solidFill>
                <a:uFill>
                  <a:solidFill>
                    <a:srgbClr val="1D9ADD"/>
                  </a:solidFill>
                </a:uFill>
                <a:latin typeface="Tahoma" pitchFamily="34" charset="0"/>
              </a:rPr>
            </a:br>
            <a:r>
              <a:rPr lang="en-US" sz="1125" b="1" u="sng" dirty="0">
                <a:solidFill>
                  <a:srgbClr val="FFFFFF"/>
                </a:solidFill>
                <a:uFill>
                  <a:solidFill>
                    <a:srgbClr val="1D9ADD"/>
                  </a:solidFill>
                </a:uFill>
                <a:latin typeface="Tahoma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Video</a:t>
            </a:r>
            <a:endParaRPr lang="en-US" sz="1125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19500" y="619125"/>
            <a:ext cx="4953000" cy="390525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blurRad="381000" dist="190500" dir="5400000" algn="bl" rotWithShape="0">
              <a:srgbClr val="001432">
                <a:alpha val="45000"/>
              </a:srgbClr>
            </a:outerShdw>
          </a:effectLst>
        </p:spPr>
      </p:sp>
      <p:pic>
        <p:nvPicPr>
          <p:cNvPr id="6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0085" b="-20085"/>
          <a:stretch/>
        </p:blipFill>
        <p:spPr>
          <a:xfrm>
            <a:off x="3619500" y="619125"/>
            <a:ext cx="4953000" cy="3905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721D925F-BB01-455D-8BD7-1C5042DCC56C}" type="slidenum">
              <a:rPr lang="en-US" sz="900" dirty="0">
                <a:solidFill>
                  <a:srgbClr val="DDEBF7"/>
                </a:solidFill>
                <a:latin typeface="Tahoma" pitchFamily="34" charset="0"/>
              </a:rPr>
              <a:t>26</a:t>
            </a:fld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0" y="-571500"/>
            <a:ext cx="3048000" cy="381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1" dirty="0">
                <a:solidFill>
                  <a:srgbClr val="004A98"/>
                </a:solidFill>
                <a:latin typeface="Tahoma"/>
              </a:rPr>
              <a:t>Contact NaNDA</a:t>
            </a:r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0250" y="-952500"/>
            <a:ext cx="4286250" cy="4286250"/>
          </a:xfrm>
          <a:prstGeom prst="ellipse">
            <a:avLst/>
          </a:prstGeom>
          <a:solidFill>
            <a:srgbClr val="0A5BB0"/>
          </a:solidFill>
          <a:ln/>
        </p:spPr>
      </p:sp>
      <p:pic>
        <p:nvPicPr>
          <p:cNvPr id="3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5500" y="2095500"/>
            <a:ext cx="2667000" cy="2667000"/>
          </a:xfrm>
          <a:prstGeom prst="rect">
            <a:avLst/>
          </a:prstGeom>
        </p:spPr>
      </p:pic>
      <p:pic>
        <p:nvPicPr>
          <p:cNvPr id="4" name="Contact NaNDA" descr="Contact NaNDA, National Neighborhood Data Archi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8625"/>
            <a:ext cx="1809750" cy="1429941"/>
          </a:xfrm>
          <a:prstGeom prst="rect">
            <a:avLst/>
          </a:prstGeom>
        </p:spPr>
      </p:pic>
      <p:pic>
        <p:nvPicPr>
          <p:cNvPr id="5" name="Website" descr="Website: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2238375"/>
            <a:ext cx="247650" cy="2476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71550" y="2247900"/>
            <a:ext cx="20054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nanda.isr.umich.edu</a:t>
            </a:r>
            <a:endParaRPr lang="en-US" sz="1500" dirty="0"/>
          </a:p>
        </p:txBody>
      </p:sp>
      <p:pic>
        <p:nvPicPr>
          <p:cNvPr id="7" name="Email" descr="Email: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2647950"/>
            <a:ext cx="247650" cy="2476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71550" y="2657475"/>
            <a:ext cx="2515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nanda-admin@umich.edu</a:t>
            </a:r>
            <a:endParaRPr lang="en-US" sz="1500" dirty="0"/>
          </a:p>
        </p:txBody>
      </p:sp>
      <p:pic>
        <p:nvPicPr>
          <p:cNvPr id="9" name="Instagram" descr="Instagram: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1500" y="3057525"/>
            <a:ext cx="247650" cy="2476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71550" y="3067050"/>
            <a:ext cx="13284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@UM_NaNDA</a:t>
            </a:r>
            <a:endParaRPr lang="en-US" sz="1500" dirty="0"/>
          </a:p>
        </p:txBody>
      </p:sp>
      <p:pic>
        <p:nvPicPr>
          <p:cNvPr id="11" name="Threads" descr="Threads: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500" y="3467100"/>
            <a:ext cx="247650" cy="2476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71550" y="3476625"/>
            <a:ext cx="13284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@UM_NaNDA</a:t>
            </a:r>
            <a:endParaRPr lang="en-US" sz="1500" dirty="0"/>
          </a:p>
        </p:txBody>
      </p:sp>
      <p:pic>
        <p:nvPicPr>
          <p:cNvPr id="13" name="LinkedIn" descr="LinkedIn: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1500" y="3876675"/>
            <a:ext cx="247650" cy="24765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971550" y="3886200"/>
            <a:ext cx="33847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linkedin.com/company/um-nanda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9E86C144-1DFD-442B-A8F2-7A4A1EE22E59}" type="slidenum">
              <a:rPr lang="en-US" sz="900" dirty="0">
                <a:solidFill>
                  <a:srgbClr val="DDEBF7"/>
                </a:solidFill>
                <a:latin typeface="Tahoma" pitchFamily="34" charset="0"/>
              </a:rPr>
              <a:t>27</a:t>
            </a:fld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breakout</a:t>
            </a:r>
          </a:p>
        </p:txBody>
      </p:sp>
      <p:sp>
        <p:nvSpPr>
          <p:cNvPr id="3" name="Reconvene time"/>
          <p:cNvSpPr/>
          <p:nvPr/>
        </p:nvSpPr>
        <p:spPr>
          <a:xfrm>
            <a:off x="6431690" y="400000"/>
            <a:ext cx="2300000" cy="340000"/>
          </a:xfrm>
          <a:prstGeom prst="roundRect">
            <a:avLst>
              <a:gd name="adj" fmla="val 50000"/>
            </a:avLst>
          </a:prstGeom>
          <a:solidFill>
            <a:srgbClr val="E6F4FC"/>
          </a:solidFill>
          <a:ln>
            <a:noFill/>
          </a:ln>
        </p:spPr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A98"/>
                </a:solidFill>
                <a:latin typeface="Tahoma"/>
              </a:rPr>
              <a:t>Back together at 1:45</a:t>
            </a:r>
          </a:p>
        </p:txBody>
      </p:sp>
      <p:sp>
        <p:nvSpPr>
          <p:cNvPr id="4" name="Beginner track card"/>
          <p:cNvSpPr/>
          <p:nvPr/>
        </p:nvSpPr>
        <p:spPr>
          <a:xfrm>
            <a:off x="412310" y="1170000"/>
            <a:ext cx="4045390" cy="2120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3736" tIns="173736" rIns="173736" bIns="9144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004A98"/>
                </a:solidFill>
                <a:latin typeface="Tahoma"/>
              </a:rPr>
              <a:t>BEGINNER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004A98"/>
                </a:solidFill>
                <a:latin typeface="Tahoma"/>
              </a:rPr>
              <a:t>Choosing Your First NaNDA Dataset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>
                <a:solidFill>
                  <a:srgbClr val="103333"/>
                </a:solidFill>
                <a:latin typeface="Tahoma"/>
              </a:rPr>
              <a:t>Pick this if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103333"/>
                </a:solidFill>
                <a:latin typeface="Tahoma"/>
              </a:rPr>
              <a:t>You are new to neighborhood data, or want help finding the right dataset.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100" b="1">
                <a:solidFill>
                  <a:srgbClr val="103333"/>
                </a:solidFill>
                <a:latin typeface="Tahoma"/>
              </a:rPr>
              <a:t>You'll leave with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103333"/>
                </a:solidFill>
                <a:latin typeface="Tahoma"/>
              </a:rPr>
              <a:t>A NaNDA dataset matched to your geography and years.</a:t>
            </a:r>
          </a:p>
        </p:txBody>
      </p:sp>
      <p:sp>
        <p:nvSpPr>
          <p:cNvPr id="5" name="Beginner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2310" y="1170000"/>
            <a:ext cx="4045390" cy="4572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Intermediate track card"/>
          <p:cNvSpPr/>
          <p:nvPr/>
        </p:nvSpPr>
        <p:spPr>
          <a:xfrm>
            <a:off x="4686300" y="1170000"/>
            <a:ext cx="4045390" cy="2120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3736" tIns="173736" rIns="173736" bIns="9144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004A98"/>
                </a:solidFill>
                <a:latin typeface="Tahoma"/>
              </a:rPr>
              <a:t>INTERMEDIATE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004A98"/>
                </a:solidFill>
                <a:latin typeface="Tahoma"/>
              </a:rPr>
              <a:t>Linking NaNDA with Your Data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>
                <a:solidFill>
                  <a:srgbClr val="103333"/>
                </a:solidFill>
                <a:latin typeface="Tahoma"/>
              </a:rPr>
              <a:t>Pick this if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103333"/>
                </a:solidFill>
                <a:latin typeface="Tahoma"/>
              </a:rPr>
              <a:t>Your data have addresses, ZIP codes, or census tracts to merge with NaNDA.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100" b="1">
                <a:solidFill>
                  <a:srgbClr val="103333"/>
                </a:solidFill>
                <a:latin typeface="Tahoma"/>
              </a:rPr>
              <a:t>You'll leave with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103333"/>
                </a:solidFill>
                <a:latin typeface="Tahoma"/>
              </a:rPr>
              <a:t>A merge you ran on practice data, plus code you can reuse.</a:t>
            </a:r>
          </a:p>
        </p:txBody>
      </p:sp>
      <p:sp>
        <p:nvSpPr>
          <p:cNvPr id="7" name="Intermediate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170000"/>
            <a:ext cx="4045390" cy="4572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How to join"/>
          <p:cNvSpPr/>
          <p:nvPr/>
        </p:nvSpPr>
        <p:spPr>
          <a:xfrm>
            <a:off x="412310" y="3420000"/>
            <a:ext cx="8319380" cy="7200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wrap="square" lIns="173736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</a:rPr>
              <a:t>How to join</a:t>
            </a:r>
          </a:p>
        </p:txBody>
      </p:sp>
      <p:sp>
        <p:nvSpPr>
          <p:cNvPr id="9" name="Step 1 number"/>
          <p:cNvSpPr/>
          <p:nvPr/>
        </p:nvSpPr>
        <p:spPr>
          <a:xfrm>
            <a:off x="1862310" y="36199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A98"/>
                </a:solidFill>
                <a:latin typeface="Tahoma"/>
              </a:rPr>
              <a:t>1</a:t>
            </a:r>
          </a:p>
        </p:txBody>
      </p:sp>
      <p:sp>
        <p:nvSpPr>
          <p:cNvPr id="10" name="Step 1"/>
          <p:cNvSpPr txBox="1"/>
          <p:nvPr/>
        </p:nvSpPr>
        <p:spPr>
          <a:xfrm>
            <a:off x="2273790" y="3420000"/>
            <a:ext cx="178136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ahoma"/>
              </a:rPr>
              <a:t>Click </a:t>
            </a:r>
            <a:r>
              <a:rPr sz="1100" b="1">
                <a:solidFill>
                  <a:srgbClr val="FFFFFF"/>
                </a:solidFill>
                <a:latin typeface="Tahoma"/>
              </a:rPr>
              <a:t>Breakout Rooms</a:t>
            </a:r>
            <a:r>
              <a:rPr sz="1100" b="0">
                <a:solidFill>
                  <a:srgbClr val="FFFFFF"/>
                </a:solidFill>
                <a:latin typeface="Tahoma"/>
              </a:rPr>
              <a:t> in your Zoom toolbar. It may be under </a:t>
            </a:r>
            <a:r>
              <a:rPr sz="1100" b="1">
                <a:solidFill>
                  <a:srgbClr val="FFFFFF"/>
                </a:solidFill>
                <a:latin typeface="Tahoma"/>
              </a:rPr>
              <a:t>More</a:t>
            </a:r>
            <a:r>
              <a:rPr sz="1100" b="0">
                <a:solidFill>
                  <a:srgbClr val="FFFFFF"/>
                </a:solidFill>
                <a:latin typeface="Tahoma"/>
              </a:rPr>
              <a:t>.</a:t>
            </a:r>
          </a:p>
        </p:txBody>
      </p:sp>
      <p:sp>
        <p:nvSpPr>
          <p:cNvPr id="11" name="Step 2 number"/>
          <p:cNvSpPr/>
          <p:nvPr/>
        </p:nvSpPr>
        <p:spPr>
          <a:xfrm>
            <a:off x="4192310" y="36199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A98"/>
                </a:solidFill>
                <a:latin typeface="Tahoma"/>
              </a:rPr>
              <a:t>2</a:t>
            </a:r>
          </a:p>
        </p:txBody>
      </p:sp>
      <p:sp>
        <p:nvSpPr>
          <p:cNvPr id="12" name="Step 2"/>
          <p:cNvSpPr txBox="1"/>
          <p:nvPr/>
        </p:nvSpPr>
        <p:spPr>
          <a:xfrm>
            <a:off x="4603790" y="3420000"/>
            <a:ext cx="178136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ahoma"/>
              </a:rPr>
              <a:t>Choose </a:t>
            </a:r>
            <a:r>
              <a:rPr sz="1100" b="1">
                <a:solidFill>
                  <a:srgbClr val="FFFFFF"/>
                </a:solidFill>
                <a:latin typeface="Tahoma"/>
              </a:rPr>
              <a:t>Beginner</a:t>
            </a:r>
            <a:r>
              <a:rPr sz="1100" b="0">
                <a:solidFill>
                  <a:srgbClr val="FFFFFF"/>
                </a:solidFill>
                <a:latin typeface="Tahoma"/>
              </a:rPr>
              <a:t> or </a:t>
            </a:r>
            <a:r>
              <a:rPr sz="1100" b="1">
                <a:solidFill>
                  <a:srgbClr val="FFFFFF"/>
                </a:solidFill>
                <a:latin typeface="Tahoma"/>
              </a:rPr>
              <a:t>Intermediate</a:t>
            </a:r>
            <a:r>
              <a:rPr sz="1100" b="0">
                <a:solidFill>
                  <a:srgbClr val="FFFFFF"/>
                </a:solidFill>
                <a:latin typeface="Tahoma"/>
              </a:rPr>
              <a:t>, then click </a:t>
            </a:r>
            <a:r>
              <a:rPr sz="1100" b="1">
                <a:solidFill>
                  <a:srgbClr val="FFFFFF"/>
                </a:solidFill>
                <a:latin typeface="Tahoma"/>
              </a:rPr>
              <a:t>Join</a:t>
            </a:r>
            <a:r>
              <a:rPr sz="1100" b="0">
                <a:solidFill>
                  <a:srgbClr val="FFFFFF"/>
                </a:solidFill>
                <a:latin typeface="Tahoma"/>
              </a:rPr>
              <a:t>.</a:t>
            </a:r>
          </a:p>
        </p:txBody>
      </p:sp>
      <p:sp>
        <p:nvSpPr>
          <p:cNvPr id="13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2310" y="3570000"/>
            <a:ext cx="19050" cy="4200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ip"/>
          <p:cNvSpPr txBox="1"/>
          <p:nvPr/>
        </p:nvSpPr>
        <p:spPr>
          <a:xfrm>
            <a:off x="6705190" y="3420000"/>
            <a:ext cx="188934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ahoma"/>
              </a:rPr>
              <a:t>Not sure? </a:t>
            </a:r>
            <a:r>
              <a:rPr sz="1100" b="0">
                <a:solidFill>
                  <a:srgbClr val="FFFFFF"/>
                </a:solidFill>
                <a:latin typeface="Tahoma"/>
              </a:rPr>
              <a:t>Start with Beginner. You can switch rooms any time.</a:t>
            </a:r>
          </a:p>
        </p:txBody>
      </p:sp>
      <p:sp>
        <p:nvSpPr>
          <p:cNvPr id="15" name="Slide Number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EBA70D93-50D0-44B0-B696-A604FFBC6501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t>28</a:t>
            </a:fld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50708"/>
      </a:dk1>
      <a:lt1>
        <a:srgbClr val="FFFFFF"/>
      </a:lt1>
      <a:dk2>
        <a:srgbClr val="5C666D"/>
      </a:dk2>
      <a:lt2>
        <a:srgbClr val="F5F8FA"/>
      </a:lt2>
      <a:accent1>
        <a:srgbClr val="004A98"/>
      </a:accent1>
      <a:accent2>
        <a:srgbClr val="1D9ADD"/>
      </a:accent2>
      <a:accent3>
        <a:srgbClr val="16B1C1"/>
      </a:accent3>
      <a:accent4>
        <a:srgbClr val="49AA31"/>
      </a:accent4>
      <a:accent5>
        <a:srgbClr val="59D3EF"/>
      </a:accent5>
      <a:accent6>
        <a:srgbClr val="103333"/>
      </a:accent6>
      <a:hlink>
        <a:srgbClr val="004A98"/>
      </a:hlink>
      <a:folHlink>
        <a:srgbClr val="003A77"/>
      </a:folHlink>
    </a:clrScheme>
    <a:fontScheme name="Office">
      <a:maj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ahoma"/>
        <a:font script="Hebr" typeface="Tahom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ahoma"/>
        <a:font script="Hebr" typeface="Tahom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Microsoft Office PowerPoint</Application>
  <PresentationFormat>On-screen Show (16:9)</PresentationFormat>
  <Paragraphs>289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Courier New</vt:lpstr>
      <vt:lpstr>Tahoma</vt:lpstr>
      <vt:lpstr>Verdana</vt:lpstr>
      <vt:lpstr>Simple Light</vt:lpstr>
      <vt:lpstr>Using Neighborhood Data in Aging Research</vt:lpstr>
      <vt:lpstr>Funding &amp; support</vt:lpstr>
      <vt:lpstr>Your presenters</vt:lpstr>
      <vt:lpstr>Today's plan</vt:lpstr>
      <vt:lpstr>Housekeeping</vt:lpstr>
      <vt:lpstr>Workshop materials</vt:lpstr>
      <vt:lpstr>In the chat: what do you wish you could measure about the neighborhoods?</vt:lpstr>
      <vt:lpstr>By 2:00 you will be able to</vt:lpstr>
      <vt:lpstr>Two options. You pick one at 12:55.</vt:lpstr>
      <vt:lpstr>NaNDA overview</vt:lpstr>
      <vt:lpstr>What we'll cover</vt:lpstr>
      <vt:lpstr>What is your neighborhood?</vt:lpstr>
      <vt:lpstr>SOCIAL DETERMINANTS OF HEALTH</vt:lpstr>
      <vt:lpstr>What we mean by neighborhood</vt:lpstr>
      <vt:lpstr>Where data come from</vt:lpstr>
      <vt:lpstr>Every research team was building the same neighborhood measures from scratch.</vt:lpstr>
      <vt:lpstr>What is NaNDA?</vt:lpstr>
      <vt:lpstr>FAIR data principles</vt:lpstr>
      <vt:lpstr>Examples of neighborhood topics include:</vt:lpstr>
      <vt:lpstr>Data updates</vt:lpstr>
      <vt:lpstr>Hierarchy of select geographic entities</vt:lpstr>
      <vt:lpstr>NaNDA geographies</vt:lpstr>
      <vt:lpstr>Which geography do I use?</vt:lpstr>
      <vt:lpstr>“Pre-linked” NaNDA</vt:lpstr>
      <vt:lpstr>Your data plus NaNDA data, joined on one geographic identifier.</vt:lpstr>
      <vt:lpstr>NaNDA repository walk through</vt:lpstr>
      <vt:lpstr>Contact NaNDA</vt:lpstr>
      <vt:lpstr>Choose your breakout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24</cp:revision>
  <dcterms:modified xsi:type="dcterms:W3CDTF">2026-09-30T21:01:18Z</dcterms:modified>
</cp:coreProperties>
</file>