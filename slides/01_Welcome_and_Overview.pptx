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trictFirstAndLastChars="0" autoCompressPictures="0">
  <p:sldMasterIdLst>
    <p:sldMasterId id="2147483662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80" r:id="rId21"/>
    <p:sldId id="276" r:id="rId22"/>
    <p:sldId id="277" r:id="rId23"/>
    <p:sldId id="278" r:id="rId24"/>
    <p:sldId id="275" r:id="rId25"/>
    <p:sldId id="279" r:id="rId26"/>
    <p:sldId id="281" r:id="rId27"/>
    <p:sldId id="282" r:id="rId28"/>
    <p:sldId id="283" r:id="rId2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39" autoAdjust="0"/>
    <p:restoredTop sz="94660"/>
  </p:normalViewPr>
  <p:slideViewPr>
    <p:cSldViewPr snapToGrid="0">
      <p:cViewPr varScale="1">
        <p:scale>
          <a:sx n="133" d="100"/>
          <a:sy n="133" d="100"/>
        </p:scale>
        <p:origin x="828" y="15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Verdana"/>
      <a:defRPr sz="1400" b="0" i="0" u="none" strike="noStrike" cap="none" spc="0">
        <a:solidFill>
          <a:srgbClr val="000000"/>
        </a:solidFill>
        <a:latin typeface="Verdana"/>
        <a:ea typeface="Verdana"/>
        <a:cs typeface="Verdana"/>
        <a:sym typeface="Verdana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maiz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28600" y="228600"/>
            <a:ext cx="8686800" cy="4686300"/>
          </a:xfrm>
          <a:prstGeom prst="rect">
            <a:avLst/>
          </a:prstGeom>
          <a:solidFill>
            <a:srgbClr val="E6F4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946950" y="1097425"/>
            <a:ext cx="7250100" cy="171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Font typeface="Tahoma"/>
              <a:buNone/>
              <a:defRPr sz="5200" b="0">
                <a:solidFill>
                  <a:srgbClr val="004A98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946950" y="2910325"/>
            <a:ext cx="7250100" cy="15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708"/>
              </a:buClr>
              <a:buSzPts val="2000"/>
              <a:buFont typeface="Tahoma"/>
              <a:buNone/>
              <a:defRPr sz="2000"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290508" y="44450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rgbClr val="5C666D"/>
                </a:solidFill>
              </a:defRPr>
            </a:lvl1pPr>
            <a:lvl2pPr lvl="1">
              <a:buNone/>
              <a:defRPr>
                <a:solidFill>
                  <a:srgbClr val="5C666D"/>
                </a:solidFill>
              </a:defRPr>
            </a:lvl2pPr>
            <a:lvl3pPr lvl="2">
              <a:buNone/>
              <a:defRPr>
                <a:solidFill>
                  <a:srgbClr val="5C666D"/>
                </a:solidFill>
              </a:defRPr>
            </a:lvl3pPr>
            <a:lvl4pPr lvl="3">
              <a:buNone/>
              <a:defRPr>
                <a:solidFill>
                  <a:srgbClr val="5C666D"/>
                </a:solidFill>
              </a:defRPr>
            </a:lvl4pPr>
            <a:lvl5pPr lvl="4">
              <a:buNone/>
              <a:defRPr>
                <a:solidFill>
                  <a:srgbClr val="5C666D"/>
                </a:solidFill>
              </a:defRPr>
            </a:lvl5pPr>
            <a:lvl6pPr lvl="5">
              <a:buNone/>
              <a:defRPr>
                <a:solidFill>
                  <a:srgbClr val="5C666D"/>
                </a:solidFill>
              </a:defRPr>
            </a:lvl6pPr>
            <a:lvl7pPr lvl="6">
              <a:buNone/>
              <a:defRPr>
                <a:solidFill>
                  <a:srgbClr val="5C666D"/>
                </a:solidFill>
              </a:defRPr>
            </a:lvl7pPr>
            <a:lvl8pPr lvl="7">
              <a:buNone/>
              <a:defRPr>
                <a:solidFill>
                  <a:srgbClr val="5C666D"/>
                </a:solidFill>
              </a:defRPr>
            </a:lvl8pPr>
            <a:lvl9pPr lvl="8">
              <a:buNone/>
              <a:defRPr>
                <a:solidFill>
                  <a:srgbClr val="5C666D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746825" y="644113"/>
            <a:ext cx="3186000" cy="453300"/>
          </a:xfrm>
          <a:prstGeom prst="roundRect">
            <a:avLst>
              <a:gd name="adj" fmla="val 16667"/>
            </a:avLst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46825" y="600000"/>
            <a:ext cx="1975867" cy="43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Dark">
  <p:cSld name="TITLE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/>
          <p:nvPr/>
        </p:nvSpPr>
        <p:spPr>
          <a:xfrm>
            <a:off x="228600" y="228600"/>
            <a:ext cx="8686800" cy="4686300"/>
          </a:xfrm>
          <a:prstGeom prst="rect">
            <a:avLst/>
          </a:prstGeom>
          <a:solidFill>
            <a:srgbClr val="004A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ctrTitle"/>
          </p:nvPr>
        </p:nvSpPr>
        <p:spPr>
          <a:xfrm>
            <a:off x="718350" y="1149888"/>
            <a:ext cx="7250100" cy="175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Tahoma"/>
              <a:buNone/>
              <a:defRPr sz="5200" b="0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ubTitle" idx="1"/>
          </p:nvPr>
        </p:nvSpPr>
        <p:spPr>
          <a:xfrm>
            <a:off x="718350" y="3010431"/>
            <a:ext cx="7250100" cy="15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A98"/>
              </a:buClr>
              <a:buSzPts val="2000"/>
              <a:buFont typeface="Tahoma"/>
              <a:buNone/>
              <a:defRPr sz="2000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4A98"/>
              </a:buClr>
              <a:buSzPts val="2800"/>
              <a:buNone/>
              <a:defRPr sz="28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8290508" y="44450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>
                <a:solidFill>
                  <a:srgbClr val="FFFFFF"/>
                </a:solidFill>
              </a:defRPr>
            </a:lvl1pPr>
            <a:lvl2pPr lvl="1" rtl="0">
              <a:buNone/>
              <a:defRPr>
                <a:solidFill>
                  <a:srgbClr val="FFFFFF"/>
                </a:solidFill>
              </a:defRPr>
            </a:lvl2pPr>
            <a:lvl3pPr lvl="2" rtl="0">
              <a:buNone/>
              <a:defRPr>
                <a:solidFill>
                  <a:srgbClr val="FFFFFF"/>
                </a:solidFill>
              </a:defRPr>
            </a:lvl3pPr>
            <a:lvl4pPr lvl="3" rtl="0">
              <a:buNone/>
              <a:defRPr>
                <a:solidFill>
                  <a:srgbClr val="FFFFFF"/>
                </a:solidFill>
              </a:defRPr>
            </a:lvl4pPr>
            <a:lvl5pPr lvl="4" rtl="0">
              <a:buNone/>
              <a:defRPr>
                <a:solidFill>
                  <a:srgbClr val="FFFFFF"/>
                </a:solidFill>
              </a:defRPr>
            </a:lvl5pPr>
            <a:lvl6pPr lvl="5" rtl="0">
              <a:buNone/>
              <a:defRPr>
                <a:solidFill>
                  <a:srgbClr val="FFFFFF"/>
                </a:solidFill>
              </a:defRPr>
            </a:lvl6pPr>
            <a:lvl7pPr lvl="6" rtl="0">
              <a:buNone/>
              <a:defRPr>
                <a:solidFill>
                  <a:srgbClr val="FFFFFF"/>
                </a:solidFill>
              </a:defRPr>
            </a:lvl7pPr>
            <a:lvl8pPr lvl="7" rtl="0">
              <a:buNone/>
              <a:defRPr>
                <a:solidFill>
                  <a:srgbClr val="FFFFFF"/>
                </a:solidFill>
              </a:defRPr>
            </a:lvl8pPr>
            <a:lvl9pPr lvl="8" rtl="0">
              <a:buNone/>
              <a:defRPr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rgbClr val="FFFFFF"/>
                </a:solidFill>
              </a:rPr>
              <a:t>‹#›</a:t>
            </a:fld>
            <a:endParaRPr>
              <a:solidFill>
                <a:srgbClr val="FFFFFF"/>
              </a:solidFill>
            </a:endParaRPr>
          </a:p>
        </p:txBody>
      </p:sp>
      <p:pic>
        <p:nvPicPr>
          <p:cNvPr id="21" name="Google Shape;21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46825" y="620000"/>
            <a:ext cx="2315151" cy="4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E6F4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265500" y="1379400"/>
            <a:ext cx="4045200" cy="238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4939500" y="1379400"/>
            <a:ext cx="3837000" cy="238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30200" rtl="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DEA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265500" y="1379400"/>
            <a:ext cx="4045200" cy="238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4939500" y="1379400"/>
            <a:ext cx="3837000" cy="238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SECTION_HEADER_1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004A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265500" y="1379400"/>
            <a:ext cx="4045200" cy="238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939500" y="1379400"/>
            <a:ext cx="3837000" cy="238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004A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title"/>
          </p:nvPr>
        </p:nvSpPr>
        <p:spPr>
          <a:xfrm>
            <a:off x="265500" y="1379400"/>
            <a:ext cx="4045200" cy="238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1"/>
          </p:nvPr>
        </p:nvSpPr>
        <p:spPr>
          <a:xfrm>
            <a:off x="4939500" y="1379400"/>
            <a:ext cx="3837000" cy="238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800"/>
              <a:buChar char="●"/>
              <a:defRPr>
                <a:solidFill>
                  <a:srgbClr val="FFFEFE"/>
                </a:solidFill>
              </a:defRPr>
            </a:lvl1pPr>
            <a:lvl2pPr marL="914400" lvl="1" indent="-330200" rtl="0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600"/>
              <a:buChar char="○"/>
              <a:defRPr>
                <a:solidFill>
                  <a:srgbClr val="FFFEFE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■"/>
              <a:defRPr>
                <a:solidFill>
                  <a:srgbClr val="FFFEFE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●"/>
              <a:defRPr>
                <a:solidFill>
                  <a:srgbClr val="FFFEFE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○"/>
              <a:defRPr>
                <a:solidFill>
                  <a:srgbClr val="FFFEFE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■"/>
              <a:defRPr>
                <a:solidFill>
                  <a:srgbClr val="FFFEFE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●"/>
              <a:defRPr>
                <a:solidFill>
                  <a:srgbClr val="FFFEFE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○"/>
              <a:defRPr>
                <a:solidFill>
                  <a:srgbClr val="FFFEFE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FFFEFE"/>
              </a:buClr>
              <a:buSzPts val="1400"/>
              <a:buChar char="■"/>
              <a:defRPr>
                <a:solidFill>
                  <a:srgbClr val="FFFEFE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rgbClr val="FFFEFE"/>
                </a:solidFill>
              </a:defRPr>
            </a:lvl1pPr>
            <a:lvl2pPr lvl="1">
              <a:buNone/>
              <a:defRPr>
                <a:solidFill>
                  <a:srgbClr val="FFFEFE"/>
                </a:solidFill>
              </a:defRPr>
            </a:lvl2pPr>
            <a:lvl3pPr lvl="2">
              <a:buNone/>
              <a:defRPr>
                <a:solidFill>
                  <a:srgbClr val="FFFEFE"/>
                </a:solidFill>
              </a:defRPr>
            </a:lvl3pPr>
            <a:lvl4pPr lvl="3">
              <a:buNone/>
              <a:defRPr>
                <a:solidFill>
                  <a:srgbClr val="FFFEFE"/>
                </a:solidFill>
              </a:defRPr>
            </a:lvl4pPr>
            <a:lvl5pPr lvl="4">
              <a:buNone/>
              <a:defRPr>
                <a:solidFill>
                  <a:srgbClr val="FFFEFE"/>
                </a:solidFill>
              </a:defRPr>
            </a:lvl5pPr>
            <a:lvl6pPr lvl="5">
              <a:buNone/>
              <a:defRPr>
                <a:solidFill>
                  <a:srgbClr val="FFFEFE"/>
                </a:solidFill>
              </a:defRPr>
            </a:lvl6pPr>
            <a:lvl7pPr lvl="6">
              <a:buNone/>
              <a:defRPr>
                <a:solidFill>
                  <a:srgbClr val="FFFEFE"/>
                </a:solidFill>
              </a:defRPr>
            </a:lvl7pPr>
            <a:lvl8pPr lvl="7">
              <a:buNone/>
              <a:defRPr>
                <a:solidFill>
                  <a:srgbClr val="FFFEFE"/>
                </a:solidFill>
              </a:defRPr>
            </a:lvl8pPr>
            <a:lvl9pPr lvl="8">
              <a:buNone/>
              <a:defRPr>
                <a:solidFill>
                  <a:srgbClr val="FFFEFE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311700" y="238850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solidFill>
                  <a:srgbClr val="004A9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1"/>
          </p:nvPr>
        </p:nvSpPr>
        <p:spPr>
          <a:xfrm>
            <a:off x="311700" y="1251250"/>
            <a:ext cx="8520600" cy="289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302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lnSpc>
                <a:spcPct val="150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6" name="Google Shape;46;p8"/>
          <p:cNvSpPr/>
          <p:nvPr/>
        </p:nvSpPr>
        <p:spPr>
          <a:xfrm>
            <a:off x="412310" y="976975"/>
            <a:ext cx="1195800" cy="7230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 txBox="1">
            <a:spLocks noGrp="1"/>
          </p:cNvSpPr>
          <p:nvPr>
            <p:ph type="body" idx="1"/>
          </p:nvPr>
        </p:nvSpPr>
        <p:spPr>
          <a:xfrm>
            <a:off x="311700" y="1259600"/>
            <a:ext cx="3999900" cy="302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body" idx="2"/>
          </p:nvPr>
        </p:nvSpPr>
        <p:spPr>
          <a:xfrm>
            <a:off x="4832400" y="1259600"/>
            <a:ext cx="3999900" cy="302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311700" y="238850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solidFill>
                  <a:srgbClr val="004A98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/>
          <p:nvPr/>
        </p:nvSpPr>
        <p:spPr>
          <a:xfrm>
            <a:off x="412310" y="976975"/>
            <a:ext cx="1195800" cy="7230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311700" y="238850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solidFill>
                  <a:srgbClr val="004A98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56" name="Google Shape;56;p10"/>
          <p:cNvSpPr/>
          <p:nvPr/>
        </p:nvSpPr>
        <p:spPr>
          <a:xfrm>
            <a:off x="412310" y="976975"/>
            <a:ext cx="1195800" cy="7230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 txBox="1">
            <a:spLocks noGrp="1"/>
          </p:cNvSpPr>
          <p:nvPr>
            <p:ph type="body" idx="1"/>
          </p:nvPr>
        </p:nvSpPr>
        <p:spPr>
          <a:xfrm>
            <a:off x="311700" y="1732050"/>
            <a:ext cx="4295700" cy="241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title"/>
          </p:nvPr>
        </p:nvSpPr>
        <p:spPr>
          <a:xfrm>
            <a:off x="311700" y="238850"/>
            <a:ext cx="4295700" cy="112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>
                <a:solidFill>
                  <a:srgbClr val="004A98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/>
          <p:nvPr/>
        </p:nvSpPr>
        <p:spPr>
          <a:xfrm>
            <a:off x="412310" y="1434175"/>
            <a:ext cx="1195800" cy="7230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5044267" y="1091842"/>
            <a:ext cx="3719100" cy="2949300"/>
            <a:chOff x="5044267" y="1091842"/>
            <a:chExt cx="3719100" cy="2949300"/>
          </a:xfrm>
        </p:grpSpPr>
        <p:sp>
          <p:nvSpPr>
            <p:cNvPr id="63" name="Google Shape;63;p11"/>
            <p:cNvSpPr/>
            <p:nvPr/>
          </p:nvSpPr>
          <p:spPr>
            <a:xfrm>
              <a:off x="5196667" y="1244242"/>
              <a:ext cx="3566700" cy="2796900"/>
            </a:xfrm>
            <a:prstGeom prst="rect">
              <a:avLst/>
            </a:prstGeom>
            <a:solidFill>
              <a:srgbClr val="1D9AD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5044267" y="1091842"/>
              <a:ext cx="3566700" cy="27969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65" name="Google Shape;65;p11"/>
            <p:cNvPicPr preferRelativeResize="0"/>
            <p:nvPr/>
          </p:nvPicPr>
          <p:blipFill>
            <a:blip r:embed="rId2">
              <a:alphaModFix amt="50000"/>
            </a:blip>
            <a:stretch>
              <a:fillRect/>
            </a:stretch>
          </p:blipFill>
          <p:spPr>
            <a:xfrm>
              <a:off x="6000549" y="2000313"/>
              <a:ext cx="1654150" cy="128477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2"/>
          <p:cNvSpPr/>
          <p:nvPr/>
        </p:nvSpPr>
        <p:spPr>
          <a:xfrm>
            <a:off x="228600" y="228600"/>
            <a:ext cx="8686800" cy="4686300"/>
          </a:xfrm>
          <a:prstGeom prst="rect">
            <a:avLst/>
          </a:prstGeom>
          <a:solidFill>
            <a:srgbClr val="004A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12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9" name="Google Shape;6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rgbClr val="FFFFFF"/>
                </a:solidFill>
              </a:defRPr>
            </a:lvl1pPr>
            <a:lvl2pPr lvl="1">
              <a:buNone/>
              <a:defRPr>
                <a:solidFill>
                  <a:srgbClr val="FFFFFF"/>
                </a:solidFill>
              </a:defRPr>
            </a:lvl2pPr>
            <a:lvl3pPr lvl="2">
              <a:buNone/>
              <a:defRPr>
                <a:solidFill>
                  <a:srgbClr val="FFFFFF"/>
                </a:solidFill>
              </a:defRPr>
            </a:lvl3pPr>
            <a:lvl4pPr lvl="3">
              <a:buNone/>
              <a:defRPr>
                <a:solidFill>
                  <a:srgbClr val="FFFFFF"/>
                </a:solidFill>
              </a:defRPr>
            </a:lvl4pPr>
            <a:lvl5pPr lvl="4">
              <a:buNone/>
              <a:defRPr>
                <a:solidFill>
                  <a:srgbClr val="FFFFFF"/>
                </a:solidFill>
              </a:defRPr>
            </a:lvl5pPr>
            <a:lvl6pPr lvl="5">
              <a:buNone/>
              <a:defRPr>
                <a:solidFill>
                  <a:srgbClr val="FFFFFF"/>
                </a:solidFill>
              </a:defRPr>
            </a:lvl6pPr>
            <a:lvl7pPr lvl="6">
              <a:buNone/>
              <a:defRPr>
                <a:solidFill>
                  <a:srgbClr val="FFFFFF"/>
                </a:solidFill>
              </a:defRPr>
            </a:lvl7pPr>
            <a:lvl8pPr lvl="7">
              <a:buNone/>
              <a:defRPr>
                <a:solidFill>
                  <a:srgbClr val="FFFFFF"/>
                </a:solidFill>
              </a:defRPr>
            </a:lvl8pPr>
            <a:lvl9pPr lvl="8">
              <a:buNone/>
              <a:defRPr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rgbClr val="FFFFFF"/>
                </a:solidFill>
              </a:rPr>
              <a:t>‹#›</a:t>
            </a:fld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 2">
  <p:cSld name="CAPTION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/>
          <p:nvPr/>
        </p:nvSpPr>
        <p:spPr>
          <a:xfrm>
            <a:off x="228600" y="228600"/>
            <a:ext cx="8686800" cy="4686300"/>
          </a:xfrm>
          <a:prstGeom prst="rect">
            <a:avLst/>
          </a:prstGeom>
          <a:solidFill>
            <a:srgbClr val="004A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body" idx="1"/>
          </p:nvPr>
        </p:nvSpPr>
        <p:spPr>
          <a:xfrm>
            <a:off x="311700" y="468625"/>
            <a:ext cx="5998800" cy="436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708"/>
              </a:buClr>
              <a:buSzPts val="4800"/>
              <a:buNone/>
              <a:defRPr sz="4800" b="1">
                <a:solidFill>
                  <a:srgbClr val="FFFFFF"/>
                </a:solidFill>
              </a:defRPr>
            </a:lvl1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rgbClr val="FFFFFF"/>
                </a:solidFill>
              </a:defRPr>
            </a:lvl1pPr>
            <a:lvl2pPr lvl="1">
              <a:buNone/>
              <a:defRPr>
                <a:solidFill>
                  <a:srgbClr val="FFFFFF"/>
                </a:solidFill>
              </a:defRPr>
            </a:lvl2pPr>
            <a:lvl3pPr lvl="2">
              <a:buNone/>
              <a:defRPr>
                <a:solidFill>
                  <a:srgbClr val="FFFFFF"/>
                </a:solidFill>
              </a:defRPr>
            </a:lvl3pPr>
            <a:lvl4pPr lvl="3">
              <a:buNone/>
              <a:defRPr>
                <a:solidFill>
                  <a:srgbClr val="FFFFFF"/>
                </a:solidFill>
              </a:defRPr>
            </a:lvl4pPr>
            <a:lvl5pPr lvl="4">
              <a:buNone/>
              <a:defRPr>
                <a:solidFill>
                  <a:srgbClr val="FFFFFF"/>
                </a:solidFill>
              </a:defRPr>
            </a:lvl5pPr>
            <a:lvl6pPr lvl="5">
              <a:buNone/>
              <a:defRPr>
                <a:solidFill>
                  <a:srgbClr val="FFFFFF"/>
                </a:solidFill>
              </a:defRPr>
            </a:lvl6pPr>
            <a:lvl7pPr lvl="6">
              <a:buNone/>
              <a:defRPr>
                <a:solidFill>
                  <a:srgbClr val="FFFFFF"/>
                </a:solidFill>
              </a:defRPr>
            </a:lvl7pPr>
            <a:lvl8pPr lvl="7">
              <a:buNone/>
              <a:defRPr>
                <a:solidFill>
                  <a:srgbClr val="FFFFFF"/>
                </a:solidFill>
              </a:defRPr>
            </a:lvl8pPr>
            <a:lvl9pPr lvl="8">
              <a:buNone/>
              <a:defRPr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rgbClr val="FFFFFF"/>
                </a:solidFill>
              </a:rPr>
              <a:t>‹#›</a:t>
            </a:fld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/>
          <p:nvPr/>
        </p:nvSpPr>
        <p:spPr>
          <a:xfrm>
            <a:off x="228600" y="228600"/>
            <a:ext cx="8686800" cy="4686300"/>
          </a:xfrm>
          <a:prstGeom prst="rect">
            <a:avLst/>
          </a:prstGeom>
          <a:solidFill>
            <a:srgbClr val="004A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title" hasCustomPrompt="1"/>
          </p:nvPr>
        </p:nvSpPr>
        <p:spPr>
          <a:xfrm>
            <a:off x="970200" y="1116425"/>
            <a:ext cx="7203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2000"/>
              <a:buNone/>
              <a:defRPr sz="12000">
                <a:solidFill>
                  <a:srgbClr val="FFFFFF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7" name="Google Shape;77;p14"/>
          <p:cNvSpPr txBox="1">
            <a:spLocks noGrp="1"/>
          </p:cNvSpPr>
          <p:nvPr>
            <p:ph type="body" idx="1"/>
          </p:nvPr>
        </p:nvSpPr>
        <p:spPr>
          <a:xfrm>
            <a:off x="970200" y="3152225"/>
            <a:ext cx="7203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Clr>
                <a:srgbClr val="FFFEFE"/>
              </a:buClr>
              <a:buSzPts val="1800"/>
              <a:buChar char="●"/>
              <a:defRPr>
                <a:solidFill>
                  <a:srgbClr val="FFFFFF"/>
                </a:solidFill>
              </a:defRPr>
            </a:lvl1pPr>
            <a:lvl2pPr marL="914400" lvl="1" indent="-330200" algn="ctr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600"/>
              <a:buChar char="○"/>
              <a:defRPr>
                <a:solidFill>
                  <a:srgbClr val="FFFFFF"/>
                </a:solidFill>
              </a:defRPr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■"/>
              <a:defRPr>
                <a:solidFill>
                  <a:srgbClr val="FFFFFF"/>
                </a:solidFill>
              </a:defRPr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●"/>
              <a:defRPr>
                <a:solidFill>
                  <a:srgbClr val="FFFFFF"/>
                </a:solidFill>
              </a:defRPr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○"/>
              <a:defRPr>
                <a:solidFill>
                  <a:srgbClr val="FFFFFF"/>
                </a:solidFill>
              </a:defRPr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■"/>
              <a:defRPr>
                <a:solidFill>
                  <a:srgbClr val="FFFFFF"/>
                </a:solidFill>
              </a:defRPr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●"/>
              <a:defRPr>
                <a:solidFill>
                  <a:srgbClr val="FFFFFF"/>
                </a:solidFill>
              </a:defRPr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Clr>
                <a:srgbClr val="FFFEFE"/>
              </a:buClr>
              <a:buSzPts val="1400"/>
              <a:buChar char="○"/>
              <a:defRPr>
                <a:solidFill>
                  <a:srgbClr val="FFFFFF"/>
                </a:solidFill>
              </a:defRPr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Clr>
                <a:srgbClr val="FFFEFE"/>
              </a:buClr>
              <a:buSzPts val="1400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rgbClr val="FFFFFF"/>
                </a:solidFill>
              </a:defRPr>
            </a:lvl1pPr>
            <a:lvl2pPr lvl="1">
              <a:buNone/>
              <a:defRPr>
                <a:solidFill>
                  <a:srgbClr val="FFFFFF"/>
                </a:solidFill>
              </a:defRPr>
            </a:lvl2pPr>
            <a:lvl3pPr lvl="2">
              <a:buNone/>
              <a:defRPr>
                <a:solidFill>
                  <a:srgbClr val="FFFFFF"/>
                </a:solidFill>
              </a:defRPr>
            </a:lvl3pPr>
            <a:lvl4pPr lvl="3">
              <a:buNone/>
              <a:defRPr>
                <a:solidFill>
                  <a:srgbClr val="FFFFFF"/>
                </a:solidFill>
              </a:defRPr>
            </a:lvl4pPr>
            <a:lvl5pPr lvl="4">
              <a:buNone/>
              <a:defRPr>
                <a:solidFill>
                  <a:srgbClr val="FFFFFF"/>
                </a:solidFill>
              </a:defRPr>
            </a:lvl5pPr>
            <a:lvl6pPr lvl="5">
              <a:buNone/>
              <a:defRPr>
                <a:solidFill>
                  <a:srgbClr val="FFFFFF"/>
                </a:solidFill>
              </a:defRPr>
            </a:lvl6pPr>
            <a:lvl7pPr lvl="6">
              <a:buNone/>
              <a:defRPr>
                <a:solidFill>
                  <a:srgbClr val="FFFFFF"/>
                </a:solidFill>
              </a:defRPr>
            </a:lvl7pPr>
            <a:lvl8pPr lvl="7">
              <a:buNone/>
              <a:defRPr>
                <a:solidFill>
                  <a:srgbClr val="FFFFFF"/>
                </a:solidFill>
              </a:defRPr>
            </a:lvl8pPr>
            <a:lvl9pPr lvl="8">
              <a:buNone/>
              <a:defRPr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rgbClr val="FFFFFF"/>
                </a:solidFill>
              </a:rPr>
              <a:t>‹#›</a:t>
            </a:fld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7358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50708"/>
              </a:buClr>
              <a:buSzPts val="3200"/>
              <a:buFont typeface="Tahoma"/>
              <a:buNone/>
              <a:defRPr sz="3200" b="1">
                <a:solidFill>
                  <a:srgbClr val="004A98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rgbClr val="004A98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rgbClr val="004A98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rgbClr val="004A98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rgbClr val="004A98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rgbClr val="004A98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rgbClr val="004A98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rgbClr val="004A98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rgbClr val="004A98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50708"/>
              </a:buClr>
              <a:buSzPts val="1800"/>
              <a:buFont typeface="Tahoma"/>
              <a:buChar char="●"/>
              <a:defRPr sz="1800"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914400" lvl="1" indent="-330200">
              <a:lnSpc>
                <a:spcPct val="130000"/>
              </a:lnSpc>
              <a:spcBef>
                <a:spcPts val="1600"/>
              </a:spcBef>
              <a:spcAft>
                <a:spcPts val="0"/>
              </a:spcAft>
              <a:buClr>
                <a:srgbClr val="050708"/>
              </a:buClr>
              <a:buSzPts val="1600"/>
              <a:buFont typeface="Tahoma"/>
              <a:buChar char="○"/>
              <a:defRPr sz="1600"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1371600" lvl="2" indent="-317500">
              <a:lnSpc>
                <a:spcPct val="130000"/>
              </a:lnSpc>
              <a:spcBef>
                <a:spcPts val="1600"/>
              </a:spcBef>
              <a:spcAft>
                <a:spcPts val="0"/>
              </a:spcAft>
              <a:buClr>
                <a:srgbClr val="050708"/>
              </a:buClr>
              <a:buSzPts val="1400"/>
              <a:buFont typeface="Tahoma"/>
              <a:buChar char="■"/>
              <a:defRPr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1828800" lvl="3" indent="-317500">
              <a:lnSpc>
                <a:spcPct val="130000"/>
              </a:lnSpc>
              <a:spcBef>
                <a:spcPts val="1600"/>
              </a:spcBef>
              <a:spcAft>
                <a:spcPts val="0"/>
              </a:spcAft>
              <a:buClr>
                <a:srgbClr val="050708"/>
              </a:buClr>
              <a:buSzPts val="1400"/>
              <a:buFont typeface="Tahoma"/>
              <a:buChar char="●"/>
              <a:defRPr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2286000" lvl="4" indent="-317500">
              <a:lnSpc>
                <a:spcPct val="130000"/>
              </a:lnSpc>
              <a:spcBef>
                <a:spcPts val="1600"/>
              </a:spcBef>
              <a:spcAft>
                <a:spcPts val="0"/>
              </a:spcAft>
              <a:buClr>
                <a:srgbClr val="050708"/>
              </a:buClr>
              <a:buSzPts val="1400"/>
              <a:buFont typeface="Tahoma"/>
              <a:buChar char="○"/>
              <a:defRPr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2743200" lvl="5" indent="-317500">
              <a:lnSpc>
                <a:spcPct val="130000"/>
              </a:lnSpc>
              <a:spcBef>
                <a:spcPts val="1600"/>
              </a:spcBef>
              <a:spcAft>
                <a:spcPts val="0"/>
              </a:spcAft>
              <a:buClr>
                <a:srgbClr val="050708"/>
              </a:buClr>
              <a:buSzPts val="1400"/>
              <a:buFont typeface="Tahoma"/>
              <a:buChar char="■"/>
              <a:defRPr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3200400" lvl="6" indent="-317500">
              <a:lnSpc>
                <a:spcPct val="130000"/>
              </a:lnSpc>
              <a:spcBef>
                <a:spcPts val="1600"/>
              </a:spcBef>
              <a:spcAft>
                <a:spcPts val="0"/>
              </a:spcAft>
              <a:buClr>
                <a:srgbClr val="050708"/>
              </a:buClr>
              <a:buSzPts val="1400"/>
              <a:buFont typeface="Tahoma"/>
              <a:buChar char="●"/>
              <a:defRPr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3657600" lvl="7" indent="-317500">
              <a:lnSpc>
                <a:spcPct val="130000"/>
              </a:lnSpc>
              <a:spcBef>
                <a:spcPts val="1600"/>
              </a:spcBef>
              <a:spcAft>
                <a:spcPts val="0"/>
              </a:spcAft>
              <a:buClr>
                <a:srgbClr val="050708"/>
              </a:buClr>
              <a:buSzPts val="1400"/>
              <a:buFont typeface="Tahoma"/>
              <a:buChar char="○"/>
              <a:defRPr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4114800" lvl="8" indent="-317500">
              <a:lnSpc>
                <a:spcPct val="130000"/>
              </a:lnSpc>
              <a:spcBef>
                <a:spcPts val="1600"/>
              </a:spcBef>
              <a:spcAft>
                <a:spcPts val="1600"/>
              </a:spcAft>
              <a:buClr>
                <a:srgbClr val="050708"/>
              </a:buClr>
              <a:buSzPts val="1400"/>
              <a:buFont typeface="Tahoma"/>
              <a:buChar char="■"/>
              <a:defRPr>
                <a:solidFill>
                  <a:srgbClr val="050708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rgbClr val="5C666D"/>
                </a:solidFill>
              </a:defRPr>
            </a:lvl1pPr>
            <a:lvl2pPr lvl="1" algn="r">
              <a:buNone/>
              <a:defRPr sz="1000">
                <a:solidFill>
                  <a:srgbClr val="5C666D"/>
                </a:solidFill>
              </a:defRPr>
            </a:lvl2pPr>
            <a:lvl3pPr lvl="2" algn="r">
              <a:buNone/>
              <a:defRPr sz="1000">
                <a:solidFill>
                  <a:srgbClr val="5C666D"/>
                </a:solidFill>
              </a:defRPr>
            </a:lvl3pPr>
            <a:lvl4pPr lvl="3" algn="r">
              <a:buNone/>
              <a:defRPr sz="1000">
                <a:solidFill>
                  <a:srgbClr val="5C666D"/>
                </a:solidFill>
              </a:defRPr>
            </a:lvl4pPr>
            <a:lvl5pPr lvl="4" algn="r">
              <a:buNone/>
              <a:defRPr sz="1000">
                <a:solidFill>
                  <a:srgbClr val="5C666D"/>
                </a:solidFill>
              </a:defRPr>
            </a:lvl5pPr>
            <a:lvl6pPr lvl="5" algn="r">
              <a:buNone/>
              <a:defRPr sz="1000">
                <a:solidFill>
                  <a:srgbClr val="5C666D"/>
                </a:solidFill>
              </a:defRPr>
            </a:lvl6pPr>
            <a:lvl7pPr lvl="6" algn="r">
              <a:buNone/>
              <a:defRPr sz="1000">
                <a:solidFill>
                  <a:srgbClr val="5C666D"/>
                </a:solidFill>
              </a:defRPr>
            </a:lvl7pPr>
            <a:lvl8pPr lvl="7" algn="r">
              <a:buNone/>
              <a:defRPr sz="1000">
                <a:solidFill>
                  <a:srgbClr val="5C666D"/>
                </a:solidFill>
              </a:defRPr>
            </a:lvl8pPr>
            <a:lvl9pPr lvl="8" algn="r">
              <a:buNone/>
              <a:defRPr sz="1000">
                <a:solidFill>
                  <a:srgbClr val="5C666D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3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Tahoma"/>
        <a:defRPr sz="1400" b="0" i="0" u="none" strike="noStrike" cap="none" spc="0">
          <a:solidFill>
            <a:srgbClr val="000000"/>
          </a:solidFill>
          <a:latin typeface="Tahoma"/>
          <a:ea typeface="Tahoma"/>
          <a:cs typeface="Tahoma"/>
          <a:sym typeface="Tahom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-fair.org/fair-principles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oom.com/share/5d852818a8ad422ca0f3e610914dc68d?sid=d7320bc0-09da-474e-a472-ec00445f0e0f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5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19.png"/><Relationship Id="rId9" Type="http://schemas.openxmlformats.org/officeDocument/2006/relationships/image" Target="../media/image3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>
                <a:solidFill>
                  <a:srgbClr val="FFFFFF"/>
                </a:solidFill>
              </a:rPr>
              <a:t>Using Neighborhood Data in Aging Research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</a:rPr>
              <a:t>The National Neighborhood Data Archive (NaNDA)</a:t>
            </a:r>
          </a:p>
          <a:p>
            <a:pPr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</a:rPr>
              <a:t>GSA Annual Scientific Meeting Online Workshop Series 2026</a:t>
            </a:r>
          </a:p>
          <a:p>
            <a:pPr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</a:rPr>
              <a:t>Wednesday, October 7, 2026, 12:00 to 2:00 PM 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Funding &amp; support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dirty="0"/>
              <a:t>National Institute</a:t>
            </a:r>
            <a:r>
              <a:rPr lang="en-US" sz="1700" b="0" dirty="0"/>
              <a:t>s of Health</a:t>
            </a:r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lang="en-US" sz="1500" b="0" i="0" u="none" strike="noStrike" dirty="0">
                <a:solidFill>
                  <a:srgbClr val="050708"/>
                </a:solidFill>
                <a:effectLst/>
                <a:latin typeface="Tahoma" panose="020B0604030504040204" pitchFamily="34" charset="0"/>
              </a:rPr>
              <a:t>National Institute on Aging, R01AG109115</a:t>
            </a:r>
            <a:endParaRPr lang="en-US" sz="1500" b="0" dirty="0"/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500" b="0" dirty="0"/>
              <a:t>National Institute of Nursing Research</a:t>
            </a:r>
            <a:r>
              <a:rPr lang="en-US" sz="1500" b="0" dirty="0"/>
              <a:t>, U01NR020556</a:t>
            </a:r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500" b="0" dirty="0"/>
              <a:t>National Institute on Minority Health and Health Disparities, U01NR020556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19778A-8D3F-C92D-2DD3-C9826DC5C0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200110" y="3415702"/>
            <a:ext cx="8632190" cy="731520"/>
            <a:chOff x="200110" y="3415702"/>
            <a:chExt cx="8632190" cy="731520"/>
          </a:xfrm>
        </p:grpSpPr>
        <p:pic>
          <p:nvPicPr>
            <p:cNvPr id="4" name="Google Shape;76;p14" descr="National Institute of Nursing Research logo">
              <a:extLst>
                <a:ext uri="{FF2B5EF4-FFF2-40B4-BE49-F238E27FC236}">
                  <a16:creationId xmlns:a16="http://schemas.microsoft.com/office/drawing/2014/main" id="{02A8BCD3-88EB-1913-F024-EF7E09D02926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144605" y="3415702"/>
              <a:ext cx="2743200" cy="73152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" name="Google Shape;77;p14" descr="National Institute on Minority Health and Health Disparities logo">
              <a:extLst>
                <a:ext uri="{FF2B5EF4-FFF2-40B4-BE49-F238E27FC236}">
                  <a16:creationId xmlns:a16="http://schemas.microsoft.com/office/drawing/2014/main" id="{45C5B5E1-4997-DB0A-065B-4E6EC3A4FC06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089100" y="3415702"/>
              <a:ext cx="2743200" cy="73152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26" name="Picture 2" descr="National Institute on Aging logo">
              <a:extLst>
                <a:ext uri="{FF2B5EF4-FFF2-40B4-BE49-F238E27FC236}">
                  <a16:creationId xmlns:a16="http://schemas.microsoft.com/office/drawing/2014/main" id="{DD1E4DC3-5D22-152C-CC08-36CC4851962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0110" y="3420274"/>
              <a:ext cx="2743200" cy="7269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30" name="Picture 6" descr="Institute for Social Research, University of Michigan logo">
            <a:extLst>
              <a:ext uri="{FF2B5EF4-FFF2-40B4-BE49-F238E27FC236}">
                <a16:creationId xmlns:a16="http://schemas.microsoft.com/office/drawing/2014/main" id="{8E92AF2B-4C6F-B8B7-A757-15E506D66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5162" y="22845"/>
            <a:ext cx="2128838" cy="2128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1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143AA1D0-987A-489E-846C-27AEF85A8E8B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2</a:t>
            </a:fld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Your presenters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b="1" dirty="0"/>
              <a:t>Philippa Clarke </a:t>
            </a:r>
            <a:r>
              <a:rPr lang="en-US" sz="1000" dirty="0" err="1"/>
              <a:t>she|her</a:t>
            </a:r>
            <a:endParaRPr lang="en-US" sz="1500" b="1" dirty="0"/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0" dirty="0"/>
              <a:t>Research Professor, </a:t>
            </a:r>
            <a:r>
              <a:rPr sz="1300" b="0" dirty="0" err="1"/>
              <a:t>NaNDA</a:t>
            </a:r>
            <a:r>
              <a:rPr sz="1300" b="0" dirty="0"/>
              <a:t> </a:t>
            </a:r>
            <a:r>
              <a:rPr lang="en-US" sz="1300" b="0" dirty="0"/>
              <a:t>Co-</a:t>
            </a:r>
            <a:r>
              <a:rPr sz="1300" b="0" dirty="0"/>
              <a:t>Principal Investigator</a:t>
            </a:r>
          </a:p>
          <a:p>
            <a:pPr>
              <a:lnSpc>
                <a:spcPct val="112000"/>
              </a:lnSpc>
              <a:spcBef>
                <a:spcPts val="1300"/>
              </a:spcBef>
            </a:pPr>
            <a:r>
              <a:rPr lang="en-US" sz="1500" b="1" dirty="0"/>
              <a:t>Grace </a:t>
            </a:r>
            <a:r>
              <a:rPr lang="en-US" sz="1500" b="1" dirty="0" err="1"/>
              <a:t>Noppert</a:t>
            </a:r>
            <a:r>
              <a:rPr lang="en-US" sz="1500" b="1" dirty="0"/>
              <a:t> </a:t>
            </a:r>
            <a:r>
              <a:rPr lang="en-US" sz="1000" dirty="0" err="1"/>
              <a:t>she|her</a:t>
            </a:r>
            <a:endParaRPr lang="en-US" sz="1500" b="1" dirty="0"/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0" dirty="0"/>
              <a:t>Research Ass</a:t>
            </a:r>
            <a:r>
              <a:rPr lang="en-US" sz="1300" b="0" dirty="0"/>
              <a:t>ociate</a:t>
            </a:r>
            <a:r>
              <a:rPr sz="1300" b="0" dirty="0"/>
              <a:t> Professor, </a:t>
            </a:r>
            <a:r>
              <a:rPr sz="1300" b="0" dirty="0" err="1"/>
              <a:t>NaNDA</a:t>
            </a:r>
            <a:r>
              <a:rPr sz="1300" b="0" dirty="0"/>
              <a:t> Co-</a:t>
            </a:r>
            <a:r>
              <a:rPr lang="en-US" sz="1300" b="0" dirty="0"/>
              <a:t>Principal </a:t>
            </a:r>
            <a:r>
              <a:rPr sz="1300" b="0" dirty="0"/>
              <a:t>Investigator</a:t>
            </a:r>
          </a:p>
          <a:p>
            <a:pPr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</a:pPr>
            <a:r>
              <a:rPr lang="en-US" sz="1500" b="1" dirty="0"/>
              <a:t>Lindsay Gypin </a:t>
            </a:r>
            <a:r>
              <a:rPr lang="en-US" sz="1000" dirty="0" err="1"/>
              <a:t>she|her</a:t>
            </a:r>
            <a:endParaRPr lang="en-US" sz="1000" dirty="0"/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lang="en-US" sz="1300" b="0" dirty="0"/>
              <a:t>Data Librarian and Senior Project Manager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dirty="0"/>
              <a:t>Robert Melendez</a:t>
            </a:r>
            <a:r>
              <a:rPr lang="en-US" sz="1500" b="1" dirty="0"/>
              <a:t> </a:t>
            </a:r>
            <a:r>
              <a:rPr lang="en-US" sz="1000" dirty="0" err="1"/>
              <a:t>he|him</a:t>
            </a:r>
            <a:endParaRPr sz="1500" b="1" dirty="0"/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lang="en-US" sz="1300" dirty="0"/>
              <a:t>Data Analyst</a:t>
            </a:r>
            <a:endParaRPr sz="1300" b="0" dirty="0"/>
          </a:p>
          <a:p>
            <a:pPr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dirty="0"/>
              <a:t>Will Clary</a:t>
            </a:r>
            <a:r>
              <a:rPr lang="en-US" sz="1500" b="1" dirty="0"/>
              <a:t> </a:t>
            </a:r>
            <a:r>
              <a:rPr lang="en-US" sz="1000" dirty="0" err="1"/>
              <a:t>he|him</a:t>
            </a:r>
            <a:endParaRPr sz="1000" b="1" dirty="0"/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0" dirty="0"/>
              <a:t>Research </a:t>
            </a:r>
            <a:r>
              <a:rPr lang="en-US" sz="1300" b="0" dirty="0"/>
              <a:t>Data A</a:t>
            </a:r>
            <a:r>
              <a:rPr sz="1300" b="0" dirty="0"/>
              <a:t>nalyst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D9EE276-A23B-DDF7-7C9D-F0C9A675D2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9400" y="3398150"/>
            <a:ext cx="1359150" cy="1359150"/>
          </a:xfrm>
          <a:prstGeom prst="rect">
            <a:avLst/>
          </a:prstGeom>
        </p:spPr>
      </p:pic>
      <p:sp>
        <p:nvSpPr>
          <p:cNvPr id="9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CE6B2701-56C5-4802-A79C-68337361CF51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3</a:t>
            </a:fld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Today's plan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7000197"/>
              </p:ext>
            </p:extLst>
          </p:nvPr>
        </p:nvGraphicFramePr>
        <p:xfrm>
          <a:off x="411480" y="1234440"/>
          <a:ext cx="83210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15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0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Time (ET)</a:t>
                      </a:r>
                    </a:p>
                  </a:txBody>
                  <a:tcPr marR="73152" marT="27432" marB="27432">
                    <a:solidFill>
                      <a:srgbClr val="004A9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FFFFFF"/>
                          </a:solidFill>
                          <a:latin typeface="Tahoma"/>
                        </a:rPr>
                        <a:t>What we are doing</a:t>
                      </a:r>
                    </a:p>
                  </a:txBody>
                  <a:tcPr marR="73152" marT="27432" marB="27432">
                    <a:solidFill>
                      <a:srgbClr val="004A9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ahoma"/>
                        </a:rPr>
                        <a:t>Who</a:t>
                      </a:r>
                    </a:p>
                  </a:txBody>
                  <a:tcPr marR="73152" marT="27432" marB="27432">
                    <a:solidFill>
                      <a:srgbClr val="004A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50708"/>
                          </a:solidFill>
                          <a:latin typeface="Tahoma"/>
                        </a:rPr>
                        <a:t>12:00</a:t>
                      </a: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50708"/>
                          </a:solidFill>
                          <a:latin typeface="Tahoma"/>
                        </a:rPr>
                        <a:t>Welcome and logistics</a:t>
                      </a: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050708"/>
                          </a:solidFill>
                          <a:latin typeface="Tahoma"/>
                        </a:rPr>
                        <a:t>Philippa &amp; Lindsay</a:t>
                      </a: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50708"/>
                          </a:solidFill>
                          <a:latin typeface="Tahoma"/>
                        </a:rPr>
                        <a:t>12:05</a:t>
                      </a:r>
                    </a:p>
                  </a:txBody>
                  <a:tcPr marR="73152" marT="27432" marB="27432">
                    <a:solidFill>
                      <a:srgbClr val="E6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050708"/>
                          </a:solidFill>
                          <a:latin typeface="Tahoma"/>
                        </a:rPr>
                        <a:t>What is </a:t>
                      </a:r>
                      <a:r>
                        <a:rPr sz="1400" dirty="0" err="1">
                          <a:solidFill>
                            <a:srgbClr val="050708"/>
                          </a:solidFill>
                          <a:latin typeface="Tahoma"/>
                        </a:rPr>
                        <a:t>NaNDA</a:t>
                      </a:r>
                      <a:r>
                        <a:rPr sz="1400" dirty="0">
                          <a:solidFill>
                            <a:srgbClr val="050708"/>
                          </a:solidFill>
                          <a:latin typeface="Tahoma"/>
                        </a:rPr>
                        <a:t>? Overview and repository tour</a:t>
                      </a:r>
                    </a:p>
                  </a:txBody>
                  <a:tcPr marR="73152" marT="27432" marB="27432">
                    <a:solidFill>
                      <a:srgbClr val="E6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050708"/>
                          </a:solidFill>
                          <a:latin typeface="Tahoma"/>
                        </a:rPr>
                        <a:t>Lindsay &amp; Philippa</a:t>
                      </a:r>
                      <a:endParaRPr sz="1400" dirty="0">
                        <a:solidFill>
                          <a:srgbClr val="050708"/>
                        </a:solidFill>
                        <a:latin typeface="Tahoma"/>
                      </a:endParaRPr>
                    </a:p>
                  </a:txBody>
                  <a:tcPr marR="73152" marT="27432" marB="27432">
                    <a:solidFill>
                      <a:srgbClr val="E6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50708"/>
                          </a:solidFill>
                          <a:latin typeface="Tahoma"/>
                        </a:rPr>
                        <a:t>12:30</a:t>
                      </a: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 err="1">
                          <a:solidFill>
                            <a:srgbClr val="050708"/>
                          </a:solidFill>
                          <a:latin typeface="Tahoma"/>
                        </a:rPr>
                        <a:t>NaNDA</a:t>
                      </a:r>
                      <a:r>
                        <a:rPr sz="1400" dirty="0">
                          <a:solidFill>
                            <a:srgbClr val="050708"/>
                          </a:solidFill>
                          <a:latin typeface="Tahoma"/>
                        </a:rPr>
                        <a:t> in action: examples from aging research</a:t>
                      </a: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050708"/>
                          </a:solidFill>
                          <a:latin typeface="Tahoma"/>
                        </a:rPr>
                        <a:t>Philippa &amp; Grace</a:t>
                      </a:r>
                      <a:endParaRPr sz="1400" dirty="0">
                        <a:solidFill>
                          <a:srgbClr val="050708"/>
                        </a:solidFill>
                        <a:latin typeface="Tahoma"/>
                      </a:endParaRP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 dirty="0">
                          <a:solidFill>
                            <a:srgbClr val="050708"/>
                          </a:solidFill>
                          <a:latin typeface="Tahoma"/>
                        </a:rPr>
                        <a:t>12:55</a:t>
                      </a:r>
                    </a:p>
                  </a:txBody>
                  <a:tcPr marR="73152" marT="27432" marB="27432">
                    <a:solidFill>
                      <a:srgbClr val="E6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50708"/>
                          </a:solidFill>
                          <a:latin typeface="Tahoma"/>
                        </a:rPr>
                        <a:t>Choose your breakout</a:t>
                      </a:r>
                    </a:p>
                  </a:txBody>
                  <a:tcPr marR="73152" marT="27432" marB="27432">
                    <a:solidFill>
                      <a:srgbClr val="E6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50708"/>
                          </a:solidFill>
                          <a:latin typeface="Tahoma"/>
                        </a:rPr>
                        <a:t>Lindsay</a:t>
                      </a:r>
                    </a:p>
                  </a:txBody>
                  <a:tcPr marR="73152" marT="27432" marB="27432">
                    <a:solidFill>
                      <a:srgbClr val="E6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50708"/>
                          </a:solidFill>
                          <a:latin typeface="Tahoma"/>
                        </a:rPr>
                        <a:t>1:00</a:t>
                      </a: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050708"/>
                          </a:solidFill>
                          <a:latin typeface="Tahoma"/>
                        </a:rPr>
                        <a:t>Breakouts: beginner and intermediate</a:t>
                      </a: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50708"/>
                          </a:solidFill>
                          <a:latin typeface="Tahoma"/>
                        </a:rPr>
                        <a:t>All</a:t>
                      </a: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50708"/>
                          </a:solidFill>
                          <a:latin typeface="Tahoma"/>
                        </a:rPr>
                        <a:t>1:45</a:t>
                      </a:r>
                    </a:p>
                  </a:txBody>
                  <a:tcPr marR="73152" marT="27432" marB="27432">
                    <a:solidFill>
                      <a:srgbClr val="E6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50708"/>
                          </a:solidFill>
                          <a:latin typeface="Tahoma"/>
                        </a:rPr>
                        <a:t>Reconvene and report back</a:t>
                      </a:r>
                    </a:p>
                  </a:txBody>
                  <a:tcPr marR="73152" marT="27432" marB="27432">
                    <a:solidFill>
                      <a:srgbClr val="E6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050708"/>
                          </a:solidFill>
                          <a:latin typeface="Tahoma"/>
                        </a:rPr>
                        <a:t>Grace</a:t>
                      </a:r>
                      <a:endParaRPr sz="1400" dirty="0">
                        <a:solidFill>
                          <a:srgbClr val="050708"/>
                        </a:solidFill>
                        <a:latin typeface="Tahoma"/>
                      </a:endParaRPr>
                    </a:p>
                  </a:txBody>
                  <a:tcPr marR="73152" marT="27432" marB="27432">
                    <a:solidFill>
                      <a:srgbClr val="E6F4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50708"/>
                          </a:solidFill>
                          <a:latin typeface="Tahoma"/>
                        </a:rPr>
                        <a:t>1:55</a:t>
                      </a: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050708"/>
                          </a:solidFill>
                          <a:latin typeface="Tahoma"/>
                        </a:rPr>
                        <a:t>Wrap-up and resources</a:t>
                      </a:r>
                      <a:endParaRPr sz="1400" dirty="0">
                        <a:solidFill>
                          <a:srgbClr val="050708"/>
                        </a:solidFill>
                        <a:latin typeface="Tahoma"/>
                      </a:endParaRP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rgbClr val="050708"/>
                          </a:solidFill>
                          <a:latin typeface="Tahoma"/>
                        </a:rPr>
                        <a:t>Lindsay</a:t>
                      </a:r>
                      <a:endParaRPr sz="1400" dirty="0">
                        <a:solidFill>
                          <a:srgbClr val="050708"/>
                        </a:solidFill>
                        <a:latin typeface="Tahoma"/>
                      </a:endParaRPr>
                    </a:p>
                  </a:txBody>
                  <a:tcPr marR="73152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A61D69A7-DF70-4226-A937-8834A729F765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4</a:t>
            </a:fld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Housekeeping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dirty="0"/>
              <a:t>Captions are available. Turn them on with Show Captions in your Zoom toolbar.</a:t>
            </a:r>
          </a:p>
          <a:p>
            <a:pPr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 dirty="0"/>
              <a:t>Stay muted in the full group. You are welcome to unmute in your breakout.</a:t>
            </a:r>
          </a:p>
          <a:p>
            <a:pPr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 dirty="0"/>
              <a:t>Chat is for comments and links. Q&amp;A is for questions you want us to answer.</a:t>
            </a:r>
          </a:p>
          <a:p>
            <a:pPr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 dirty="0"/>
              <a:t>GSA Digital Programs is running the technical side. Message the host if something breaks.</a:t>
            </a:r>
          </a:p>
          <a:p>
            <a:pPr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</a:pPr>
            <a:r>
              <a:rPr sz="1600" b="0" dirty="0"/>
              <a:t>You do not need to install anything. Everything today runs in a browser.</a:t>
            </a:r>
          </a:p>
        </p:txBody>
      </p:sp>
      <p:sp>
        <p:nvSpPr>
          <p:cNvPr id="4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A09F0960-7B27-44A9-9F12-9227119D25E4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5</a:t>
            </a:fld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</a:t>
            </a:r>
            <a:r>
              <a:t>orkshop </a:t>
            </a:r>
            <a:r>
              <a:rPr dirty="0"/>
              <a:t>materials</a:t>
            </a:r>
          </a:p>
        </p:txBody>
      </p:sp>
      <p:sp>
        <p:nvSpPr>
          <p:cNvPr id="10" name="Everyone materials card"/>
          <p:cNvSpPr/>
          <p:nvPr/>
        </p:nvSpPr>
        <p:spPr>
          <a:xfrm>
            <a:off x="412310" y="1170000"/>
            <a:ext cx="2651207" cy="2120000"/>
          </a:xfrm>
          <a:prstGeom prst="rect">
            <a:avLst/>
          </a:prstGeom>
          <a:solidFill>
            <a:srgbClr val="EEF4FA"/>
          </a:solidFill>
          <a:ln>
            <a:noFill/>
          </a:ln>
        </p:spPr>
        <p:txBody>
          <a:bodyPr wrap="square" lIns="173736" tIns="173736" rIns="173736" bIns="9144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spc="100" dirty="0">
                <a:solidFill>
                  <a:srgbClr val="004A98"/>
                </a:solidFill>
                <a:latin typeface="Tahoma"/>
                <a:cs typeface="Tahoma"/>
              </a:rPr>
              <a:t>EVERYONE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4A98"/>
                </a:solidFill>
                <a:latin typeface="Tahoma"/>
                <a:cs typeface="Tahoma"/>
              </a:rPr>
              <a:t>Presentation slides</a:t>
            </a:r>
          </a:p>
          <a:p>
            <a:pPr algn="l">
              <a:lnSpc>
                <a:spcPct val="108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200" b="0" dirty="0">
                <a:solidFill>
                  <a:srgbClr val="103333"/>
                </a:solidFill>
                <a:latin typeface="Tahoma"/>
                <a:cs typeface="Tahoma"/>
              </a:rPr>
              <a:t>Slides from all of today's presentations.</a:t>
            </a:r>
          </a:p>
        </p:txBody>
      </p:sp>
      <p:sp>
        <p:nvSpPr>
          <p:cNvPr id="11" name="Everyone card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2310" y="1170000"/>
            <a:ext cx="2651207" cy="4572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2" name="Beginner materials card"/>
          <p:cNvSpPr/>
          <p:nvPr/>
        </p:nvSpPr>
        <p:spPr>
          <a:xfrm>
            <a:off x="3246397" y="1170000"/>
            <a:ext cx="2651207" cy="2120000"/>
          </a:xfrm>
          <a:prstGeom prst="rect">
            <a:avLst/>
          </a:prstGeom>
          <a:solidFill>
            <a:srgbClr val="EEF4FA"/>
          </a:solidFill>
          <a:ln>
            <a:noFill/>
          </a:ln>
        </p:spPr>
        <p:txBody>
          <a:bodyPr wrap="square" lIns="173736" tIns="173736" rIns="173736" bIns="9144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spc="100" dirty="0">
                <a:solidFill>
                  <a:srgbClr val="004A98"/>
                </a:solidFill>
                <a:latin typeface="Tahoma"/>
                <a:cs typeface="Tahoma"/>
              </a:rPr>
              <a:t>BEGINNER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4A98"/>
                </a:solidFill>
                <a:latin typeface="Tahoma"/>
                <a:cs typeface="Tahoma"/>
              </a:rPr>
              <a:t>Participant Handout</a:t>
            </a:r>
          </a:p>
          <a:p>
            <a:pPr algn="l">
              <a:lnSpc>
                <a:spcPct val="108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200" b="0" dirty="0">
                <a:solidFill>
                  <a:srgbClr val="103333"/>
                </a:solidFill>
                <a:latin typeface="Tahoma"/>
                <a:cs typeface="Tahoma"/>
              </a:rPr>
              <a:t>For Choosing Your First NaNDA Dataset: your worksheet, plus the breakout's slide content. Scavenger hunt answers are at the bottom.</a:t>
            </a:r>
          </a:p>
        </p:txBody>
      </p:sp>
      <p:sp>
        <p:nvSpPr>
          <p:cNvPr id="13" name="Beginner card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397" y="1170000"/>
            <a:ext cx="2651207" cy="4572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4" name="Intermediate materials card"/>
          <p:cNvSpPr/>
          <p:nvPr/>
        </p:nvSpPr>
        <p:spPr>
          <a:xfrm>
            <a:off x="6080484" y="1170000"/>
            <a:ext cx="2651207" cy="2120000"/>
          </a:xfrm>
          <a:prstGeom prst="rect">
            <a:avLst/>
          </a:prstGeom>
          <a:solidFill>
            <a:srgbClr val="EEF4FA"/>
          </a:solidFill>
          <a:ln>
            <a:noFill/>
          </a:ln>
        </p:spPr>
        <p:txBody>
          <a:bodyPr wrap="square" lIns="173736" tIns="173736" rIns="173736" bIns="91440" rtlCol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spc="100" dirty="0">
                <a:solidFill>
                  <a:srgbClr val="004A98"/>
                </a:solidFill>
                <a:latin typeface="Tahoma"/>
                <a:cs typeface="Tahoma"/>
              </a:rPr>
              <a:t>INTERMEDIATE</a:t>
            </a:r>
          </a:p>
          <a:p>
            <a:pPr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4A98"/>
                </a:solidFill>
                <a:latin typeface="Tahoma"/>
                <a:cs typeface="Tahoma"/>
              </a:rPr>
              <a:t>Practice data and code</a:t>
            </a:r>
          </a:p>
          <a:p>
            <a:pPr algn="l">
              <a:lnSpc>
                <a:spcPct val="108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200" b="0" dirty="0">
                <a:solidFill>
                  <a:srgbClr val="103333"/>
                </a:solidFill>
                <a:latin typeface="Tahoma"/>
                <a:cs typeface="Tahoma"/>
              </a:rPr>
              <a:t>For Linking NaNDA with Your Data: practice data and sample merge code in Stata, R, and Python.</a:t>
            </a:r>
          </a:p>
        </p:txBody>
      </p:sp>
      <p:sp>
        <p:nvSpPr>
          <p:cNvPr id="15" name="Intermediate card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80484" y="1170000"/>
            <a:ext cx="2651207" cy="4572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6" name="Links in chat"/>
          <p:cNvSpPr/>
          <p:nvPr/>
        </p:nvSpPr>
        <p:spPr>
          <a:xfrm>
            <a:off x="412310" y="3420000"/>
            <a:ext cx="8319380" cy="540000"/>
          </a:xfrm>
          <a:prstGeom prst="rect">
            <a:avLst/>
          </a:prstGeom>
          <a:solidFill>
            <a:srgbClr val="004A98"/>
          </a:solidFill>
          <a:ln>
            <a:noFill/>
          </a:ln>
        </p:spPr>
        <p:txBody>
          <a:bodyPr wrap="square" lIns="173736" tIns="0" rIns="173736" bIns="0" rtlCol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Tahoma"/>
                <a:cs typeface="Tahoma"/>
              </a:rPr>
              <a:t>Available through the workshop DOI. The link is in the chat.</a:t>
            </a:r>
          </a:p>
        </p:txBody>
      </p:sp>
      <p:sp>
        <p:nvSpPr>
          <p:cNvPr id="4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D8456AFF-6F96-4B36-A6F9-2655AB604378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6</a:t>
            </a:fld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6928" y="685800"/>
            <a:ext cx="5532120" cy="3566160"/>
          </a:xfrm>
        </p:spPr>
        <p:txBody>
          <a:bodyPr/>
          <a:lstStyle/>
          <a:p>
            <a:r>
              <a:rPr sz="3000" dirty="0">
                <a:solidFill>
                  <a:srgbClr val="FFFFFF"/>
                </a:solidFill>
              </a:rPr>
              <a:t>In the chat: what do you wish you could measure about the neighborhoods?</a:t>
            </a:r>
          </a:p>
        </p:txBody>
      </p:sp>
      <p:pic>
        <p:nvPicPr>
          <p:cNvPr id="3" name="Picture 2" descr="Frankie, the NaNDA globe mascot, think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17320"/>
            <a:ext cx="2240280" cy="2240280"/>
          </a:xfrm>
          <a:prstGeom prst="rect">
            <a:avLst/>
          </a:prstGeom>
        </p:spPr>
      </p:pic>
      <p:sp>
        <p:nvSpPr>
          <p:cNvPr id="4" name="Slide Number"/>
          <p:cNvSpPr txBox="1"/>
          <p:nvPr/>
        </p:nvSpPr>
        <p:spPr>
          <a:xfrm>
            <a:off x="8420000" y="4640000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26C778D5-A0AE-4AE1-955E-4E344087A89A}" type="slidenum">
              <a:rPr lang="en-US" sz="900" dirty="0">
                <a:solidFill>
                  <a:srgbClr val="DDEBF7"/>
                </a:solidFill>
                <a:latin typeface="Tahoma"/>
                <a:cs typeface="Tahoma"/>
              </a:rPr>
              <a:t>7</a:t>
            </a:fld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By 2:00 you will be able 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dirty="0"/>
              <a:t>Identify which </a:t>
            </a:r>
            <a:r>
              <a:rPr sz="1700" dirty="0" err="1"/>
              <a:t>NaNDA</a:t>
            </a:r>
            <a:r>
              <a:rPr sz="1700" dirty="0"/>
              <a:t> datasets </a:t>
            </a:r>
            <a:r>
              <a:rPr sz="1700" b="0" dirty="0"/>
              <a:t>fit your research question, by geographic level, years covered, and topic</a:t>
            </a:r>
          </a:p>
          <a:p>
            <a:pPr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0" dirty="0"/>
              <a:t>Link </a:t>
            </a:r>
            <a:r>
              <a:rPr sz="1700" b="0" dirty="0" err="1"/>
              <a:t>NaNDA</a:t>
            </a:r>
            <a:r>
              <a:rPr sz="1700" b="0" dirty="0"/>
              <a:t> to your own data using geographic identifiers, including when to use tract_fips10 or tract_fips20, and how ZIP codes differ from ZCTAs</a:t>
            </a:r>
          </a:p>
          <a:p>
            <a:pPr>
              <a:lnSpc>
                <a:spcPct val="112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0" dirty="0"/>
              <a:t>Frame a research question that combines neighborhood measures with your individual-level aging outcomes</a:t>
            </a:r>
          </a:p>
        </p:txBody>
      </p:sp>
      <p:sp>
        <p:nvSpPr>
          <p:cNvPr id="4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0BF734AC-E2F6-4965-A868-FBF4012B3D27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8</a:t>
            </a:fld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Two </a:t>
            </a:r>
            <a:r>
              <a:rPr lang="en-US" dirty="0"/>
              <a:t>options</a:t>
            </a:r>
            <a:r>
              <a:rPr dirty="0"/>
              <a:t>. You pick one at 12:55.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/>
              <a:t>Beginner: Choosing Your First </a:t>
            </a:r>
            <a:r>
              <a:rPr sz="1600" b="1" dirty="0" err="1"/>
              <a:t>NaNDA</a:t>
            </a:r>
            <a:r>
              <a:rPr sz="1600" b="1" dirty="0"/>
              <a:t> Dataset</a:t>
            </a:r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 dirty="0"/>
              <a:t>Census tracts, ZCTAs, and which matches your data</a:t>
            </a:r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 dirty="0"/>
              <a:t>Matching </a:t>
            </a:r>
            <a:r>
              <a:rPr sz="1400" b="0" dirty="0" err="1"/>
              <a:t>NaNDA</a:t>
            </a:r>
            <a:r>
              <a:rPr sz="1400" b="0" dirty="0"/>
              <a:t> years to your collection period</a:t>
            </a:r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 dirty="0"/>
              <a:t>Reading a codebook and finding the identifier</a:t>
            </a:r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 dirty="0"/>
              <a:t>Hands-on time in the repository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/>
              <a:t>Intermediate: Linking </a:t>
            </a:r>
            <a:r>
              <a:rPr sz="1600" b="1" dirty="0" err="1"/>
              <a:t>NaNDA</a:t>
            </a:r>
            <a:r>
              <a:rPr sz="1600" b="1" dirty="0"/>
              <a:t> with Your Data</a:t>
            </a:r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 dirty="0"/>
              <a:t>Identifiers and the pitfalls that break a merge</a:t>
            </a:r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 dirty="0"/>
              <a:t>When you need a crosswalk, and which one</a:t>
            </a:r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 dirty="0"/>
              <a:t>A live merge you can follow along with</a:t>
            </a:r>
          </a:p>
          <a:p>
            <a:pPr lvl="1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0" dirty="0"/>
              <a:t>Drafting a research question that uses both</a:t>
            </a:r>
          </a:p>
        </p:txBody>
      </p:sp>
      <p:sp>
        <p:nvSpPr>
          <p:cNvPr id="5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420841AF-276D-473F-BE8C-2D35B3F58AF0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9</a:t>
            </a:fld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A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2"/>
          <p:cNvSpPr>
            <a:spLocks noGrp="1"/>
          </p:cNvSpPr>
          <p:nvPr>
            <p:ph type="title"/>
          </p:nvPr>
        </p:nvSpPr>
        <p:spPr>
          <a:xfrm>
            <a:off x="571500" y="1571625"/>
            <a:ext cx="4709160" cy="153918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78621"/>
              </a:lnSpc>
              <a:buNone/>
            </a:pPr>
            <a:r>
              <a:rPr lang="en-US" sz="6300" b="1" kern="0" spc="-150" dirty="0" err="1">
                <a:solidFill>
                  <a:srgbClr val="FFFFFF"/>
                </a:solidFill>
                <a:latin typeface="Tahoma" pitchFamily="34" charset="0"/>
              </a:rPr>
              <a:t>NaNDA</a:t>
            </a:r>
            <a:r>
              <a:rPr lang="en-US" sz="6300" b="1" kern="0" spc="-150" dirty="0">
                <a:solidFill>
                  <a:srgbClr val="FFFFFF"/>
                </a:solidFill>
                <a:latin typeface="Tahoma" pitchFamily="34" charset="0"/>
              </a:rPr>
              <a:t> overview</a:t>
            </a:r>
            <a:endParaRPr lang="en-US" sz="6300" dirty="0"/>
          </a:p>
        </p:txBody>
      </p:sp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53000" y="-1047750"/>
            <a:ext cx="5238750" cy="5238750"/>
          </a:xfrm>
          <a:prstGeom prst="ellipse">
            <a:avLst/>
          </a:prstGeom>
          <a:solidFill>
            <a:srgbClr val="0A5BB0"/>
          </a:solidFill>
          <a:ln/>
        </p:spPr>
      </p:sp>
      <p:sp>
        <p:nvSpPr>
          <p:cNvPr id="3" name="Shap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53000" y="666750"/>
            <a:ext cx="3619500" cy="3619500"/>
          </a:xfrm>
          <a:prstGeom prst="ellipse">
            <a:avLst/>
          </a:prstGeom>
          <a:solidFill>
            <a:srgbClr val="1D9ADD"/>
          </a:solidFill>
          <a:ln/>
        </p:spPr>
      </p:sp>
      <p:pic>
        <p:nvPicPr>
          <p:cNvPr id="4" name="Decorative imag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95875" y="952500"/>
            <a:ext cx="3333750" cy="3333750"/>
          </a:xfrm>
          <a:prstGeom prst="rect">
            <a:avLst/>
          </a:prstGeom>
        </p:spPr>
      </p:pic>
      <p:pic>
        <p:nvPicPr>
          <p:cNvPr id="5" name="NaNDA" descr="NaNDA, National Neighborhood Data Archive,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76250"/>
            <a:ext cx="2205112" cy="381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71500" y="3263206"/>
            <a:ext cx="4709160" cy="56376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7925"/>
              </a:lnSpc>
              <a:buNone/>
            </a:pPr>
            <a:r>
              <a:rPr lang="en-US" sz="1650" dirty="0">
                <a:solidFill>
                  <a:srgbClr val="DDEBF7"/>
                </a:solidFill>
                <a:latin typeface="Tahoma" pitchFamily="34" charset="0"/>
              </a:rPr>
              <a:t>An overview of the National Neighborhood Data Archive, and a tour of the repository</a:t>
            </a:r>
            <a:endParaRPr lang="en-US" sz="1650" dirty="0"/>
          </a:p>
        </p:txBody>
      </p:sp>
      <p:sp>
        <p:nvSpPr>
          <p:cNvPr id="8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4105275"/>
            <a:ext cx="4286250" cy="14288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10" name="Text 6"/>
          <p:cNvSpPr/>
          <p:nvPr/>
        </p:nvSpPr>
        <p:spPr>
          <a:xfrm>
            <a:off x="571500" y="4505325"/>
            <a:ext cx="4714875" cy="1809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DDEBF7"/>
                </a:solidFill>
                <a:latin typeface="Tahoma" pitchFamily="34" charset="0"/>
              </a:rPr>
              <a:t>GSA Annual Scientific Meeting Online Workshop Series 2026, October 7, 2026</a:t>
            </a:r>
            <a:endParaRPr lang="en-US" sz="1050" dirty="0"/>
          </a:p>
        </p:txBody>
      </p:sp>
      <p:sp>
        <p:nvSpPr>
          <p:cNvPr id="11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022F1562-271C-4978-8EFB-015EEBB77C1D}" type="slidenum">
              <a:rPr lang="en-US" sz="900" dirty="0">
                <a:solidFill>
                  <a:srgbClr val="DDEBF7"/>
                </a:solidFill>
                <a:latin typeface="Tahoma"/>
                <a:cs typeface="Tahoma"/>
              </a:rPr>
              <a:t>10</a:t>
            </a:fld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048000" cy="5143500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571500" y="571500"/>
            <a:ext cx="2158365" cy="1390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82759"/>
              </a:lnSpc>
              <a:buNone/>
            </a:pPr>
            <a:r>
              <a:rPr lang="en-US" sz="3600" b="1" kern="0" spc="-75" dirty="0">
                <a:solidFill>
                  <a:srgbClr val="004A98"/>
                </a:solidFill>
                <a:latin typeface="Tahoma" pitchFamily="34" charset="0"/>
              </a:rPr>
              <a:t>What we'll cover</a:t>
            </a:r>
            <a:endParaRPr lang="en-US" sz="3600" dirty="0"/>
          </a:p>
        </p:txBody>
      </p:sp>
      <p:sp>
        <p:nvSpPr>
          <p:cNvPr id="4" name="Shap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4610100"/>
            <a:ext cx="571500" cy="57150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19500" y="1452563"/>
            <a:ext cx="4953000" cy="9525"/>
          </a:xfrm>
          <a:prstGeom prst="rect">
            <a:avLst/>
          </a:prstGeom>
          <a:solidFill>
            <a:srgbClr val="D5E1EC"/>
          </a:solidFill>
          <a:ln/>
        </p:spPr>
      </p:sp>
      <p:sp>
        <p:nvSpPr>
          <p:cNvPr id="6" name="Text 4"/>
          <p:cNvSpPr/>
          <p:nvPr/>
        </p:nvSpPr>
        <p:spPr>
          <a:xfrm>
            <a:off x="3619500" y="762000"/>
            <a:ext cx="466725" cy="3429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D9ADD"/>
                </a:solidFill>
                <a:latin typeface="Tahoma" pitchFamily="34" charset="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276725" y="833438"/>
            <a:ext cx="4424649" cy="4953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4167"/>
              </a:lnSpc>
              <a:buNone/>
            </a:pPr>
            <a:r>
              <a:rPr lang="en-US" sz="1500" dirty="0">
                <a:solidFill>
                  <a:srgbClr val="103333"/>
                </a:solidFill>
                <a:latin typeface="Tahoma" pitchFamily="34" charset="0"/>
              </a:rPr>
              <a:t>Why neighborhood context matters for aging research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19500" y="2071688"/>
            <a:ext cx="4953000" cy="9525"/>
          </a:xfrm>
          <a:prstGeom prst="rect">
            <a:avLst/>
          </a:prstGeom>
          <a:solidFill>
            <a:srgbClr val="D5E1EC"/>
          </a:solidFill>
          <a:ln/>
        </p:spPr>
      </p:sp>
      <p:sp>
        <p:nvSpPr>
          <p:cNvPr id="9" name="Text 7"/>
          <p:cNvSpPr/>
          <p:nvPr/>
        </p:nvSpPr>
        <p:spPr>
          <a:xfrm>
            <a:off x="3619500" y="1604963"/>
            <a:ext cx="466725" cy="3429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D9ADD"/>
                </a:solidFill>
                <a:latin typeface="Tahoma" pitchFamily="34" charset="0"/>
              </a:rPr>
              <a:t>02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276725" y="1676400"/>
            <a:ext cx="3026361" cy="2571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4167"/>
              </a:lnSpc>
              <a:buNone/>
            </a:pPr>
            <a:r>
              <a:rPr lang="en-US" sz="1500" dirty="0">
                <a:solidFill>
                  <a:srgbClr val="103333"/>
                </a:solidFill>
                <a:latin typeface="Tahoma" pitchFamily="34" charset="0"/>
              </a:rPr>
              <a:t>What NaNDA is, and what is in it</a:t>
            </a:r>
            <a:endParaRPr lang="en-US" sz="1500" dirty="0"/>
          </a:p>
        </p:txBody>
      </p:sp>
      <p:sp>
        <p:nvSpPr>
          <p:cNvPr id="11" name="Shap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19500" y="2914650"/>
            <a:ext cx="4953000" cy="9525"/>
          </a:xfrm>
          <a:prstGeom prst="rect">
            <a:avLst/>
          </a:prstGeom>
          <a:solidFill>
            <a:srgbClr val="D5E1EC"/>
          </a:solidFill>
          <a:ln/>
        </p:spPr>
      </p:sp>
      <p:sp>
        <p:nvSpPr>
          <p:cNvPr id="12" name="Text 10"/>
          <p:cNvSpPr/>
          <p:nvPr/>
        </p:nvSpPr>
        <p:spPr>
          <a:xfrm>
            <a:off x="3619500" y="2224088"/>
            <a:ext cx="466725" cy="3429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D9ADD"/>
                </a:solidFill>
                <a:latin typeface="Tahoma" pitchFamily="34" charset="0"/>
              </a:rPr>
              <a:t>03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276725" y="2295525"/>
            <a:ext cx="4424649" cy="4953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4167"/>
              </a:lnSpc>
              <a:buNone/>
            </a:pPr>
            <a:r>
              <a:rPr lang="en-US" sz="1500" dirty="0">
                <a:solidFill>
                  <a:srgbClr val="103333"/>
                </a:solidFill>
                <a:latin typeface="Tahoma" pitchFamily="34" charset="0"/>
              </a:rPr>
              <a:t>Which NaNDA datasets are already linked to the studies you use</a:t>
            </a:r>
            <a:endParaRPr lang="en-US" sz="1500" dirty="0"/>
          </a:p>
        </p:txBody>
      </p:sp>
      <p:sp>
        <p:nvSpPr>
          <p:cNvPr id="14" name="Shap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19500" y="3533775"/>
            <a:ext cx="4953000" cy="9525"/>
          </a:xfrm>
          <a:prstGeom prst="rect">
            <a:avLst/>
          </a:prstGeom>
          <a:solidFill>
            <a:srgbClr val="D5E1EC"/>
          </a:solidFill>
          <a:ln/>
        </p:spPr>
      </p:sp>
      <p:sp>
        <p:nvSpPr>
          <p:cNvPr id="15" name="Text 13"/>
          <p:cNvSpPr/>
          <p:nvPr/>
        </p:nvSpPr>
        <p:spPr>
          <a:xfrm>
            <a:off x="3619500" y="3067050"/>
            <a:ext cx="466725" cy="3429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D9ADD"/>
                </a:solidFill>
                <a:latin typeface="Tahoma" pitchFamily="34" charset="0"/>
              </a:rPr>
              <a:t>04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4276725" y="3138488"/>
            <a:ext cx="3748981" cy="2571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4167"/>
              </a:lnSpc>
              <a:buNone/>
            </a:pPr>
            <a:r>
              <a:rPr lang="en-US" sz="1500" dirty="0">
                <a:solidFill>
                  <a:srgbClr val="103333"/>
                </a:solidFill>
                <a:latin typeface="Tahoma" pitchFamily="34" charset="0"/>
              </a:rPr>
              <a:t>Geography: the part that trips people up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19500" y="3686175"/>
            <a:ext cx="466725" cy="3429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004A98"/>
                </a:solidFill>
                <a:latin typeface="Tahoma" pitchFamily="34" charset="0"/>
              </a:rPr>
              <a:t>05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4276725" y="3757613"/>
            <a:ext cx="2894573" cy="2571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4167"/>
              </a:lnSpc>
              <a:buNone/>
            </a:pPr>
            <a:r>
              <a:rPr lang="en-US" sz="1500" b="1" dirty="0">
                <a:solidFill>
                  <a:srgbClr val="103333"/>
                </a:solidFill>
                <a:latin typeface="Tahoma" pitchFamily="34" charset="0"/>
              </a:rPr>
              <a:t>A live tour of the repository</a:t>
            </a:r>
            <a:endParaRPr lang="en-US" sz="1500" dirty="0"/>
          </a:p>
        </p:txBody>
      </p:sp>
      <p:sp>
        <p:nvSpPr>
          <p:cNvPr id="19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5A3FFAFA-D4AF-41FA-909C-1F116BA67F30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11</a:t>
            </a:fld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A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>
            <a:spLocks noGrp="1"/>
          </p:cNvSpPr>
          <p:nvPr>
            <p:ph type="title"/>
          </p:nvPr>
        </p:nvSpPr>
        <p:spPr>
          <a:xfrm>
            <a:off x="4572000" y="571500"/>
            <a:ext cx="4169569" cy="9334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82759"/>
              </a:lnSpc>
              <a:buNone/>
            </a:pPr>
            <a:r>
              <a:rPr lang="en-US" sz="3600" b="1" kern="0" spc="-75" dirty="0">
                <a:solidFill>
                  <a:srgbClr val="FFFFFF"/>
                </a:solidFill>
                <a:latin typeface="Tahoma" pitchFamily="34" charset="0"/>
              </a:rPr>
              <a:t>What is your neighborhood?</a:t>
            </a:r>
            <a:endParaRPr lang="en-US" sz="3600" dirty="0"/>
          </a:p>
        </p:txBody>
      </p:sp>
      <p:pic>
        <p:nvPicPr>
          <p:cNvPr id="2" name="Black-and-white portrait of Fred Rogers of Mister Rogers' Ne" descr="Black-and-white portrait of Fred Rogers of Mister Rogers' Neighborhood, smiling and leaning on the model Neighborhood Trolley"/>
          <p:cNvPicPr>
            <a:picLocks noChangeAspect="1"/>
          </p:cNvPicPr>
          <p:nvPr/>
        </p:nvPicPr>
        <p:blipFill>
          <a:blip r:embed="rId3"/>
          <a:srcRect l="8776" r="8776"/>
          <a:stretch/>
        </p:blipFill>
        <p:spPr>
          <a:xfrm>
            <a:off x="0" y="0"/>
            <a:ext cx="3905250" cy="5143500"/>
          </a:xfrm>
          <a:prstGeom prst="rect">
            <a:avLst/>
          </a:prstGeom>
        </p:spPr>
      </p:pic>
      <p:sp>
        <p:nvSpPr>
          <p:cNvPr id="3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05250" y="0"/>
            <a:ext cx="66675" cy="5143500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0" y="1695450"/>
            <a:ext cx="4452938" cy="2809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3774"/>
              </a:lnSpc>
              <a:buNone/>
            </a:pPr>
            <a:r>
              <a:rPr lang="en-US" sz="1650" dirty="0">
                <a:solidFill>
                  <a:srgbClr val="DDEBF7"/>
                </a:solidFill>
                <a:latin typeface="Tahoma" pitchFamily="34" charset="0"/>
              </a:rPr>
              <a:t>A few blocks.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4572000" y="2062163"/>
            <a:ext cx="4452938" cy="2809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3774"/>
              </a:lnSpc>
              <a:buNone/>
            </a:pPr>
            <a:r>
              <a:rPr lang="en-US" sz="1650" dirty="0">
                <a:solidFill>
                  <a:srgbClr val="DDEBF7"/>
                </a:solidFill>
                <a:latin typeface="Tahoma" pitchFamily="34" charset="0"/>
              </a:rPr>
              <a:t>A school catchment.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4572000" y="2428875"/>
            <a:ext cx="4169569" cy="542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3774"/>
              </a:lnSpc>
              <a:buNone/>
            </a:pPr>
            <a:r>
              <a:rPr lang="en-US" sz="1650" dirty="0">
                <a:solidFill>
                  <a:srgbClr val="DDEBF7"/>
                </a:solidFill>
                <a:latin typeface="Tahoma" pitchFamily="34" charset="0"/>
              </a:rPr>
              <a:t>A census tract, because that is what the data came in.</a:t>
            </a:r>
            <a:endParaRPr lang="en-US" sz="1650" dirty="0"/>
          </a:p>
        </p:txBody>
      </p:sp>
      <p:sp>
        <p:nvSpPr>
          <p:cNvPr id="8" name="Shap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0" y="3162300"/>
            <a:ext cx="4048125" cy="815281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9" name="Text 6"/>
          <p:cNvSpPr/>
          <p:nvPr/>
        </p:nvSpPr>
        <p:spPr>
          <a:xfrm>
            <a:off x="4743450" y="3295650"/>
            <a:ext cx="3826669" cy="56763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lnSpc>
                <a:spcPct val="9931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Tahoma" pitchFamily="34" charset="0"/>
              </a:rPr>
              <a:t>Your choice changes your findings</a:t>
            </a:r>
            <a:endParaRPr lang="en-US" sz="1800" dirty="0"/>
          </a:p>
        </p:txBody>
      </p:sp>
      <p:sp>
        <p:nvSpPr>
          <p:cNvPr id="10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12919A55-0FE4-48AB-B7AE-58AEACEC890F}" type="slidenum">
              <a:rPr lang="en-US" sz="900" dirty="0">
                <a:solidFill>
                  <a:srgbClr val="DDEBF7"/>
                </a:solidFill>
                <a:latin typeface="Tahoma"/>
                <a:cs typeface="Tahoma"/>
              </a:rPr>
              <a:t>12</a:t>
            </a:fld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571500" y="666750"/>
            <a:ext cx="4086225" cy="1809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buNone/>
            </a:pPr>
            <a:r>
              <a:rPr lang="en-US" sz="1050" b="1" kern="0" spc="113" dirty="0">
                <a:solidFill>
                  <a:srgbClr val="004A98"/>
                </a:solidFill>
                <a:latin typeface="Tahoma" pitchFamily="34" charset="0"/>
              </a:rPr>
              <a:t>SOCIAL DETERMINANTS OF HEALTH</a:t>
            </a:r>
            <a:endParaRPr lang="en-US" sz="1050" dirty="0"/>
          </a:p>
        </p:txBody>
      </p:sp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857750" y="0"/>
            <a:ext cx="4286250" cy="5143500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4" name="Text 2"/>
          <p:cNvSpPr/>
          <p:nvPr/>
        </p:nvSpPr>
        <p:spPr>
          <a:xfrm>
            <a:off x="571500" y="1057275"/>
            <a:ext cx="3826193" cy="104306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lnSpc>
                <a:spcPct val="93091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</a:rPr>
              <a:t>Neighborhood and built environment is one of the five domains.</a:t>
            </a:r>
            <a:endParaRPr lang="en-US" sz="24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2309887"/>
            <a:ext cx="3714750" cy="14288"/>
          </a:xfrm>
          <a:prstGeom prst="rect">
            <a:avLst/>
          </a:prstGeom>
          <a:solidFill>
            <a:srgbClr val="004A98"/>
          </a:solidFill>
          <a:ln/>
        </p:spPr>
      </p:sp>
      <p:sp>
        <p:nvSpPr>
          <p:cNvPr id="6" name="Text 4"/>
          <p:cNvSpPr/>
          <p:nvPr/>
        </p:nvSpPr>
        <p:spPr>
          <a:xfrm>
            <a:off x="571500" y="2495625"/>
            <a:ext cx="3826193" cy="5143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333"/>
              </a:lnSpc>
              <a:buNone/>
            </a:pPr>
            <a:r>
              <a:rPr lang="en-US" sz="1500" dirty="0">
                <a:solidFill>
                  <a:srgbClr val="103333"/>
                </a:solidFill>
                <a:latin typeface="Tahoma" pitchFamily="34" charset="0"/>
              </a:rPr>
              <a:t>It is also the one most researchers have the least data on.</a:t>
            </a:r>
            <a:endParaRPr lang="en-US" sz="1500" dirty="0"/>
          </a:p>
        </p:txBody>
      </p:sp>
      <p:sp>
        <p:nvSpPr>
          <p:cNvPr id="7" name="Shap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76875" y="619125"/>
            <a:ext cx="3048000" cy="3352800"/>
          </a:xfrm>
          <a:prstGeom prst="rect">
            <a:avLst/>
          </a:prstGeom>
          <a:ln/>
          <a:effectLst>
            <a:outerShdw blurRad="285750" dist="142875" dir="5400000" algn="bl" rotWithShape="0">
              <a:srgbClr val="004A98">
                <a:alpha val="18000"/>
              </a:srgbClr>
            </a:outerShdw>
          </a:effectLst>
        </p:spPr>
      </p:sp>
      <p:pic>
        <p:nvPicPr>
          <p:cNvPr id="8" name="Healthy People 2030 graphic showing the five domains of the " descr="Healthy People 2030 graphic showing the five domains of the social determinants of health: economic stability, education access and quality, health care access and quality, neighborhood and built environment, and social and community context"/>
          <p:cNvPicPr>
            <a:picLocks noChangeAspect="1"/>
          </p:cNvPicPr>
          <p:nvPr/>
        </p:nvPicPr>
        <p:blipFill>
          <a:blip r:embed="rId3"/>
          <a:srcRect t="-50" b="-50"/>
          <a:stretch/>
        </p:blipFill>
        <p:spPr>
          <a:xfrm>
            <a:off x="5039239" y="375344"/>
            <a:ext cx="3856407" cy="4242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71500" y="4576763"/>
            <a:ext cx="3896239" cy="15716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F6B8A"/>
                </a:solidFill>
                <a:latin typeface="Tahoma" pitchFamily="34" charset="0"/>
              </a:rPr>
              <a:t>Healthy People 2030, U.S. Department of Health and Human Services.</a:t>
            </a:r>
            <a:endParaRPr lang="en-US" sz="900" dirty="0"/>
          </a:p>
        </p:txBody>
      </p:sp>
      <p:sp>
        <p:nvSpPr>
          <p:cNvPr id="10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A18CD298-B2A3-4C39-A166-347BB99701A9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13</a:t>
            </a:fld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71500" y="476250"/>
            <a:ext cx="6547537" cy="48101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buNone/>
            </a:pPr>
            <a:r>
              <a:rPr lang="en-US" sz="3000" b="1" kern="0" spc="-75" dirty="0">
                <a:solidFill>
                  <a:srgbClr val="004A98"/>
                </a:solidFill>
                <a:latin typeface="Tahoma" pitchFamily="34" charset="0"/>
              </a:rPr>
              <a:t>What we mean by neighborhood</a:t>
            </a:r>
            <a:endParaRPr lang="en-US" sz="3000" dirty="0"/>
          </a:p>
        </p:txBody>
      </p:sp>
      <p:sp>
        <p:nvSpPr>
          <p:cNvPr id="3" name="Shap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4350" y="1333500"/>
            <a:ext cx="3886200" cy="3286125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4" name="Shap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1333500"/>
            <a:ext cx="3886200" cy="557213"/>
          </a:xfrm>
          <a:prstGeom prst="rect">
            <a:avLst/>
          </a:prstGeom>
          <a:solidFill>
            <a:srgbClr val="004A98"/>
          </a:solidFill>
          <a:ln/>
        </p:spPr>
      </p:sp>
      <p:sp>
        <p:nvSpPr>
          <p:cNvPr id="5" name="Text 3"/>
          <p:cNvSpPr/>
          <p:nvPr/>
        </p:nvSpPr>
        <p:spPr>
          <a:xfrm>
            <a:off x="800100" y="1485900"/>
            <a:ext cx="3545586" cy="27146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Tahoma" pitchFamily="34" charset="0"/>
              </a:rPr>
              <a:t>Built and physical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800100" y="2081213"/>
            <a:ext cx="193998" cy="241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b="1" dirty="0">
                <a:solidFill>
                  <a:srgbClr val="1D9ADD"/>
                </a:solidFill>
                <a:latin typeface="Tahoma" pitchFamily="34" charset="0"/>
              </a:rPr>
              <a:t>•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51248" y="2085975"/>
            <a:ext cx="2478977" cy="223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dirty="0">
                <a:solidFill>
                  <a:srgbClr val="103333"/>
                </a:solidFill>
                <a:latin typeface="Tahoma" pitchFamily="34" charset="0"/>
              </a:rPr>
              <a:t>Walkability, public transit, traffic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00100" y="2437433"/>
            <a:ext cx="193998" cy="241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b="1" dirty="0">
                <a:solidFill>
                  <a:srgbClr val="1D9ADD"/>
                </a:solidFill>
                <a:latin typeface="Tahoma" pitchFamily="34" charset="0"/>
              </a:rPr>
              <a:t>•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51248" y="2442195"/>
            <a:ext cx="2608817" cy="223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dirty="0">
                <a:solidFill>
                  <a:srgbClr val="103333"/>
                </a:solidFill>
                <a:latin typeface="Tahoma" pitchFamily="34" charset="0"/>
              </a:rPr>
              <a:t>Food stores, parks and recreation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00100" y="2793653"/>
            <a:ext cx="193998" cy="241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b="1" dirty="0">
                <a:solidFill>
                  <a:srgbClr val="1D9ADD"/>
                </a:solidFill>
                <a:latin typeface="Tahoma" pitchFamily="34" charset="0"/>
              </a:rPr>
              <a:t>•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51248" y="2798415"/>
            <a:ext cx="1829858" cy="223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dirty="0">
                <a:solidFill>
                  <a:srgbClr val="103333"/>
                </a:solidFill>
                <a:latin typeface="Tahoma" pitchFamily="34" charset="0"/>
              </a:rPr>
              <a:t>Healthcare, hospitals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00100" y="3149873"/>
            <a:ext cx="193998" cy="241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b="1" dirty="0">
                <a:solidFill>
                  <a:srgbClr val="1D9ADD"/>
                </a:solidFill>
                <a:latin typeface="Tahoma" pitchFamily="34" charset="0"/>
              </a:rPr>
              <a:t>•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051248" y="3154636"/>
            <a:ext cx="2843952" cy="223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dirty="0">
                <a:solidFill>
                  <a:srgbClr val="103333"/>
                </a:solidFill>
                <a:latin typeface="Tahoma" pitchFamily="34" charset="0"/>
              </a:rPr>
              <a:t>Air pollution, climate, air conditioning</a:t>
            </a:r>
            <a:endParaRPr lang="en-US" sz="1350" dirty="0"/>
          </a:p>
        </p:txBody>
      </p:sp>
      <p:sp>
        <p:nvSpPr>
          <p:cNvPr id="14" name="Shap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86300" y="1333500"/>
            <a:ext cx="3886200" cy="3286125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15" name="Shap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86300" y="1333500"/>
            <a:ext cx="3886200" cy="557213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16" name="Text 14"/>
          <p:cNvSpPr/>
          <p:nvPr/>
        </p:nvSpPr>
        <p:spPr>
          <a:xfrm>
            <a:off x="4914900" y="1485900"/>
            <a:ext cx="3545586" cy="27146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Tahoma" pitchFamily="34" charset="0"/>
              </a:rPr>
              <a:t>Social and economic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4914900" y="2081213"/>
            <a:ext cx="193998" cy="241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b="1" dirty="0">
                <a:solidFill>
                  <a:srgbClr val="004A98"/>
                </a:solidFill>
                <a:latin typeface="Tahoma" pitchFamily="34" charset="0"/>
              </a:rPr>
              <a:t>•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166048" y="2085975"/>
            <a:ext cx="2990210" cy="223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dirty="0">
                <a:solidFill>
                  <a:srgbClr val="103333"/>
                </a:solidFill>
                <a:latin typeface="Tahoma" pitchFamily="34" charset="0"/>
              </a:rPr>
              <a:t>Disadvantage, affluence, gentrification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914900" y="2437433"/>
            <a:ext cx="193998" cy="241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b="1" dirty="0">
                <a:solidFill>
                  <a:srgbClr val="004A98"/>
                </a:solidFill>
                <a:latin typeface="Tahoma" pitchFamily="34" charset="0"/>
              </a:rPr>
              <a:t>•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166048" y="2442195"/>
            <a:ext cx="2990210" cy="223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dirty="0">
                <a:solidFill>
                  <a:srgbClr val="103333"/>
                </a:solidFill>
                <a:latin typeface="Tahoma" pitchFamily="34" charset="0"/>
              </a:rPr>
              <a:t>Mortgage lending, housing affordability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914900" y="2793653"/>
            <a:ext cx="193998" cy="241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b="1" dirty="0">
                <a:solidFill>
                  <a:srgbClr val="004A98"/>
                </a:solidFill>
                <a:latin typeface="Tahoma" pitchFamily="34" charset="0"/>
              </a:rPr>
              <a:t>•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166048" y="2798415"/>
            <a:ext cx="2670670" cy="223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dirty="0">
                <a:solidFill>
                  <a:srgbClr val="103333"/>
                </a:solidFill>
                <a:latin typeface="Tahoma" pitchFamily="34" charset="0"/>
              </a:rPr>
              <a:t>School quality, employment, crime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914900" y="3149873"/>
            <a:ext cx="193998" cy="46479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b="1" dirty="0">
                <a:solidFill>
                  <a:srgbClr val="004A98"/>
                </a:solidFill>
                <a:latin typeface="Tahoma" pitchFamily="34" charset="0"/>
              </a:rPr>
              <a:t>•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166048" y="3154636"/>
            <a:ext cx="2837606" cy="446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dirty="0">
                <a:solidFill>
                  <a:srgbClr val="103333"/>
                </a:solidFill>
                <a:latin typeface="Tahoma" pitchFamily="34" charset="0"/>
              </a:rPr>
              <a:t>Voter registration, turnout, and partisanship</a:t>
            </a:r>
            <a:endParaRPr lang="en-US" sz="1350" dirty="0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312A3494-C293-1841-2DE3-B147B3408744}"/>
              </a:ext>
            </a:extLst>
          </p:cNvPr>
          <p:cNvSpPr/>
          <p:nvPr/>
        </p:nvSpPr>
        <p:spPr>
          <a:xfrm>
            <a:off x="1048596" y="3490658"/>
            <a:ext cx="1596087" cy="223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dirty="0">
                <a:solidFill>
                  <a:srgbClr val="103333"/>
                </a:solidFill>
                <a:latin typeface="Tahoma" pitchFamily="34" charset="0"/>
              </a:rPr>
              <a:t>Broadband </a:t>
            </a:r>
            <a:endParaRPr lang="en-US" sz="1350" dirty="0"/>
          </a:p>
        </p:txBody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00A8A017-7ECE-07C0-99EF-4F72666F0BF6}"/>
              </a:ext>
            </a:extLst>
          </p:cNvPr>
          <p:cNvSpPr/>
          <p:nvPr/>
        </p:nvSpPr>
        <p:spPr>
          <a:xfrm>
            <a:off x="811374" y="3486886"/>
            <a:ext cx="193998" cy="241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b="1" dirty="0">
                <a:solidFill>
                  <a:srgbClr val="1D9ADD"/>
                </a:solidFill>
                <a:latin typeface="Tahoma" pitchFamily="34" charset="0"/>
              </a:rPr>
              <a:t>•</a:t>
            </a:r>
            <a:endParaRPr lang="en-US" sz="1350" dirty="0"/>
          </a:p>
        </p:txBody>
      </p:sp>
      <p:sp>
        <p:nvSpPr>
          <p:cNvPr id="27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92378531-DEE6-4FE7-A046-BD615DCFDA8A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14</a:t>
            </a:fld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71500" y="476250"/>
            <a:ext cx="4605434" cy="48101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buNone/>
            </a:pPr>
            <a:r>
              <a:rPr lang="en-US" sz="3000" b="1" kern="0" spc="-75" dirty="0">
                <a:solidFill>
                  <a:srgbClr val="004A98"/>
                </a:solidFill>
                <a:latin typeface="Tahoma" pitchFamily="34" charset="0"/>
              </a:rPr>
              <a:t>Where data come from</a:t>
            </a:r>
            <a:endParaRPr lang="en-US" sz="3000" dirty="0"/>
          </a:p>
        </p:txBody>
      </p:sp>
      <p:sp>
        <p:nvSpPr>
          <p:cNvPr id="3" name="Shap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1381125"/>
            <a:ext cx="2344564" cy="3190875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4" name="Shap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1381125"/>
            <a:ext cx="2344564" cy="47625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5" name="Text 3"/>
          <p:cNvSpPr/>
          <p:nvPr/>
        </p:nvSpPr>
        <p:spPr>
          <a:xfrm>
            <a:off x="800100" y="1657350"/>
            <a:ext cx="2076101" cy="476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lnSpc>
                <a:spcPct val="82759"/>
              </a:lnSpc>
              <a:buNone/>
            </a:pPr>
            <a:r>
              <a:rPr lang="en-US" sz="3600" b="1" dirty="0">
                <a:solidFill>
                  <a:srgbClr val="004A98"/>
                </a:solidFill>
                <a:latin typeface="Tahoma" pitchFamily="34" charset="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00100" y="2247900"/>
            <a:ext cx="2076101" cy="2952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03333"/>
                </a:solidFill>
                <a:latin typeface="Tahoma" pitchFamily="34" charset="0"/>
              </a:rPr>
              <a:t>Ask people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00100" y="2657475"/>
            <a:ext cx="1943985" cy="87243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4872"/>
              </a:lnSpc>
              <a:buNone/>
            </a:pPr>
            <a:r>
              <a:rPr lang="en-US" sz="1200" dirty="0">
                <a:solidFill>
                  <a:srgbClr val="103333"/>
                </a:solidFill>
                <a:latin typeface="Tahoma" pitchFamily="34" charset="0"/>
              </a:rPr>
              <a:t>Survey items on safety, cohesion, park quality. Captures perception, but it is your own data collection.</a:t>
            </a:r>
            <a:endParaRPr lang="en-US" sz="12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06564" y="1381125"/>
            <a:ext cx="2344639" cy="3190875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9" name="Shap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06564" y="1381125"/>
            <a:ext cx="2344639" cy="47625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10" name="Text 8"/>
          <p:cNvSpPr/>
          <p:nvPr/>
        </p:nvSpPr>
        <p:spPr>
          <a:xfrm>
            <a:off x="3335164" y="1657350"/>
            <a:ext cx="2076182" cy="476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lnSpc>
                <a:spcPct val="82759"/>
              </a:lnSpc>
              <a:buNone/>
            </a:pPr>
            <a:r>
              <a:rPr lang="en-US" sz="3600" b="1" dirty="0">
                <a:solidFill>
                  <a:srgbClr val="004A98"/>
                </a:solidFill>
                <a:latin typeface="Tahoma" pitchFamily="34" charset="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335164" y="2247900"/>
            <a:ext cx="2076182" cy="2952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03333"/>
                </a:solidFill>
                <a:latin typeface="Tahoma" pitchFamily="34" charset="0"/>
              </a:rPr>
              <a:t>Go look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335164" y="2657475"/>
            <a:ext cx="1944062" cy="87243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4872"/>
              </a:lnSpc>
              <a:buNone/>
            </a:pPr>
            <a:r>
              <a:rPr lang="en-US" sz="1200" dirty="0">
                <a:solidFill>
                  <a:srgbClr val="103333"/>
                </a:solidFill>
                <a:latin typeface="Tahoma" pitchFamily="34" charset="0"/>
              </a:rPr>
              <a:t>Systematic social observation, in person or by street view. Rich, and expensive.</a:t>
            </a:r>
            <a:endParaRPr lang="en-US" sz="1200" dirty="0"/>
          </a:p>
        </p:txBody>
      </p:sp>
      <p:sp>
        <p:nvSpPr>
          <p:cNvPr id="13" name="Shap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41702" y="1381125"/>
            <a:ext cx="2930724" cy="3190875"/>
          </a:xfrm>
          <a:prstGeom prst="rect">
            <a:avLst/>
          </a:prstGeom>
          <a:solidFill>
            <a:srgbClr val="004A98"/>
          </a:solidFill>
          <a:ln/>
        </p:spPr>
      </p:sp>
      <p:sp>
        <p:nvSpPr>
          <p:cNvPr id="14" name="Shap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41702" y="1381125"/>
            <a:ext cx="2930724" cy="47625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15" name="Text 13"/>
          <p:cNvSpPr/>
          <p:nvPr/>
        </p:nvSpPr>
        <p:spPr>
          <a:xfrm>
            <a:off x="5870302" y="1657350"/>
            <a:ext cx="2720876" cy="476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lnSpc>
                <a:spcPct val="82759"/>
              </a:lnSpc>
              <a:buNone/>
            </a:pPr>
            <a:r>
              <a:rPr lang="en-US" sz="3600" b="1" dirty="0">
                <a:solidFill>
                  <a:srgbClr val="CDEAF8"/>
                </a:solidFill>
                <a:latin typeface="Tahoma" pitchFamily="34" charset="0"/>
              </a:rPr>
              <a:t>3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5870302" y="2247900"/>
            <a:ext cx="2547729" cy="5715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Tahoma" pitchFamily="34" charset="0"/>
              </a:rPr>
              <a:t>Use data that already exist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870302" y="2933700"/>
            <a:ext cx="2547729" cy="87243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4872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Tahoma" pitchFamily="34" charset="0"/>
              </a:rPr>
              <a:t>Census and ACS, business point data, parcel data, weather stations, administrative records. </a:t>
            </a:r>
            <a:r>
              <a:rPr lang="en-US" sz="1200" b="1" dirty="0">
                <a:solidFill>
                  <a:srgbClr val="FFFFFF"/>
                </a:solidFill>
                <a:latin typeface="Tahoma" pitchFamily="34" charset="0"/>
              </a:rPr>
              <a:t>This is what NaNDA is built from.</a:t>
            </a:r>
            <a:endParaRPr lang="en-US" sz="1200" dirty="0"/>
          </a:p>
        </p:txBody>
      </p:sp>
      <p:sp>
        <p:nvSpPr>
          <p:cNvPr id="18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50A6BD0C-857F-424A-AE32-787820748BBC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15</a:t>
            </a:fld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>
            <a:spLocks noGrp="1"/>
          </p:cNvSpPr>
          <p:nvPr>
            <p:ph type="title"/>
          </p:nvPr>
        </p:nvSpPr>
        <p:spPr>
          <a:xfrm>
            <a:off x="571500" y="1985963"/>
            <a:ext cx="4441587" cy="16163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95172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Tahoma" pitchFamily="34" charset="0"/>
              </a:rPr>
              <a:t>Every research team was building the same neighborhood measures from scratch.</a:t>
            </a:r>
            <a:endParaRPr lang="en-US" sz="2700" dirty="0"/>
          </a:p>
        </p:txBody>
      </p:sp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48352" y="1485895"/>
            <a:ext cx="4286250" cy="4286250"/>
          </a:xfrm>
          <a:prstGeom prst="ellipse">
            <a:avLst/>
          </a:prstGeom>
          <a:solidFill>
            <a:srgbClr val="1D9ADD"/>
          </a:solidFill>
          <a:ln/>
        </p:spPr>
      </p:sp>
      <p:pic>
        <p:nvPicPr>
          <p:cNvPr id="3" name="Decorative imag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05500" y="2000250"/>
            <a:ext cx="2952750" cy="2952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71500" y="571500"/>
            <a:ext cx="3202186" cy="9334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lnSpc>
                <a:spcPct val="66207"/>
              </a:lnSpc>
              <a:buNone/>
            </a:pPr>
            <a:r>
              <a:rPr lang="en-US" sz="9000" b="1" dirty="0">
                <a:solidFill>
                  <a:srgbClr val="1D9ADD"/>
                </a:solidFill>
                <a:latin typeface="Tahoma" pitchFamily="34" charset="0"/>
              </a:rPr>
              <a:t>2019</a:t>
            </a:r>
            <a:endParaRPr lang="en-US" sz="9000" dirty="0"/>
          </a:p>
        </p:txBody>
      </p:sp>
      <p:sp>
        <p:nvSpPr>
          <p:cNvPr id="6" name="Text 3"/>
          <p:cNvSpPr/>
          <p:nvPr/>
        </p:nvSpPr>
        <p:spPr>
          <a:xfrm>
            <a:off x="571500" y="3806131"/>
            <a:ext cx="5199698" cy="80769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95172"/>
              </a:lnSpc>
              <a:buNone/>
            </a:pPr>
            <a:r>
              <a:rPr lang="en-US" sz="2700" b="1" dirty="0">
                <a:solidFill>
                  <a:srgbClr val="1D9ADD"/>
                </a:solidFill>
                <a:latin typeface="Tahoma" pitchFamily="34" charset="0"/>
              </a:rPr>
              <a:t>In 2019, NaNDA was founded</a:t>
            </a:r>
            <a:endParaRPr lang="en-US" sz="2700" dirty="0"/>
          </a:p>
        </p:txBody>
      </p:sp>
      <p:sp>
        <p:nvSpPr>
          <p:cNvPr id="7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A9D15050-0BAA-44C9-B74F-F23D164C845E}" type="slidenum">
              <a:rPr lang="en-US" sz="900" dirty="0">
                <a:solidFill>
                  <a:srgbClr val="DDEBF7"/>
                </a:solidFill>
                <a:latin typeface="Tahoma"/>
                <a:cs typeface="Tahoma"/>
              </a:rPr>
              <a:t>16</a:t>
            </a:fld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>
            <a:spLocks noGrp="1"/>
          </p:cNvSpPr>
          <p:nvPr>
            <p:ph type="title"/>
          </p:nvPr>
        </p:nvSpPr>
        <p:spPr>
          <a:xfrm>
            <a:off x="666750" y="1524000"/>
            <a:ext cx="3993565" cy="5715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buNone/>
            </a:pPr>
            <a:r>
              <a:rPr lang="en-US" sz="3600" b="1" kern="0" spc="-75" dirty="0">
                <a:solidFill>
                  <a:srgbClr val="004A98"/>
                </a:solidFill>
                <a:latin typeface="Tahoma" pitchFamily="34" charset="0"/>
              </a:rPr>
              <a:t>What is NaNDA?</a:t>
            </a:r>
            <a:endParaRPr lang="en-US" sz="3600" dirty="0"/>
          </a:p>
        </p:txBody>
      </p:sp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14300" cy="5143500"/>
          </a:xfrm>
          <a:prstGeom prst="rect">
            <a:avLst/>
          </a:prstGeom>
          <a:solidFill>
            <a:srgbClr val="004A98"/>
          </a:solidFill>
          <a:ln/>
        </p:spPr>
      </p:sp>
      <p:pic>
        <p:nvPicPr>
          <p:cNvPr id="3" name="NaNDA" descr="NaNDA, National Neighborhood Data Archive,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523875"/>
            <a:ext cx="905098" cy="7143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6750" y="2286000"/>
            <a:ext cx="5297805" cy="155235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25" dirty="0">
                <a:solidFill>
                  <a:srgbClr val="103333"/>
                </a:solidFill>
                <a:latin typeface="Tahoma" pitchFamily="34" charset="0"/>
              </a:rPr>
              <a:t>The National Neighborhood Data Archive (NaNDA) is an </a:t>
            </a:r>
            <a:r>
              <a:rPr lang="en-US" sz="1725" b="1" dirty="0">
                <a:solidFill>
                  <a:srgbClr val="004A98"/>
                </a:solidFill>
                <a:latin typeface="Tahoma" pitchFamily="34" charset="0"/>
              </a:rPr>
              <a:t>open data repository</a:t>
            </a:r>
            <a:r>
              <a:rPr lang="en-US" sz="1725" dirty="0">
                <a:solidFill>
                  <a:srgbClr val="103333"/>
                </a:solidFill>
                <a:latin typeface="Tahoma" pitchFamily="34" charset="0"/>
              </a:rPr>
              <a:t>. It provides </a:t>
            </a:r>
            <a:r>
              <a:rPr lang="en-US" sz="1725" b="1" dirty="0">
                <a:solidFill>
                  <a:srgbClr val="004A98"/>
                </a:solidFill>
                <a:latin typeface="Tahoma" pitchFamily="34" charset="0"/>
              </a:rPr>
              <a:t>FAIR datasets </a:t>
            </a:r>
            <a:r>
              <a:rPr lang="en-US" sz="1725" dirty="0">
                <a:solidFill>
                  <a:srgbClr val="103333"/>
                </a:solidFill>
                <a:latin typeface="Tahoma" pitchFamily="34" charset="0"/>
              </a:rPr>
              <a:t>about physical and social environment that researchers can easily combine with their own data.</a:t>
            </a:r>
            <a:endParaRPr lang="en-US" sz="1725" dirty="0"/>
          </a:p>
        </p:txBody>
      </p:sp>
      <p:sp>
        <p:nvSpPr>
          <p:cNvPr id="6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96000" y="857250"/>
            <a:ext cx="3619500" cy="3619500"/>
          </a:xfrm>
          <a:prstGeom prst="ellipse">
            <a:avLst/>
          </a:prstGeom>
          <a:solidFill>
            <a:srgbClr val="EEF4FA"/>
          </a:solidFill>
          <a:ln/>
        </p:spPr>
      </p:sp>
      <p:pic>
        <p:nvPicPr>
          <p:cNvPr id="7" name="Decorative imag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86500" y="1238250"/>
            <a:ext cx="2667000" cy="2667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r">
              <a:buNone/>
            </a:pPr>
            <a:fld id="{AAC07BD7-19F2-40E8-947C-E4C97798668D}" type="slidenum">
              <a:rPr lang="en-US" sz="900" dirty="0">
                <a:solidFill>
                  <a:srgbClr val="4F6B8A"/>
                </a:solidFill>
                <a:latin typeface="Tahoma" pitchFamily="34" charset="0"/>
              </a:rPr>
              <a:t>17</a:t>
            </a:fld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71500" y="476250"/>
            <a:ext cx="4120850" cy="48101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buNone/>
            </a:pPr>
            <a:r>
              <a:rPr lang="en-US" sz="3000" b="1" kern="0" spc="-75" dirty="0">
                <a:solidFill>
                  <a:srgbClr val="004A98"/>
                </a:solidFill>
                <a:latin typeface="Tahoma" pitchFamily="34" charset="0"/>
              </a:rPr>
              <a:t>FAIR data principles</a:t>
            </a:r>
            <a:endParaRPr lang="en-US" sz="3000" dirty="0"/>
          </a:p>
        </p:txBody>
      </p:sp>
      <p:sp>
        <p:nvSpPr>
          <p:cNvPr id="3" name="Shap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5375" y="2305050"/>
            <a:ext cx="6953250" cy="28575"/>
          </a:xfrm>
          <a:prstGeom prst="rect">
            <a:avLst/>
          </a:prstGeom>
          <a:solidFill>
            <a:srgbClr val="5AD2EA"/>
          </a:solidFill>
          <a:ln/>
        </p:spPr>
      </p:sp>
      <p:sp>
        <p:nvSpPr>
          <p:cNvPr id="4" name="Shap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6250" y="1428750"/>
            <a:ext cx="1762125" cy="1762125"/>
          </a:xfrm>
          <a:prstGeom prst="ellipse">
            <a:avLst/>
          </a:prstGeom>
          <a:solidFill>
            <a:srgbClr val="004A98"/>
          </a:solidFill>
          <a:ln/>
          <a:effectLst>
            <a:outerShdw blurRad="50800" dist="25400" dir="16200000" algn="bl" rotWithShape="0">
              <a:srgbClr val="FFFFFF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5869" y="2004207"/>
            <a:ext cx="1047750" cy="1066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ctr">
              <a:lnSpc>
                <a:spcPct val="83019"/>
              </a:lnSpc>
              <a:buNone/>
            </a:pPr>
            <a:r>
              <a:rPr lang="en-US" sz="8250" b="1" dirty="0">
                <a:solidFill>
                  <a:srgbClr val="FFFFFF"/>
                </a:solidFill>
                <a:latin typeface="Tahoma" pitchFamily="34" charset="0"/>
              </a:rPr>
              <a:t>F</a:t>
            </a:r>
            <a:endParaRPr lang="en-US" sz="8250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98835" y="3457575"/>
            <a:ext cx="1116881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04A9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185" y="3543300"/>
            <a:ext cx="888281" cy="1905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b="1" kern="0" spc="113" dirty="0">
                <a:solidFill>
                  <a:srgbClr val="004A98"/>
                </a:solidFill>
                <a:latin typeface="Tahoma" pitchFamily="34" charset="0"/>
              </a:rPr>
              <a:t>FINDABLE</a:t>
            </a:r>
            <a:endParaRPr lang="en-US" sz="1125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619375" y="1428750"/>
            <a:ext cx="1762125" cy="1762125"/>
          </a:xfrm>
          <a:prstGeom prst="ellipse">
            <a:avLst/>
          </a:prstGeom>
          <a:solidFill>
            <a:srgbClr val="1D9ADD"/>
          </a:solidFill>
          <a:ln/>
          <a:effectLst>
            <a:outerShdw blurRad="50800" dist="25400" dir="16200000" algn="bl" rotWithShape="0">
              <a:srgbClr val="FFFFFF">
                <a:alpha val="10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48994" y="2004207"/>
            <a:ext cx="1047750" cy="1066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ctr">
              <a:lnSpc>
                <a:spcPct val="83019"/>
              </a:lnSpc>
              <a:buNone/>
            </a:pPr>
            <a:r>
              <a:rPr lang="en-US" sz="8250" b="1" dirty="0">
                <a:solidFill>
                  <a:srgbClr val="FFFFFF"/>
                </a:solidFill>
                <a:latin typeface="Tahoma" pitchFamily="34" charset="0"/>
              </a:rPr>
              <a:t>A</a:t>
            </a:r>
            <a:endParaRPr lang="en-US" sz="825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848571" y="3457575"/>
            <a:ext cx="1303735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D9A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81921" y="3543300"/>
            <a:ext cx="1076147" cy="1905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b="1" kern="0" spc="113" dirty="0">
                <a:solidFill>
                  <a:srgbClr val="103333"/>
                </a:solidFill>
                <a:latin typeface="Tahoma" pitchFamily="34" charset="0"/>
              </a:rPr>
              <a:t>ACCESSIBLE</a:t>
            </a:r>
            <a:endParaRPr lang="en-US" sz="1125" dirty="0"/>
          </a:p>
        </p:txBody>
      </p:sp>
      <p:sp>
        <p:nvSpPr>
          <p:cNvPr id="12" name="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62500" y="1428750"/>
            <a:ext cx="1762125" cy="1762125"/>
          </a:xfrm>
          <a:prstGeom prst="ellipse">
            <a:avLst/>
          </a:prstGeom>
          <a:solidFill>
            <a:srgbClr val="0E9BA9"/>
          </a:solidFill>
          <a:ln/>
          <a:effectLst>
            <a:outerShdw blurRad="50800" dist="25400" dir="16200000" algn="bl" rotWithShape="0">
              <a:srgbClr val="FFFFFF">
                <a:alpha val="10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26722" y="2004207"/>
            <a:ext cx="1047750" cy="1066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ctr">
              <a:lnSpc>
                <a:spcPct val="83019"/>
              </a:lnSpc>
              <a:buNone/>
            </a:pPr>
            <a:r>
              <a:rPr lang="en-US" sz="8250" b="1" dirty="0">
                <a:solidFill>
                  <a:srgbClr val="FFFFFF"/>
                </a:solidFill>
                <a:latin typeface="Tahoma" pitchFamily="34" charset="0"/>
              </a:rPr>
              <a:t>I</a:t>
            </a:r>
            <a:endParaRPr lang="en-US" sz="8250" dirty="0"/>
          </a:p>
        </p:txBody>
      </p:sp>
      <p:sp>
        <p:nvSpPr>
          <p:cNvPr id="14" name="Shap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807670" y="3457575"/>
            <a:ext cx="1671787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E9BA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41020" y="3543300"/>
            <a:ext cx="1455240" cy="1905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b="1" kern="0" spc="113" dirty="0">
                <a:solidFill>
                  <a:srgbClr val="103333"/>
                </a:solidFill>
                <a:latin typeface="Tahoma" pitchFamily="34" charset="0"/>
              </a:rPr>
              <a:t>INTEROPERABLE</a:t>
            </a:r>
            <a:endParaRPr lang="en-US" sz="1125" dirty="0"/>
          </a:p>
        </p:txBody>
      </p:sp>
      <p:sp>
        <p:nvSpPr>
          <p:cNvPr id="16" name="Shap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905625" y="1428750"/>
            <a:ext cx="1762125" cy="1762125"/>
          </a:xfrm>
          <a:prstGeom prst="ellipse">
            <a:avLst/>
          </a:prstGeom>
          <a:solidFill>
            <a:srgbClr val="3A9B1F"/>
          </a:solidFill>
          <a:ln/>
          <a:effectLst>
            <a:outerShdw blurRad="50800" dist="25400" dir="16200000" algn="bl" rotWithShape="0">
              <a:srgbClr val="FFFFFF">
                <a:alpha val="10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269847" y="1989920"/>
            <a:ext cx="1047750" cy="1066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ctr">
              <a:lnSpc>
                <a:spcPct val="83019"/>
              </a:lnSpc>
              <a:buNone/>
            </a:pPr>
            <a:r>
              <a:rPr lang="en-US" sz="8250" b="1" dirty="0">
                <a:solidFill>
                  <a:srgbClr val="FFFFFF"/>
                </a:solidFill>
                <a:latin typeface="Tahoma" pitchFamily="34" charset="0"/>
              </a:rPr>
              <a:t>R</a:t>
            </a:r>
            <a:endParaRPr lang="en-US" sz="8250" dirty="0"/>
          </a:p>
        </p:txBody>
      </p:sp>
      <p:sp>
        <p:nvSpPr>
          <p:cNvPr id="18" name="Shap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219578" y="3457575"/>
            <a:ext cx="1134219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3A9B1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52928" y="3543300"/>
            <a:ext cx="905619" cy="1905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125" b="1" kern="0" spc="113" dirty="0">
                <a:solidFill>
                  <a:srgbClr val="103333"/>
                </a:solidFill>
                <a:latin typeface="Tahoma" pitchFamily="34" charset="0"/>
              </a:rPr>
              <a:t>REUSABLE</a:t>
            </a:r>
            <a:endParaRPr lang="en-US" sz="1125" dirty="0"/>
          </a:p>
        </p:txBody>
      </p:sp>
      <p:sp>
        <p:nvSpPr>
          <p:cNvPr id="20" name="Text 18">
            <a:hlinkClick r:id="rId3"/>
          </p:cNvPr>
          <p:cNvSpPr/>
          <p:nvPr/>
        </p:nvSpPr>
        <p:spPr>
          <a:xfrm>
            <a:off x="381000" y="4695825"/>
            <a:ext cx="1583412" cy="1809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050" u="sng" dirty="0">
                <a:solidFill>
                  <a:srgbClr val="004A98"/>
                </a:solidFill>
                <a:latin typeface="Tahoma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go-fair.org/fair-principles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r">
              <a:buNone/>
            </a:pPr>
            <a:fld id="{1165D6ED-CD6E-4819-9A01-C8A99603A54A}" type="slidenum">
              <a:rPr lang="en-US" sz="900" dirty="0">
                <a:solidFill>
                  <a:srgbClr val="4F6B8A"/>
                </a:solidFill>
                <a:latin typeface="Tahoma" pitchFamily="34" charset="0"/>
              </a:rPr>
              <a:t>18</a:t>
            </a:fld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71500" y="476250"/>
            <a:ext cx="6376988" cy="9429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kern="0" spc="-75" dirty="0">
                <a:solidFill>
                  <a:srgbClr val="004A98"/>
                </a:solidFill>
                <a:latin typeface="Tahoma" pitchFamily="34" charset="0"/>
              </a:rPr>
              <a:t>Examples of neighborhood topics include:</a:t>
            </a:r>
            <a:endParaRPr lang="en-US" sz="3000" dirty="0"/>
          </a:p>
        </p:txBody>
      </p:sp>
      <p:pic>
        <p:nvPicPr>
          <p:cNvPr id="3" name="Decorative imag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" b="96"/>
          <a:stretch/>
        </p:blipFill>
        <p:spPr>
          <a:xfrm>
            <a:off x="7143750" y="333375"/>
            <a:ext cx="1428750" cy="938213"/>
          </a:xfrm>
          <a:prstGeom prst="rect">
            <a:avLst/>
          </a:prstGeom>
        </p:spPr>
      </p:pic>
      <p:sp>
        <p:nvSpPr>
          <p:cNvPr id="4" name="Shap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1428750"/>
            <a:ext cx="1900238" cy="152876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1428750"/>
            <a:ext cx="1900238" cy="38100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6" name="Text 3"/>
          <p:cNvSpPr/>
          <p:nvPr/>
        </p:nvSpPr>
        <p:spPr>
          <a:xfrm>
            <a:off x="742950" y="1638300"/>
            <a:ext cx="1604058" cy="4286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4A98"/>
                </a:solidFill>
                <a:latin typeface="Tahoma" pitchFamily="34" charset="0"/>
              </a:rPr>
              <a:t>Health care services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42950" y="2124075"/>
            <a:ext cx="1604058" cy="52045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3226"/>
              </a:lnSpc>
              <a:buNone/>
            </a:pPr>
            <a:r>
              <a:rPr lang="en-US" sz="975" dirty="0">
                <a:solidFill>
                  <a:srgbClr val="34506E"/>
                </a:solidFill>
                <a:latin typeface="Tahoma" pitchFamily="34" charset="0"/>
              </a:rPr>
              <a:t>(health care providers, residential care facilities, hospitals)</a:t>
            </a:r>
            <a:endParaRPr lang="en-US" sz="975" dirty="0"/>
          </a:p>
        </p:txBody>
      </p:sp>
      <p:sp>
        <p:nvSpPr>
          <p:cNvPr id="8" name="Shap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605088" y="1428750"/>
            <a:ext cx="1900238" cy="152876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605088" y="1428750"/>
            <a:ext cx="1900238" cy="38100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10" name="Text 7"/>
          <p:cNvSpPr/>
          <p:nvPr/>
        </p:nvSpPr>
        <p:spPr>
          <a:xfrm>
            <a:off x="2776538" y="1638300"/>
            <a:ext cx="1713072" cy="22383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4A98"/>
                </a:solidFill>
                <a:latin typeface="Tahoma" pitchFamily="34" charset="0"/>
              </a:rPr>
              <a:t>Parks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2776538" y="1919288"/>
            <a:ext cx="1604058" cy="35331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3226"/>
              </a:lnSpc>
              <a:buNone/>
            </a:pPr>
            <a:r>
              <a:rPr lang="en-US" sz="975" dirty="0">
                <a:solidFill>
                  <a:srgbClr val="34506E"/>
                </a:solidFill>
                <a:latin typeface="Tahoma" pitchFamily="34" charset="0"/>
              </a:rPr>
              <a:t>(public parks, national and state parks)</a:t>
            </a:r>
            <a:endParaRPr lang="en-US" sz="975" dirty="0"/>
          </a:p>
        </p:txBody>
      </p:sp>
      <p:sp>
        <p:nvSpPr>
          <p:cNvPr id="12" name="Shap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38675" y="1428750"/>
            <a:ext cx="1900238" cy="152876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38675" y="1428750"/>
            <a:ext cx="1900238" cy="38100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14" name="Text 11"/>
          <p:cNvSpPr/>
          <p:nvPr/>
        </p:nvSpPr>
        <p:spPr>
          <a:xfrm>
            <a:off x="4810125" y="1638300"/>
            <a:ext cx="1713072" cy="22383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4A98"/>
                </a:solidFill>
                <a:latin typeface="Tahoma" pitchFamily="34" charset="0"/>
              </a:rPr>
              <a:t>Social Services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810125" y="1919288"/>
            <a:ext cx="1604058" cy="35331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3226"/>
              </a:lnSpc>
              <a:buNone/>
            </a:pPr>
            <a:r>
              <a:rPr lang="en-US" sz="975" dirty="0">
                <a:solidFill>
                  <a:srgbClr val="34506E"/>
                </a:solidFill>
                <a:latin typeface="Tahoma" pitchFamily="34" charset="0"/>
              </a:rPr>
              <a:t>(crisis centers, shelters, child day care services)</a:t>
            </a:r>
            <a:endParaRPr lang="en-US" sz="975" dirty="0"/>
          </a:p>
        </p:txBody>
      </p:sp>
      <p:sp>
        <p:nvSpPr>
          <p:cNvPr id="16" name="Shap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672263" y="1428750"/>
            <a:ext cx="1900238" cy="152876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672263" y="1428750"/>
            <a:ext cx="1900238" cy="38100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18" name="Text 15"/>
          <p:cNvSpPr/>
          <p:nvPr/>
        </p:nvSpPr>
        <p:spPr>
          <a:xfrm>
            <a:off x="6843713" y="1638300"/>
            <a:ext cx="1713072" cy="22383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4A98"/>
                </a:solidFill>
                <a:latin typeface="Tahoma" pitchFamily="34" charset="0"/>
              </a:rPr>
              <a:t>Transportation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6843713" y="1919288"/>
            <a:ext cx="1604058" cy="35331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3226"/>
              </a:lnSpc>
              <a:buNone/>
            </a:pPr>
            <a:r>
              <a:rPr lang="en-US" sz="975" dirty="0">
                <a:solidFill>
                  <a:srgbClr val="34506E"/>
                </a:solidFill>
                <a:latin typeface="Tahoma" pitchFamily="34" charset="0"/>
              </a:rPr>
              <a:t>(street connectivity, public transit stops, traffic)</a:t>
            </a:r>
            <a:endParaRPr lang="en-US" sz="975" dirty="0"/>
          </a:p>
        </p:txBody>
      </p:sp>
      <p:sp>
        <p:nvSpPr>
          <p:cNvPr id="20" name="Shap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3090863"/>
            <a:ext cx="1900238" cy="152876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3090863"/>
            <a:ext cx="1900238" cy="38100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22" name="Text 19"/>
          <p:cNvSpPr/>
          <p:nvPr/>
        </p:nvSpPr>
        <p:spPr>
          <a:xfrm>
            <a:off x="742950" y="3300413"/>
            <a:ext cx="1713072" cy="22383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4A98"/>
                </a:solidFill>
                <a:latin typeface="Tahoma" pitchFamily="34" charset="0"/>
              </a:rPr>
              <a:t>Broadband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742950" y="3581400"/>
            <a:ext cx="1604058" cy="35331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3226"/>
              </a:lnSpc>
              <a:buNone/>
            </a:pPr>
            <a:r>
              <a:rPr lang="en-US" sz="975" dirty="0">
                <a:solidFill>
                  <a:srgbClr val="34506E"/>
                </a:solidFill>
                <a:latin typeface="Tahoma" pitchFamily="34" charset="0"/>
              </a:rPr>
              <a:t>(internet availability, speed, adoption, and access)</a:t>
            </a:r>
            <a:endParaRPr lang="en-US" sz="975" dirty="0"/>
          </a:p>
        </p:txBody>
      </p:sp>
      <p:sp>
        <p:nvSpPr>
          <p:cNvPr id="24" name="Shape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605088" y="3090863"/>
            <a:ext cx="1900238" cy="152876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605088" y="3090863"/>
            <a:ext cx="1900238" cy="38100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26" name="Text 23"/>
          <p:cNvSpPr/>
          <p:nvPr/>
        </p:nvSpPr>
        <p:spPr>
          <a:xfrm>
            <a:off x="2776538" y="3300413"/>
            <a:ext cx="1604058" cy="4286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4A98"/>
                </a:solidFill>
                <a:latin typeface="Tahoma" pitchFamily="34" charset="0"/>
              </a:rPr>
              <a:t>Liquor, tobacco and dispensaries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2776538" y="3786188"/>
            <a:ext cx="1604058" cy="35331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3226"/>
              </a:lnSpc>
              <a:buNone/>
            </a:pPr>
            <a:r>
              <a:rPr lang="en-US" sz="975" dirty="0">
                <a:solidFill>
                  <a:srgbClr val="34506E"/>
                </a:solidFill>
                <a:latin typeface="Tahoma" pitchFamily="34" charset="0"/>
              </a:rPr>
              <a:t>(counts and density measures)</a:t>
            </a:r>
            <a:endParaRPr lang="en-US" sz="975" dirty="0"/>
          </a:p>
        </p:txBody>
      </p:sp>
      <p:sp>
        <p:nvSpPr>
          <p:cNvPr id="28" name="Shape 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38675" y="3090863"/>
            <a:ext cx="1900238" cy="152876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38675" y="3090863"/>
            <a:ext cx="1900238" cy="38100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30" name="Text 27"/>
          <p:cNvSpPr/>
          <p:nvPr/>
        </p:nvSpPr>
        <p:spPr>
          <a:xfrm>
            <a:off x="4810125" y="3300413"/>
            <a:ext cx="1713072" cy="22383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4A98"/>
                </a:solidFill>
                <a:latin typeface="Tahoma" pitchFamily="34" charset="0"/>
              </a:rPr>
              <a:t>Crimes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4810125" y="3581400"/>
            <a:ext cx="1713072" cy="18618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3226"/>
              </a:lnSpc>
              <a:buNone/>
            </a:pPr>
            <a:r>
              <a:rPr lang="en-US" sz="975" dirty="0">
                <a:solidFill>
                  <a:srgbClr val="34506E"/>
                </a:solidFill>
                <a:latin typeface="Tahoma" pitchFamily="34" charset="0"/>
              </a:rPr>
              <a:t>(crime reported by the FBI)</a:t>
            </a:r>
            <a:endParaRPr lang="en-US" sz="975" dirty="0"/>
          </a:p>
        </p:txBody>
      </p:sp>
      <p:sp>
        <p:nvSpPr>
          <p:cNvPr id="32" name="Shape 2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672263" y="3090863"/>
            <a:ext cx="1900238" cy="152876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672263" y="3090863"/>
            <a:ext cx="1900238" cy="38100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34" name="Text 31"/>
          <p:cNvSpPr/>
          <p:nvPr/>
        </p:nvSpPr>
        <p:spPr>
          <a:xfrm>
            <a:off x="6843713" y="3300413"/>
            <a:ext cx="1713072" cy="22383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04A98"/>
                </a:solidFill>
                <a:latin typeface="Tahoma" pitchFamily="34" charset="0"/>
              </a:rPr>
              <a:t>Grocery stores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6843713" y="3581400"/>
            <a:ext cx="1604058" cy="35331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3226"/>
              </a:lnSpc>
              <a:buNone/>
            </a:pPr>
            <a:r>
              <a:rPr lang="en-US" sz="975" dirty="0">
                <a:solidFill>
                  <a:srgbClr val="34506E"/>
                </a:solidFill>
                <a:latin typeface="Tahoma" pitchFamily="34" charset="0"/>
              </a:rPr>
              <a:t>(counts and density measures)</a:t>
            </a:r>
            <a:endParaRPr lang="en-US" sz="975" dirty="0"/>
          </a:p>
        </p:txBody>
      </p:sp>
      <p:sp>
        <p:nvSpPr>
          <p:cNvPr id="36" name="Text 33"/>
          <p:cNvSpPr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r">
              <a:buNone/>
            </a:pPr>
            <a:fld id="{DB74219E-5CB3-41D0-8F8B-7A625AB7808E}" type="slidenum">
              <a:rPr lang="en-US" sz="900" dirty="0">
                <a:solidFill>
                  <a:srgbClr val="4F6B8A"/>
                </a:solidFill>
                <a:latin typeface="Tahoma" pitchFamily="34" charset="0"/>
              </a:rPr>
              <a:t>19</a:t>
            </a:fld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4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71500" y="476250"/>
            <a:ext cx="2717111" cy="48101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buNone/>
            </a:pPr>
            <a:r>
              <a:rPr lang="en-US" sz="3000" b="1" kern="0" spc="-75" dirty="0">
                <a:solidFill>
                  <a:srgbClr val="004A98"/>
                </a:solidFill>
                <a:latin typeface="Tahoma" pitchFamily="34" charset="0"/>
              </a:rPr>
              <a:t>Data updates</a:t>
            </a:r>
            <a:endParaRPr lang="en-US" sz="3000" dirty="0"/>
          </a:p>
        </p:txBody>
      </p:sp>
      <p:sp>
        <p:nvSpPr>
          <p:cNvPr id="3" name="Shap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1333500"/>
            <a:ext cx="2565351" cy="1543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1333500"/>
            <a:ext cx="57150" cy="1543050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5" name="Text 3"/>
          <p:cNvSpPr/>
          <p:nvPr/>
        </p:nvSpPr>
        <p:spPr>
          <a:xfrm>
            <a:off x="838200" y="1865040"/>
            <a:ext cx="2151774" cy="49902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lnSpc>
                <a:spcPct val="98824"/>
              </a:lnSpc>
              <a:buNone/>
            </a:pPr>
            <a:r>
              <a:rPr lang="en-US" sz="1575" b="1" dirty="0">
                <a:solidFill>
                  <a:srgbClr val="004A98"/>
                </a:solidFill>
                <a:latin typeface="Tahoma" pitchFamily="34" charset="0"/>
              </a:rPr>
              <a:t>Business Openings &amp; Closings</a:t>
            </a:r>
            <a:endParaRPr lang="en-US" sz="1575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89251" y="1333500"/>
            <a:ext cx="2565425" cy="1543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89251" y="1333500"/>
            <a:ext cx="57150" cy="1543050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8" name="Text 6"/>
          <p:cNvSpPr/>
          <p:nvPr/>
        </p:nvSpPr>
        <p:spPr>
          <a:xfrm>
            <a:off x="3555951" y="1865040"/>
            <a:ext cx="2151850" cy="49902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lnSpc>
                <a:spcPct val="98824"/>
              </a:lnSpc>
              <a:buNone/>
            </a:pPr>
            <a:r>
              <a:rPr lang="en-US" sz="1575" b="1" dirty="0">
                <a:solidFill>
                  <a:srgbClr val="004A98"/>
                </a:solidFill>
                <a:latin typeface="Tahoma" pitchFamily="34" charset="0"/>
              </a:rPr>
              <a:t>Quality of Public Transit</a:t>
            </a:r>
            <a:endParaRPr lang="en-US" sz="1575" dirty="0"/>
          </a:p>
        </p:txBody>
      </p:sp>
      <p:sp>
        <p:nvSpPr>
          <p:cNvPr id="9" name="Shap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07075" y="1333500"/>
            <a:ext cx="2565425" cy="1543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07075" y="1333500"/>
            <a:ext cx="57150" cy="1543050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11" name="Text 9"/>
          <p:cNvSpPr/>
          <p:nvPr/>
        </p:nvSpPr>
        <p:spPr>
          <a:xfrm>
            <a:off x="6273775" y="1676400"/>
            <a:ext cx="2151850" cy="8763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4651"/>
              </a:lnSpc>
              <a:buNone/>
            </a:pPr>
            <a:r>
              <a:rPr lang="en-US" sz="1350" b="1" dirty="0">
                <a:solidFill>
                  <a:srgbClr val="004A98"/>
                </a:solidFill>
                <a:latin typeface="Tahoma" pitchFamily="34" charset="0"/>
              </a:rPr>
              <a:t>Updated Voter Registration, Turnout, Partisanship (2024, Census Tract)</a:t>
            </a:r>
            <a:endParaRPr lang="en-US" sz="1350" dirty="0"/>
          </a:p>
        </p:txBody>
      </p:sp>
      <p:sp>
        <p:nvSpPr>
          <p:cNvPr id="12" name="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3028950"/>
            <a:ext cx="2565351" cy="1543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3028950"/>
            <a:ext cx="57150" cy="1543050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14" name="Text 12"/>
          <p:cNvSpPr/>
          <p:nvPr/>
        </p:nvSpPr>
        <p:spPr>
          <a:xfrm>
            <a:off x="838200" y="3440460"/>
            <a:ext cx="2151774" cy="73900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98824"/>
              </a:lnSpc>
              <a:buNone/>
            </a:pPr>
            <a:r>
              <a:rPr lang="en-US" sz="1575" b="1" dirty="0">
                <a:solidFill>
                  <a:srgbClr val="004A98"/>
                </a:solidFill>
                <a:latin typeface="Tahoma" pitchFamily="34" charset="0"/>
              </a:rPr>
              <a:t>National Housing Preservation Database</a:t>
            </a:r>
            <a:endParaRPr lang="en-US" sz="1575" dirty="0"/>
          </a:p>
        </p:txBody>
      </p:sp>
      <p:sp>
        <p:nvSpPr>
          <p:cNvPr id="15" name="Shap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89251" y="3028950"/>
            <a:ext cx="2565425" cy="1543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89251" y="3028950"/>
            <a:ext cx="57150" cy="1543050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17" name="Text 15"/>
          <p:cNvSpPr/>
          <p:nvPr/>
        </p:nvSpPr>
        <p:spPr>
          <a:xfrm>
            <a:off x="3555951" y="3560490"/>
            <a:ext cx="2151850" cy="49902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lnSpc>
                <a:spcPct val="98824"/>
              </a:lnSpc>
              <a:buNone/>
            </a:pPr>
            <a:r>
              <a:rPr lang="en-US" sz="1575" b="1" dirty="0">
                <a:solidFill>
                  <a:srgbClr val="004A98"/>
                </a:solidFill>
                <a:latin typeface="Tahoma" pitchFamily="34" charset="0"/>
              </a:rPr>
              <a:t>LGBTQ+ Health &amp; Policy</a:t>
            </a:r>
            <a:endParaRPr lang="en-US" sz="1575" dirty="0"/>
          </a:p>
        </p:txBody>
      </p:sp>
      <p:sp>
        <p:nvSpPr>
          <p:cNvPr id="18" name="Shap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07075" y="3028950"/>
            <a:ext cx="2565425" cy="1543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07075" y="3028950"/>
            <a:ext cx="57150" cy="1543050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20" name="Text 18"/>
          <p:cNvSpPr/>
          <p:nvPr/>
        </p:nvSpPr>
        <p:spPr>
          <a:xfrm>
            <a:off x="6273775" y="3680445"/>
            <a:ext cx="2298093" cy="25903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lnSpc>
                <a:spcPct val="98824"/>
              </a:lnSpc>
              <a:buNone/>
            </a:pPr>
            <a:r>
              <a:rPr lang="en-US" sz="1575" b="1" dirty="0">
                <a:solidFill>
                  <a:srgbClr val="004A98"/>
                </a:solidFill>
                <a:latin typeface="Tahoma" pitchFamily="34" charset="0"/>
              </a:rPr>
              <a:t>Policing</a:t>
            </a:r>
            <a:endParaRPr lang="en-US" sz="1575" dirty="0"/>
          </a:p>
        </p:txBody>
      </p:sp>
      <p:sp>
        <p:nvSpPr>
          <p:cNvPr id="21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1016B7C2-DBA2-4067-AB94-6634CDD7E67B}" type="slidenum">
              <a:rPr lang="en-US" sz="900" dirty="0">
                <a:solidFill>
                  <a:srgbClr val="4F6B8A"/>
                </a:solidFill>
                <a:latin typeface="Tahoma"/>
                <a:cs typeface="Tahoma"/>
              </a:rPr>
              <a:t>20</a:t>
            </a:fld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190750" cy="5143500"/>
          </a:xfrm>
          <a:prstGeom prst="rect">
            <a:avLst/>
          </a:prstGeom>
          <a:solidFill>
            <a:srgbClr val="004A98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333375" y="571500"/>
            <a:ext cx="1667828" cy="109894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87231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Tahoma" pitchFamily="34" charset="0"/>
              </a:rPr>
              <a:t>Hierarchy of select geographic entities</a:t>
            </a:r>
            <a:endParaRPr lang="en-US" sz="2025" dirty="0"/>
          </a:p>
        </p:txBody>
      </p:sp>
      <p:pic>
        <p:nvPicPr>
          <p:cNvPr id="4" name="Census Bureau diagram of the hierarchy of geographic entitie" descr="Census Bureau diagram of the hierarchy of geographic entities. The main spine runs from nation to regions, divisions, states, counties, census tracts, and block groups. Other entities branch off it: ZIP Code Tabulation Areas (ZCTAs); American Indian, Alaska Native, and Hawaiian Home Lands; urban areas; metropolitan and micropolitan areas; places; school districts; congressional districts; Public Use Microdata Areas; Alaska Native regional areas; state legislative districts; and county subdivisions."/>
          <p:cNvPicPr>
            <a:picLocks noChangeAspect="1"/>
          </p:cNvPicPr>
          <p:nvPr/>
        </p:nvPicPr>
        <p:blipFill>
          <a:blip r:embed="rId3"/>
          <a:srcRect l="-16" r="-16"/>
          <a:stretch/>
        </p:blipFill>
        <p:spPr>
          <a:xfrm>
            <a:off x="2381250" y="261938"/>
            <a:ext cx="6572250" cy="461962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33375" y="4719638"/>
            <a:ext cx="596652" cy="15716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DDEBF7"/>
                </a:solidFill>
                <a:latin typeface="Tahoma" pitchFamily="34" charset="0"/>
              </a:rPr>
              <a:t>census.gov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r">
              <a:buNone/>
            </a:pPr>
            <a:fld id="{772DF588-FD9C-4BFD-9B06-559B0299300A}" type="slidenum">
              <a:rPr lang="en-US" sz="900" dirty="0">
                <a:solidFill>
                  <a:srgbClr val="4F6B8A"/>
                </a:solidFill>
                <a:latin typeface="Tahoma" pitchFamily="34" charset="0"/>
              </a:rPr>
              <a:t>21</a:t>
            </a:fld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2190750" cy="5143500"/>
          </a:xfrm>
          <a:prstGeom prst="rect">
            <a:avLst/>
          </a:prstGeom>
          <a:solidFill>
            <a:srgbClr val="004A98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333375" y="571500"/>
            <a:ext cx="1667828" cy="55899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87231"/>
              </a:lnSpc>
              <a:buNone/>
            </a:pPr>
            <a:r>
              <a:rPr lang="en-US" sz="2025" b="1" dirty="0">
                <a:solidFill>
                  <a:srgbClr val="FFFFFF"/>
                </a:solidFill>
                <a:latin typeface="Tahoma" pitchFamily="34" charset="0"/>
              </a:rPr>
              <a:t>NaNDA geographies</a:t>
            </a:r>
            <a:endParaRPr lang="en-US" sz="2025" dirty="0"/>
          </a:p>
        </p:txBody>
      </p:sp>
      <p:pic>
        <p:nvPicPr>
          <p:cNvPr id="4" name="The same Census Bureau hierarchy diagram with the four geogr" descr="The same Census Bureau hierarchy diagram with the four geographies NaNDA publishes circled in pink: ZIP Code Tabulation Areas, school districts, counties, and census tracts."/>
          <p:cNvPicPr>
            <a:picLocks noChangeAspect="1"/>
          </p:cNvPicPr>
          <p:nvPr/>
        </p:nvPicPr>
        <p:blipFill>
          <a:blip r:embed="rId3"/>
          <a:srcRect l="-16" r="-16"/>
          <a:stretch/>
        </p:blipFill>
        <p:spPr>
          <a:xfrm>
            <a:off x="2381250" y="261938"/>
            <a:ext cx="6572250" cy="4619625"/>
          </a:xfrm>
          <a:prstGeom prst="rect">
            <a:avLst/>
          </a:prstGeom>
        </p:spPr>
      </p:pic>
      <p:pic>
        <p:nvPicPr>
          <p:cNvPr id="5" name="Decorative imag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8209" y="2645643"/>
            <a:ext cx="1018654" cy="577453"/>
          </a:xfrm>
          <a:prstGeom prst="rect">
            <a:avLst/>
          </a:prstGeom>
        </p:spPr>
      </p:pic>
      <p:pic>
        <p:nvPicPr>
          <p:cNvPr id="6" name="Decorative imag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6405" y="2774975"/>
            <a:ext cx="1071265" cy="609749"/>
          </a:xfrm>
          <a:prstGeom prst="rect">
            <a:avLst/>
          </a:prstGeom>
        </p:spPr>
      </p:pic>
      <p:pic>
        <p:nvPicPr>
          <p:cNvPr id="7" name="Decorative imag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2098" y="3467919"/>
            <a:ext cx="1511573" cy="609749"/>
          </a:xfrm>
          <a:prstGeom prst="rect">
            <a:avLst/>
          </a:prstGeom>
        </p:spPr>
      </p:pic>
      <p:pic>
        <p:nvPicPr>
          <p:cNvPr id="8" name="Decorative imag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5557" y="1278211"/>
            <a:ext cx="1813917" cy="937766"/>
          </a:xfrm>
          <a:prstGeom prst="rect">
            <a:avLst/>
          </a:prstGeom>
        </p:spPr>
      </p:pic>
      <p:pic>
        <p:nvPicPr>
          <p:cNvPr id="9" name="NaNDA" descr="NaNDA, National Neighborhood Data Archive, log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375" y="3545979"/>
            <a:ext cx="1238250" cy="978396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333375" y="4719638"/>
            <a:ext cx="596652" cy="15716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DDEBF7"/>
                </a:solidFill>
                <a:latin typeface="Tahoma" pitchFamily="34" charset="0"/>
              </a:rPr>
              <a:t>census.gov</a:t>
            </a:r>
            <a:endParaRPr lang="en-US" sz="900" dirty="0"/>
          </a:p>
        </p:txBody>
      </p:sp>
      <p:sp>
        <p:nvSpPr>
          <p:cNvPr id="11" name="Text 3"/>
          <p:cNvSpPr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r">
              <a:buNone/>
            </a:pPr>
            <a:fld id="{D2DAEB10-2F46-47E8-B094-DF78A60D72E2}" type="slidenum">
              <a:rPr lang="en-US" sz="900" dirty="0">
                <a:solidFill>
                  <a:srgbClr val="4F6B8A"/>
                </a:solidFill>
                <a:latin typeface="Tahoma" pitchFamily="34" charset="0"/>
              </a:rPr>
              <a:t>22</a:t>
            </a:fld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71500" y="476250"/>
            <a:ext cx="5480224" cy="48101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buNone/>
            </a:pPr>
            <a:r>
              <a:rPr lang="en-US" sz="3000" b="1" kern="0" spc="-75" dirty="0">
                <a:solidFill>
                  <a:srgbClr val="004A98"/>
                </a:solidFill>
                <a:latin typeface="Tahoma" pitchFamily="34" charset="0"/>
              </a:rPr>
              <a:t>Which geography do I use?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42950" y="1285875"/>
            <a:ext cx="2988945" cy="1666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75" b="1" kern="0" spc="75" dirty="0">
                <a:solidFill>
                  <a:srgbClr val="4F6B8A"/>
                </a:solidFill>
                <a:latin typeface="Tahoma" pitchFamily="34" charset="0"/>
              </a:rPr>
              <a:t>IF YOUR DATA HAVE…</a:t>
            </a:r>
            <a:endParaRPr lang="en-US" sz="975" dirty="0"/>
          </a:p>
        </p:txBody>
      </p:sp>
      <p:sp>
        <p:nvSpPr>
          <p:cNvPr id="4" name="Text 2"/>
          <p:cNvSpPr/>
          <p:nvPr/>
        </p:nvSpPr>
        <p:spPr>
          <a:xfrm>
            <a:off x="4200525" y="1285875"/>
            <a:ext cx="4654868" cy="1666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75" b="1" kern="0" spc="75" dirty="0">
                <a:solidFill>
                  <a:srgbClr val="004A98"/>
                </a:solidFill>
                <a:latin typeface="Tahoma" pitchFamily="34" charset="0"/>
              </a:rPr>
              <a:t>JOIN TO NANDA USING…</a:t>
            </a:r>
            <a:endParaRPr lang="en-US" sz="975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1547813"/>
            <a:ext cx="3028950" cy="983903"/>
          </a:xfrm>
          <a:prstGeom prst="rect">
            <a:avLst/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42950" y="1719263"/>
            <a:ext cx="2776919" cy="66005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Tahoma" pitchFamily="34" charset="0"/>
              </a:rPr>
              <a:t>A census tract, FIPS code, or GEOID (11 digits)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581400" y="1547813"/>
            <a:ext cx="466725" cy="100295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D9ADD"/>
                </a:solidFill>
                <a:latin typeface="Tahoma" pitchFamily="34" charset="0"/>
              </a:rPr>
              <a:t>→</a:t>
            </a:r>
            <a:endParaRPr lang="en-US" sz="24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029075" y="1547813"/>
            <a:ext cx="4543425" cy="983903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200525" y="1719263"/>
            <a:ext cx="4326541" cy="66005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4872"/>
              </a:lnSpc>
              <a:buNone/>
            </a:pPr>
            <a:r>
              <a:rPr lang="en-US" sz="1200" dirty="0">
                <a:solidFill>
                  <a:srgbClr val="103333"/>
                </a:solidFill>
                <a:latin typeface="Tahoma" pitchFamily="34" charset="0"/>
              </a:rPr>
              <a:t>The FIPS code directly. Check whether it uses 2010 or 2020 geographic boundaries: </a:t>
            </a:r>
            <a:r>
              <a:rPr lang="en-US" sz="1125" b="1" dirty="0">
                <a:solidFill>
                  <a:srgbClr val="004A98"/>
                </a:solidFill>
                <a:latin typeface="Courier New" pitchFamily="34" charset="0"/>
              </a:rPr>
              <a:t>tract_fips10 </a:t>
            </a:r>
            <a:r>
              <a:rPr lang="en-US" sz="1200" dirty="0">
                <a:solidFill>
                  <a:srgbClr val="103333"/>
                </a:solidFill>
                <a:latin typeface="Tahoma" pitchFamily="34" charset="0"/>
              </a:rPr>
              <a:t>and </a:t>
            </a:r>
            <a:r>
              <a:rPr lang="en-US" sz="1125" b="1" dirty="0">
                <a:solidFill>
                  <a:srgbClr val="004A98"/>
                </a:solidFill>
                <a:latin typeface="Courier New" pitchFamily="34" charset="0"/>
              </a:rPr>
              <a:t>tract_fips20 </a:t>
            </a:r>
            <a:r>
              <a:rPr lang="en-US" sz="1200" dirty="0">
                <a:solidFill>
                  <a:srgbClr val="103333"/>
                </a:solidFill>
                <a:latin typeface="Tahoma" pitchFamily="34" charset="0"/>
              </a:rPr>
              <a:t>are not interchangeable</a:t>
            </a:r>
            <a:endParaRPr lang="en-US" sz="12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2646015"/>
            <a:ext cx="3028950" cy="565770"/>
          </a:xfrm>
          <a:prstGeom prst="rect">
            <a:avLst/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42950" y="2817465"/>
            <a:ext cx="2776919" cy="241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Tahoma" pitchFamily="34" charset="0"/>
              </a:rPr>
              <a:t>A ZIP code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581400" y="2646015"/>
            <a:ext cx="466725" cy="5848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D9ADD"/>
                </a:solidFill>
                <a:latin typeface="Tahoma" pitchFamily="34" charset="0"/>
              </a:rPr>
              <a:t>→</a:t>
            </a:r>
            <a:endParaRPr lang="en-US" sz="2400" dirty="0"/>
          </a:p>
        </p:txBody>
      </p:sp>
      <p:sp>
        <p:nvSpPr>
          <p:cNvPr id="13" name="Shape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029075" y="2646015"/>
            <a:ext cx="4543425" cy="565770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200525" y="2817465"/>
            <a:ext cx="4336828" cy="241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lnSpc>
                <a:spcPct val="114872"/>
              </a:lnSpc>
              <a:buNone/>
            </a:pPr>
            <a:r>
              <a:rPr lang="en-US" sz="1200" dirty="0">
                <a:solidFill>
                  <a:srgbClr val="103333"/>
                </a:solidFill>
                <a:latin typeface="Tahoma" pitchFamily="34" charset="0"/>
              </a:rPr>
              <a:t>A ZIP-code-to-ZCTA crosswalk. Some ZIP codes have no ZCTA</a:t>
            </a:r>
            <a:endParaRPr lang="en-US" sz="1200" dirty="0"/>
          </a:p>
        </p:txBody>
      </p:sp>
      <p:sp>
        <p:nvSpPr>
          <p:cNvPr id="15" name="Shap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3326086"/>
            <a:ext cx="3028950" cy="788640"/>
          </a:xfrm>
          <a:prstGeom prst="rect">
            <a:avLst/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742950" y="3497536"/>
            <a:ext cx="2776919" cy="46479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Tahoma" pitchFamily="34" charset="0"/>
              </a:rPr>
              <a:t>Full street addresses (not PO boxes)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581400" y="3326086"/>
            <a:ext cx="466725" cy="80769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D9ADD"/>
                </a:solidFill>
                <a:latin typeface="Tahoma" pitchFamily="34" charset="0"/>
              </a:rPr>
              <a:t>→</a:t>
            </a:r>
            <a:endParaRPr lang="en-US" sz="2400" dirty="0"/>
          </a:p>
        </p:txBody>
      </p:sp>
      <p:sp>
        <p:nvSpPr>
          <p:cNvPr id="18" name="Shap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029075" y="3326086"/>
            <a:ext cx="4543425" cy="788640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200525" y="3497536"/>
            <a:ext cx="4336828" cy="46479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lnSpc>
                <a:spcPct val="114872"/>
              </a:lnSpc>
              <a:buNone/>
            </a:pPr>
            <a:r>
              <a:rPr lang="en-US" sz="1200" dirty="0">
                <a:solidFill>
                  <a:srgbClr val="103333"/>
                </a:solidFill>
                <a:latin typeface="Tahoma" pitchFamily="34" charset="0"/>
              </a:rPr>
              <a:t>Geocode first, in ArcGIS or an online geocoder, then join on the resulting FIPS code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r">
              <a:buNone/>
            </a:pPr>
            <a:fld id="{B305E88E-645A-4E5A-97EB-4C7F31F66739}" type="slidenum">
              <a:rPr lang="en-US" sz="900" dirty="0">
                <a:solidFill>
                  <a:srgbClr val="4F6B8A"/>
                </a:solidFill>
                <a:latin typeface="Tahoma" pitchFamily="34" charset="0"/>
              </a:rPr>
              <a:t>23</a:t>
            </a:fld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71500" y="428625"/>
            <a:ext cx="4131737" cy="48101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buNone/>
            </a:pPr>
            <a:r>
              <a:rPr lang="en-US" sz="3000" b="1" kern="0" spc="-75" dirty="0">
                <a:solidFill>
                  <a:srgbClr val="004A98"/>
                </a:solidFill>
                <a:latin typeface="Tahoma" pitchFamily="34" charset="0"/>
              </a:rPr>
              <a:t>“Pre-linked” NaNDA</a:t>
            </a:r>
            <a:endParaRPr lang="en-US" sz="3000" dirty="0"/>
          </a:p>
        </p:txBody>
      </p:sp>
      <p:sp>
        <p:nvSpPr>
          <p:cNvPr id="3" name="Shap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4336629"/>
            <a:ext cx="8001000" cy="19050"/>
          </a:xfrm>
          <a:prstGeom prst="rect">
            <a:avLst/>
          </a:prstGeom>
          <a:solidFill>
            <a:srgbClr val="004A98"/>
          </a:solidFill>
          <a:ln/>
        </p:spPr>
      </p:sp>
      <p:sp>
        <p:nvSpPr>
          <p:cNvPr id="4" name="Shap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1095375"/>
            <a:ext cx="2213000" cy="339031"/>
          </a:xfrm>
          <a:prstGeom prst="rect">
            <a:avLst/>
          </a:prstGeom>
          <a:solidFill>
            <a:srgbClr val="004A98"/>
          </a:solidFill>
          <a:ln/>
        </p:spPr>
      </p:sp>
      <p:sp>
        <p:nvSpPr>
          <p:cNvPr id="5" name="Text 3"/>
          <p:cNvSpPr/>
          <p:nvPr/>
        </p:nvSpPr>
        <p:spPr>
          <a:xfrm>
            <a:off x="695325" y="1190625"/>
            <a:ext cx="2031740" cy="16758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7586"/>
              </a:lnSpc>
              <a:buNone/>
            </a:pPr>
            <a:r>
              <a:rPr lang="en-US" sz="900" b="1" kern="0" spc="75" dirty="0">
                <a:solidFill>
                  <a:srgbClr val="FFFFFF"/>
                </a:solidFill>
                <a:latin typeface="Tahoma" pitchFamily="34" charset="0"/>
              </a:rPr>
              <a:t>DATA SOURCE</a:t>
            </a:r>
            <a:endParaRPr lang="en-US" sz="900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84500" y="1095375"/>
            <a:ext cx="1872556" cy="339031"/>
          </a:xfrm>
          <a:prstGeom prst="rect">
            <a:avLst/>
          </a:prstGeom>
          <a:solidFill>
            <a:srgbClr val="004A98"/>
          </a:solidFill>
          <a:ln/>
        </p:spPr>
      </p:sp>
      <p:sp>
        <p:nvSpPr>
          <p:cNvPr id="7" name="Text 5"/>
          <p:cNvSpPr/>
          <p:nvPr/>
        </p:nvSpPr>
        <p:spPr>
          <a:xfrm>
            <a:off x="2908325" y="1190625"/>
            <a:ext cx="1681082" cy="16758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7586"/>
              </a:lnSpc>
              <a:buNone/>
            </a:pPr>
            <a:r>
              <a:rPr lang="en-US" sz="900" b="1" kern="0" spc="75" dirty="0">
                <a:solidFill>
                  <a:srgbClr val="FFFFFF"/>
                </a:solidFill>
                <a:latin typeface="Tahoma" pitchFamily="34" charset="0"/>
              </a:rPr>
              <a:t>POPULATION</a:t>
            </a:r>
            <a:endParaRPr lang="en-US" sz="9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57056" y="1095375"/>
            <a:ext cx="1276797" cy="339031"/>
          </a:xfrm>
          <a:prstGeom prst="rect">
            <a:avLst/>
          </a:prstGeom>
          <a:solidFill>
            <a:srgbClr val="004A98"/>
          </a:solidFill>
          <a:ln/>
        </p:spPr>
      </p:sp>
      <p:sp>
        <p:nvSpPr>
          <p:cNvPr id="9" name="Text 7"/>
          <p:cNvSpPr/>
          <p:nvPr/>
        </p:nvSpPr>
        <p:spPr>
          <a:xfrm>
            <a:off x="4780881" y="1190625"/>
            <a:ext cx="1067451" cy="16758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7586"/>
              </a:lnSpc>
              <a:buNone/>
            </a:pPr>
            <a:r>
              <a:rPr lang="en-US" sz="900" b="1" kern="0" spc="75" dirty="0">
                <a:solidFill>
                  <a:srgbClr val="FFFFFF"/>
                </a:solidFill>
                <a:latin typeface="Tahoma" pitchFamily="34" charset="0"/>
              </a:rPr>
              <a:t>GEOGRAPHY</a:t>
            </a:r>
            <a:endParaRPr lang="en-US" sz="9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33852" y="1095375"/>
            <a:ext cx="2638648" cy="339031"/>
          </a:xfrm>
          <a:prstGeom prst="rect">
            <a:avLst/>
          </a:prstGeom>
          <a:solidFill>
            <a:srgbClr val="004A98"/>
          </a:solidFill>
          <a:ln/>
        </p:spPr>
      </p:sp>
      <p:sp>
        <p:nvSpPr>
          <p:cNvPr id="11" name="Text 9"/>
          <p:cNvSpPr/>
          <p:nvPr/>
        </p:nvSpPr>
        <p:spPr>
          <a:xfrm>
            <a:off x="6057677" y="1190625"/>
            <a:ext cx="2470158" cy="16758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7586"/>
              </a:lnSpc>
              <a:buNone/>
            </a:pPr>
            <a:r>
              <a:rPr lang="en-US" sz="900" b="1" kern="0" spc="75" dirty="0">
                <a:solidFill>
                  <a:srgbClr val="FFFFFF"/>
                </a:solidFill>
                <a:latin typeface="Tahoma" pitchFamily="34" charset="0"/>
              </a:rPr>
              <a:t>PROTOCOL FOR ACCESS</a:t>
            </a:r>
            <a:endParaRPr lang="en-US" sz="900" dirty="0"/>
          </a:p>
        </p:txBody>
      </p:sp>
      <p:sp>
        <p:nvSpPr>
          <p:cNvPr id="12" name="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1434406"/>
            <a:ext cx="2213000" cy="552450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13" name="Text 11"/>
          <p:cNvSpPr/>
          <p:nvPr/>
        </p:nvSpPr>
        <p:spPr>
          <a:xfrm>
            <a:off x="695325" y="1539181"/>
            <a:ext cx="203174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25" b="1" dirty="0">
                <a:solidFill>
                  <a:srgbClr val="004A98"/>
                </a:solidFill>
                <a:latin typeface="Tahoma" pitchFamily="34" charset="0"/>
              </a:rPr>
              <a:t>Health and Retirement Study</a:t>
            </a:r>
            <a:endParaRPr lang="en-US" sz="1125" dirty="0"/>
          </a:p>
        </p:txBody>
      </p:sp>
      <p:sp>
        <p:nvSpPr>
          <p:cNvPr id="14" name="Shap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84500" y="1434406"/>
            <a:ext cx="1872556" cy="552450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15" name="Text 13"/>
          <p:cNvSpPr/>
          <p:nvPr/>
        </p:nvSpPr>
        <p:spPr>
          <a:xfrm>
            <a:off x="2908325" y="1539181"/>
            <a:ext cx="1681082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lnSpc>
                <a:spcPct val="109032"/>
              </a:lnSpc>
              <a:buNone/>
            </a:pPr>
            <a:r>
              <a:rPr lang="en-US" sz="975" dirty="0">
                <a:solidFill>
                  <a:srgbClr val="103333"/>
                </a:solidFill>
                <a:latin typeface="Tahoma" pitchFamily="34" charset="0"/>
              </a:rPr>
              <a:t>US adults age 51+</a:t>
            </a:r>
            <a:endParaRPr lang="en-US" sz="975" dirty="0"/>
          </a:p>
        </p:txBody>
      </p:sp>
      <p:sp>
        <p:nvSpPr>
          <p:cNvPr id="16" name="Shap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57056" y="1434406"/>
            <a:ext cx="1276797" cy="552450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17" name="Text 15"/>
          <p:cNvSpPr/>
          <p:nvPr/>
        </p:nvSpPr>
        <p:spPr>
          <a:xfrm>
            <a:off x="4780881" y="1539181"/>
            <a:ext cx="1067451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lnSpc>
                <a:spcPct val="109032"/>
              </a:lnSpc>
              <a:buNone/>
            </a:pPr>
            <a:r>
              <a:rPr lang="en-US" sz="975" b="1" dirty="0">
                <a:solidFill>
                  <a:srgbClr val="004A98"/>
                </a:solidFill>
                <a:latin typeface="Tahoma" pitchFamily="34" charset="0"/>
              </a:rPr>
              <a:t>Census tract</a:t>
            </a:r>
            <a:endParaRPr lang="en-US" sz="975" dirty="0"/>
          </a:p>
        </p:txBody>
      </p:sp>
      <p:sp>
        <p:nvSpPr>
          <p:cNvPr id="18" name="Shap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33852" y="1434406"/>
            <a:ext cx="2638648" cy="552450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19" name="Text 17"/>
          <p:cNvSpPr/>
          <p:nvPr/>
        </p:nvSpPr>
        <p:spPr>
          <a:xfrm>
            <a:off x="6057677" y="1539181"/>
            <a:ext cx="2470158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lnSpc>
                <a:spcPct val="109032"/>
              </a:lnSpc>
              <a:buNone/>
            </a:pPr>
            <a:r>
              <a:rPr lang="en-US" sz="975" dirty="0">
                <a:solidFill>
                  <a:srgbClr val="103333"/>
                </a:solidFill>
                <a:latin typeface="Tahoma" pitchFamily="34" charset="0"/>
              </a:rPr>
              <a:t>Accessed through virtual enclave with restricted data application</a:t>
            </a:r>
            <a:endParaRPr lang="en-US" sz="975" dirty="0"/>
          </a:p>
        </p:txBody>
      </p:sp>
      <p:sp>
        <p:nvSpPr>
          <p:cNvPr id="20" name="Text 18"/>
          <p:cNvSpPr/>
          <p:nvPr/>
        </p:nvSpPr>
        <p:spPr>
          <a:xfrm>
            <a:off x="695325" y="2091631"/>
            <a:ext cx="203174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25" b="1" dirty="0">
                <a:solidFill>
                  <a:srgbClr val="004A98"/>
                </a:solidFill>
                <a:latin typeface="Tahoma" pitchFamily="34" charset="0"/>
              </a:rPr>
              <a:t>National Health and Aging Trends Study</a:t>
            </a:r>
            <a:endParaRPr lang="en-US" sz="1125" dirty="0"/>
          </a:p>
        </p:txBody>
      </p:sp>
      <p:sp>
        <p:nvSpPr>
          <p:cNvPr id="21" name="Text 19"/>
          <p:cNvSpPr/>
          <p:nvPr/>
        </p:nvSpPr>
        <p:spPr>
          <a:xfrm>
            <a:off x="2908325" y="2091631"/>
            <a:ext cx="1681082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lnSpc>
                <a:spcPct val="109032"/>
              </a:lnSpc>
              <a:buNone/>
            </a:pPr>
            <a:r>
              <a:rPr lang="en-US" sz="975" dirty="0">
                <a:solidFill>
                  <a:srgbClr val="103333"/>
                </a:solidFill>
                <a:latin typeface="Tahoma" pitchFamily="34" charset="0"/>
              </a:rPr>
              <a:t>US adults age 65+ </a:t>
            </a:r>
            <a:endParaRPr lang="en-US" sz="975" dirty="0"/>
          </a:p>
        </p:txBody>
      </p:sp>
      <p:sp>
        <p:nvSpPr>
          <p:cNvPr id="22" name="Text 20"/>
          <p:cNvSpPr/>
          <p:nvPr/>
        </p:nvSpPr>
        <p:spPr>
          <a:xfrm>
            <a:off x="4780881" y="2091631"/>
            <a:ext cx="1067451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lnSpc>
                <a:spcPct val="109032"/>
              </a:lnSpc>
              <a:buNone/>
            </a:pPr>
            <a:r>
              <a:rPr lang="en-US" sz="975" b="1" dirty="0">
                <a:solidFill>
                  <a:srgbClr val="004A98"/>
                </a:solidFill>
                <a:latin typeface="Tahoma" pitchFamily="34" charset="0"/>
              </a:rPr>
              <a:t>Census tract</a:t>
            </a:r>
            <a:endParaRPr lang="en-US" sz="975" dirty="0"/>
          </a:p>
        </p:txBody>
      </p:sp>
      <p:sp>
        <p:nvSpPr>
          <p:cNvPr id="23" name="Text 21"/>
          <p:cNvSpPr/>
          <p:nvPr/>
        </p:nvSpPr>
        <p:spPr>
          <a:xfrm>
            <a:off x="6057677" y="2091631"/>
            <a:ext cx="2470158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lnSpc>
                <a:spcPct val="109032"/>
              </a:lnSpc>
              <a:buNone/>
            </a:pPr>
            <a:r>
              <a:rPr lang="en-US" sz="975" dirty="0">
                <a:solidFill>
                  <a:srgbClr val="103333"/>
                </a:solidFill>
                <a:latin typeface="Tahoma" pitchFamily="34" charset="0"/>
              </a:rPr>
              <a:t>Accessed through virtual enclave with restricted data application</a:t>
            </a:r>
            <a:endParaRPr lang="en-US" sz="975" dirty="0"/>
          </a:p>
        </p:txBody>
      </p:sp>
      <p:sp>
        <p:nvSpPr>
          <p:cNvPr id="24" name="Shap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2539306"/>
            <a:ext cx="2213000" cy="552450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25" name="Text 23"/>
          <p:cNvSpPr/>
          <p:nvPr/>
        </p:nvSpPr>
        <p:spPr>
          <a:xfrm>
            <a:off x="695325" y="2644081"/>
            <a:ext cx="203174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25" b="1" dirty="0">
                <a:solidFill>
                  <a:srgbClr val="004A98"/>
                </a:solidFill>
                <a:latin typeface="Tahoma" pitchFamily="34" charset="0"/>
              </a:rPr>
              <a:t>Panel Study of Income Dynamics</a:t>
            </a:r>
            <a:endParaRPr lang="en-US" sz="1125" dirty="0"/>
          </a:p>
        </p:txBody>
      </p:sp>
      <p:sp>
        <p:nvSpPr>
          <p:cNvPr id="26" name="Shape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84500" y="2539306"/>
            <a:ext cx="1872556" cy="552450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27" name="Text 25"/>
          <p:cNvSpPr/>
          <p:nvPr/>
        </p:nvSpPr>
        <p:spPr>
          <a:xfrm>
            <a:off x="2908325" y="2644081"/>
            <a:ext cx="1681082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lnSpc>
                <a:spcPct val="109032"/>
              </a:lnSpc>
              <a:buNone/>
            </a:pPr>
            <a:r>
              <a:rPr lang="en-US" sz="975" dirty="0">
                <a:solidFill>
                  <a:srgbClr val="103333"/>
                </a:solidFill>
                <a:latin typeface="Tahoma" pitchFamily="34" charset="0"/>
              </a:rPr>
              <a:t>1968 US sample</a:t>
            </a:r>
            <a:endParaRPr lang="en-US" sz="975" dirty="0"/>
          </a:p>
        </p:txBody>
      </p:sp>
      <p:sp>
        <p:nvSpPr>
          <p:cNvPr id="28" name="Shape 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57056" y="2539306"/>
            <a:ext cx="1276797" cy="552450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29" name="Text 27"/>
          <p:cNvSpPr/>
          <p:nvPr/>
        </p:nvSpPr>
        <p:spPr>
          <a:xfrm>
            <a:off x="4780881" y="2644081"/>
            <a:ext cx="1067451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lnSpc>
                <a:spcPct val="109032"/>
              </a:lnSpc>
              <a:buNone/>
            </a:pPr>
            <a:r>
              <a:rPr lang="en-US" sz="975" b="1" dirty="0">
                <a:solidFill>
                  <a:srgbClr val="004A98"/>
                </a:solidFill>
                <a:latin typeface="Tahoma" pitchFamily="34" charset="0"/>
              </a:rPr>
              <a:t>Block group</a:t>
            </a:r>
            <a:endParaRPr lang="en-US" sz="975" dirty="0"/>
          </a:p>
        </p:txBody>
      </p:sp>
      <p:sp>
        <p:nvSpPr>
          <p:cNvPr id="30" name="Shape 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33852" y="2539306"/>
            <a:ext cx="2638648" cy="552450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31" name="Text 29"/>
          <p:cNvSpPr/>
          <p:nvPr/>
        </p:nvSpPr>
        <p:spPr>
          <a:xfrm>
            <a:off x="6057677" y="2644081"/>
            <a:ext cx="2470158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lnSpc>
                <a:spcPct val="109032"/>
              </a:lnSpc>
              <a:buNone/>
            </a:pPr>
            <a:r>
              <a:rPr lang="en-US" sz="975" dirty="0">
                <a:solidFill>
                  <a:srgbClr val="103333"/>
                </a:solidFill>
                <a:latin typeface="Tahoma" pitchFamily="34" charset="0"/>
              </a:rPr>
              <a:t>Accessed through virtual enclave with restricted data application</a:t>
            </a:r>
            <a:endParaRPr lang="en-US" sz="975" dirty="0"/>
          </a:p>
        </p:txBody>
      </p:sp>
      <p:sp>
        <p:nvSpPr>
          <p:cNvPr id="32" name="Text 30"/>
          <p:cNvSpPr/>
          <p:nvPr/>
        </p:nvSpPr>
        <p:spPr>
          <a:xfrm>
            <a:off x="695325" y="3196531"/>
            <a:ext cx="203174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25" b="1" dirty="0">
                <a:solidFill>
                  <a:srgbClr val="004A98"/>
                </a:solidFill>
                <a:latin typeface="Tahoma" pitchFamily="34" charset="0"/>
              </a:rPr>
              <a:t>Michigan Medicine Electronic Health Records</a:t>
            </a:r>
            <a:endParaRPr lang="en-US" sz="1125" dirty="0"/>
          </a:p>
        </p:txBody>
      </p:sp>
      <p:sp>
        <p:nvSpPr>
          <p:cNvPr id="33" name="Text 31"/>
          <p:cNvSpPr/>
          <p:nvPr/>
        </p:nvSpPr>
        <p:spPr>
          <a:xfrm>
            <a:off x="2908325" y="3196531"/>
            <a:ext cx="1681082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lnSpc>
                <a:spcPct val="109032"/>
              </a:lnSpc>
              <a:buNone/>
            </a:pPr>
            <a:r>
              <a:rPr lang="en-US" sz="975" dirty="0">
                <a:solidFill>
                  <a:srgbClr val="103333"/>
                </a:solidFill>
                <a:latin typeface="Tahoma" pitchFamily="34" charset="0"/>
              </a:rPr>
              <a:t>Michigan Medicine patients</a:t>
            </a:r>
            <a:endParaRPr lang="en-US" sz="975" dirty="0"/>
          </a:p>
        </p:txBody>
      </p:sp>
      <p:sp>
        <p:nvSpPr>
          <p:cNvPr id="34" name="Text 32"/>
          <p:cNvSpPr/>
          <p:nvPr/>
        </p:nvSpPr>
        <p:spPr>
          <a:xfrm>
            <a:off x="4780881" y="3196531"/>
            <a:ext cx="1067451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lnSpc>
                <a:spcPct val="109032"/>
              </a:lnSpc>
              <a:buNone/>
            </a:pPr>
            <a:r>
              <a:rPr lang="en-US" sz="975" b="1" dirty="0">
                <a:solidFill>
                  <a:srgbClr val="004A98"/>
                </a:solidFill>
                <a:latin typeface="Tahoma" pitchFamily="34" charset="0"/>
              </a:rPr>
              <a:t>Residential address</a:t>
            </a:r>
            <a:endParaRPr lang="en-US" sz="975" dirty="0"/>
          </a:p>
        </p:txBody>
      </p:sp>
      <p:sp>
        <p:nvSpPr>
          <p:cNvPr id="35" name="Text 33"/>
          <p:cNvSpPr/>
          <p:nvPr/>
        </p:nvSpPr>
        <p:spPr>
          <a:xfrm>
            <a:off x="6057677" y="3196531"/>
            <a:ext cx="2470158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lnSpc>
                <a:spcPct val="109032"/>
              </a:lnSpc>
              <a:buNone/>
            </a:pPr>
            <a:r>
              <a:rPr lang="en-US" sz="975" dirty="0">
                <a:solidFill>
                  <a:srgbClr val="103333"/>
                </a:solidFill>
                <a:latin typeface="Tahoma" pitchFamily="34" charset="0"/>
              </a:rPr>
              <a:t>IRB approval and U-M affiliation, accessed through DataDirect</a:t>
            </a:r>
            <a:endParaRPr lang="en-US" sz="975" dirty="0"/>
          </a:p>
        </p:txBody>
      </p:sp>
      <p:sp>
        <p:nvSpPr>
          <p:cNvPr id="36" name="Shape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3644206"/>
            <a:ext cx="2213000" cy="692423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37" name="Text 35"/>
          <p:cNvSpPr/>
          <p:nvPr/>
        </p:nvSpPr>
        <p:spPr>
          <a:xfrm>
            <a:off x="695325" y="3748981"/>
            <a:ext cx="2031740" cy="5019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25" b="1" dirty="0">
                <a:solidFill>
                  <a:srgbClr val="004A98"/>
                </a:solidFill>
                <a:latin typeface="Tahoma" pitchFamily="34" charset="0"/>
              </a:rPr>
              <a:t>Federal Statistical Research Data Centers</a:t>
            </a:r>
            <a:endParaRPr lang="en-US" sz="1125" dirty="0"/>
          </a:p>
        </p:txBody>
      </p:sp>
      <p:sp>
        <p:nvSpPr>
          <p:cNvPr id="38" name="Shape 3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784500" y="3644206"/>
            <a:ext cx="1872556" cy="692423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39" name="Text 37"/>
          <p:cNvSpPr/>
          <p:nvPr/>
        </p:nvSpPr>
        <p:spPr>
          <a:xfrm>
            <a:off x="2908325" y="3748981"/>
            <a:ext cx="1681082" cy="5019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lnSpc>
                <a:spcPct val="109032"/>
              </a:lnSpc>
              <a:buNone/>
            </a:pPr>
            <a:r>
              <a:rPr lang="en-US" sz="975" dirty="0">
                <a:solidFill>
                  <a:srgbClr val="103333"/>
                </a:solidFill>
                <a:latin typeface="Tahoma" pitchFamily="34" charset="0"/>
              </a:rPr>
              <a:t>Varies by dataset (Census, NCHS, AHRQ surveys)</a:t>
            </a:r>
            <a:endParaRPr lang="en-US" sz="975" dirty="0"/>
          </a:p>
        </p:txBody>
      </p:sp>
      <p:sp>
        <p:nvSpPr>
          <p:cNvPr id="40" name="Shape 3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57056" y="3644206"/>
            <a:ext cx="1276797" cy="692423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41" name="Text 39"/>
          <p:cNvSpPr/>
          <p:nvPr/>
        </p:nvSpPr>
        <p:spPr>
          <a:xfrm>
            <a:off x="4780881" y="3748981"/>
            <a:ext cx="1067451" cy="5019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lnSpc>
                <a:spcPct val="109032"/>
              </a:lnSpc>
              <a:buNone/>
            </a:pPr>
            <a:r>
              <a:rPr lang="en-US" sz="975" b="1" dirty="0">
                <a:solidFill>
                  <a:srgbClr val="004A98"/>
                </a:solidFill>
                <a:latin typeface="Tahoma" pitchFamily="34" charset="0"/>
              </a:rPr>
              <a:t>Census block</a:t>
            </a:r>
            <a:endParaRPr lang="en-US" sz="975" dirty="0"/>
          </a:p>
        </p:txBody>
      </p:sp>
      <p:sp>
        <p:nvSpPr>
          <p:cNvPr id="42" name="Shape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33852" y="3644206"/>
            <a:ext cx="2638648" cy="692423"/>
          </a:xfrm>
          <a:prstGeom prst="rect">
            <a:avLst/>
          </a:prstGeom>
          <a:solidFill>
            <a:srgbClr val="EEF4FA"/>
          </a:solidFill>
          <a:ln/>
        </p:spPr>
      </p:sp>
      <p:sp>
        <p:nvSpPr>
          <p:cNvPr id="43" name="Text 41"/>
          <p:cNvSpPr/>
          <p:nvPr/>
        </p:nvSpPr>
        <p:spPr>
          <a:xfrm>
            <a:off x="6057677" y="3748981"/>
            <a:ext cx="2470158" cy="50192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lnSpc>
                <a:spcPct val="109032"/>
              </a:lnSpc>
              <a:buNone/>
            </a:pPr>
            <a:r>
              <a:rPr lang="en-US" sz="975" dirty="0">
                <a:solidFill>
                  <a:srgbClr val="103333"/>
                </a:solidFill>
                <a:latin typeface="Tahoma" pitchFamily="34" charset="0"/>
              </a:rPr>
              <a:t>Approved project proposal and background check, accessed in a secure research data center</a:t>
            </a:r>
            <a:endParaRPr lang="en-US" sz="975" dirty="0"/>
          </a:p>
        </p:txBody>
      </p:sp>
      <p:sp>
        <p:nvSpPr>
          <p:cNvPr id="44" name="Text 42"/>
          <p:cNvSpPr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r">
              <a:buNone/>
            </a:pPr>
            <a:fld id="{95592964-E364-4A07-ADC4-97E46436CD8E}" type="slidenum">
              <a:rPr lang="en-US" sz="900" dirty="0">
                <a:solidFill>
                  <a:srgbClr val="4F6B8A"/>
                </a:solidFill>
                <a:latin typeface="Tahoma" pitchFamily="34" charset="0"/>
              </a:rPr>
              <a:t>24</a:t>
            </a:fld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A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71500" y="619125"/>
            <a:ext cx="7358063" cy="857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0722"/>
              </a:lnSpc>
              <a:buNone/>
            </a:pPr>
            <a:r>
              <a:rPr lang="en-US" sz="3000" b="1" kern="0" spc="-37" dirty="0">
                <a:solidFill>
                  <a:srgbClr val="FFFFFF"/>
                </a:solidFill>
                <a:latin typeface="Tahoma" pitchFamily="34" charset="0"/>
              </a:rPr>
              <a:t>Your data plus NaNDA data, joined on one geographic identifier.</a:t>
            </a:r>
            <a:endParaRPr lang="en-US" sz="3000" dirty="0"/>
          </a:p>
        </p:txBody>
      </p:sp>
      <p:sp>
        <p:nvSpPr>
          <p:cNvPr id="3" name="Shap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2000" y="2476500"/>
            <a:ext cx="1428750" cy="1428750"/>
          </a:xfrm>
          <a:prstGeom prst="ellipse">
            <a:avLst/>
          </a:prstGeom>
          <a:solidFill>
            <a:srgbClr val="1D9ADD"/>
          </a:solidFill>
          <a:ln/>
        </p:spPr>
      </p:sp>
      <p:pic>
        <p:nvPicPr>
          <p:cNvPr id="4" name="Decorative imag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9188" y="2833688"/>
            <a:ext cx="714375" cy="71437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08931" y="4057650"/>
            <a:ext cx="534814" cy="5238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Tahoma" pitchFamily="34" charset="0"/>
              </a:rPr>
              <a:t>Your Data</a:t>
            </a:r>
            <a:endParaRPr lang="en-US" sz="1650" dirty="0"/>
          </a:p>
        </p:txBody>
      </p:sp>
      <p:pic>
        <p:nvPicPr>
          <p:cNvPr id="6" name="plu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90000"/>
          </a:blip>
          <a:stretch>
            <a:fillRect/>
          </a:stretch>
        </p:blipFill>
        <p:spPr>
          <a:xfrm>
            <a:off x="2762250" y="2928938"/>
            <a:ext cx="523875" cy="523875"/>
          </a:xfrm>
          <a:prstGeom prst="rect">
            <a:avLst/>
          </a:prstGeom>
        </p:spPr>
      </p:pic>
      <p:sp>
        <p:nvSpPr>
          <p:cNvPr id="7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57625" y="2476500"/>
            <a:ext cx="1428750" cy="1428750"/>
          </a:xfrm>
          <a:prstGeom prst="ellipse">
            <a:avLst/>
          </a:prstGeom>
          <a:solidFill>
            <a:srgbClr val="1D9ADD"/>
          </a:solidFill>
          <a:ln/>
        </p:spPr>
      </p:sp>
      <p:pic>
        <p:nvPicPr>
          <p:cNvPr id="8" name="Decorative imag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4813" y="2833688"/>
            <a:ext cx="714375" cy="71437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177680" y="4057650"/>
            <a:ext cx="788640" cy="5238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Tahoma" pitchFamily="34" charset="0"/>
              </a:rPr>
              <a:t>NaNDA Data</a:t>
            </a:r>
            <a:endParaRPr lang="en-US" sz="1650" dirty="0"/>
          </a:p>
        </p:txBody>
      </p:sp>
      <p:pic>
        <p:nvPicPr>
          <p:cNvPr id="10" name="equal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90000"/>
          </a:blip>
          <a:stretch>
            <a:fillRect/>
          </a:stretch>
        </p:blipFill>
        <p:spPr>
          <a:xfrm>
            <a:off x="5857875" y="2928938"/>
            <a:ext cx="523875" cy="523875"/>
          </a:xfrm>
          <a:prstGeom prst="rect">
            <a:avLst/>
          </a:prstGeom>
        </p:spPr>
      </p:pic>
      <p:sp>
        <p:nvSpPr>
          <p:cNvPr id="11" name="Shap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0" y="2381250"/>
            <a:ext cx="1619250" cy="1619250"/>
          </a:xfrm>
          <a:prstGeom prst="ellipse">
            <a:avLst/>
          </a:prstGeom>
          <a:solidFill>
            <a:srgbClr val="1D9ADD"/>
          </a:solidFill>
          <a:ln>
            <a:noFill/>
          </a:ln>
        </p:spPr>
      </p:sp>
      <p:sp>
        <p:nvSpPr>
          <p:cNvPr id="12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010363" y="2533650"/>
            <a:ext cx="1314450" cy="1314450"/>
          </a:xfrm>
          <a:prstGeom prst="ellipse">
            <a:avLst/>
          </a:prstGeom>
          <a:solidFill>
            <a:srgbClr val="004A98"/>
          </a:solidFill>
          <a:ln w="76200">
            <a:solidFill>
              <a:srgbClr val="004A98"/>
            </a:solidFill>
            <a:prstDash val="solid"/>
          </a:ln>
        </p:spPr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9B0761E-CAE9-44F8-5E0D-D506810BA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086563" y="2609850"/>
            <a:ext cx="1162050" cy="1162050"/>
            <a:chOff x="5336977" y="3648075"/>
            <a:chExt cx="1162050" cy="1162050"/>
          </a:xfrm>
        </p:grpSpPr>
        <p:sp>
          <p:nvSpPr>
            <p:cNvPr id="13" name="Shape 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5336977" y="3648075"/>
              <a:ext cx="1162050" cy="1162050"/>
            </a:xfrm>
            <a:prstGeom prst="ellipse">
              <a:avLst/>
            </a:prstGeom>
            <a:solidFill>
              <a:srgbClr val="FFFFFF"/>
            </a:solidFill>
            <a:ln/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14" name="Decorative image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5608439" y="3919538"/>
              <a:ext cx="619125" cy="619125"/>
            </a:xfrm>
            <a:prstGeom prst="rect">
              <a:avLst/>
            </a:prstGeom>
          </p:spPr>
        </p:pic>
      </p:grpSp>
      <p:sp>
        <p:nvSpPr>
          <p:cNvPr id="15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69683" y="4229100"/>
            <a:ext cx="1595810" cy="3762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9"/>
          <p:cNvSpPr/>
          <p:nvPr/>
        </p:nvSpPr>
        <p:spPr>
          <a:xfrm>
            <a:off x="6923243" y="4267200"/>
            <a:ext cx="1488691" cy="3190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004A98"/>
                </a:solidFill>
                <a:latin typeface="Tahoma" pitchFamily="34" charset="0"/>
              </a:rPr>
              <a:t>New Ideas</a:t>
            </a:r>
            <a:endParaRPr lang="en-US" sz="1950" dirty="0"/>
          </a:p>
        </p:txBody>
      </p:sp>
      <p:sp>
        <p:nvSpPr>
          <p:cNvPr id="18" name="Slide Number"/>
          <p:cNvSpPr txBox="1"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</p:spPr>
        <p:txBody>
          <a:bodyPr wrap="none" lIns="12700" tIns="12700" rIns="12700" bIns="12700" rtlCol="0" anchor="t">
            <a:noAutofit/>
          </a:bodyPr>
          <a:lstStyle/>
          <a:p>
            <a:pPr marL="0" indent="0" algn="r">
              <a:buNone/>
            </a:pPr>
            <a:fld id="{5E87A260-0A07-4104-B359-B89C0278FF52}" type="slidenum">
              <a:rPr lang="en-US" sz="900" dirty="0">
                <a:solidFill>
                  <a:srgbClr val="DDEBF7"/>
                </a:solidFill>
                <a:latin typeface="Tahoma"/>
                <a:cs typeface="Tahoma"/>
              </a:rPr>
              <a:t>25</a:t>
            </a:fld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A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71500" y="523875"/>
            <a:ext cx="2550795" cy="16954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83019"/>
              </a:lnSpc>
              <a:buNone/>
            </a:pPr>
            <a:r>
              <a:rPr lang="en-US" sz="3300" b="1" kern="0" spc="-75" dirty="0">
                <a:solidFill>
                  <a:srgbClr val="FFFFFF"/>
                </a:solidFill>
                <a:latin typeface="Tahoma" pitchFamily="34" charset="0"/>
              </a:rPr>
              <a:t>NaNDA repository walk through</a:t>
            </a:r>
            <a:endParaRPr lang="en-US" sz="3300" dirty="0"/>
          </a:p>
        </p:txBody>
      </p:sp>
      <p:sp>
        <p:nvSpPr>
          <p:cNvPr id="3" name="Shap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" y="2371725"/>
            <a:ext cx="476250" cy="47625"/>
          </a:xfrm>
          <a:prstGeom prst="rect">
            <a:avLst/>
          </a:prstGeom>
          <a:solidFill>
            <a:srgbClr val="1D9ADD"/>
          </a:solidFill>
          <a:ln/>
        </p:spPr>
      </p:sp>
      <p:sp>
        <p:nvSpPr>
          <p:cNvPr id="4" name="Text 2">
            <a:hlinkClick r:id="rId3"/>
          </p:cNvPr>
          <p:cNvSpPr/>
          <p:nvPr/>
        </p:nvSpPr>
        <p:spPr>
          <a:xfrm>
            <a:off x="571500" y="3993357"/>
            <a:ext cx="2551176" cy="59769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2500"/>
              </a:lnSpc>
              <a:buNone/>
            </a:pPr>
            <a:r>
              <a:rPr lang="en-US" sz="1125" b="1" u="sng" dirty="0">
                <a:solidFill>
                  <a:srgbClr val="FFFFFF"/>
                </a:solidFill>
                <a:uFill>
                  <a:solidFill>
                    <a:srgbClr val="1D9ADD"/>
                  </a:solidFill>
                </a:uFill>
                <a:latin typeface="Tahoma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Navigating the National</a:t>
            </a:r>
            <a:br>
              <a:rPr lang="en-US" sz="1125" b="1" u="sng" dirty="0">
                <a:solidFill>
                  <a:srgbClr val="FFFFFF"/>
                </a:solidFill>
                <a:uFill>
                  <a:solidFill>
                    <a:srgbClr val="1D9ADD"/>
                  </a:solidFill>
                </a:uFill>
                <a:latin typeface="Tahoma" pitchFamily="34" charset="0"/>
              </a:rPr>
            </a:br>
            <a:r>
              <a:rPr lang="en-US" sz="1125" b="1" u="sng" dirty="0">
                <a:solidFill>
                  <a:srgbClr val="FFFFFF"/>
                </a:solidFill>
                <a:uFill>
                  <a:solidFill>
                    <a:srgbClr val="1D9ADD"/>
                  </a:solidFill>
                </a:uFill>
                <a:latin typeface="Tahoma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Neighborhood Data Archive 🗺️</a:t>
            </a:r>
            <a:br>
              <a:rPr lang="en-US" sz="1125" b="1" u="sng" dirty="0">
                <a:solidFill>
                  <a:srgbClr val="FFFFFF"/>
                </a:solidFill>
                <a:uFill>
                  <a:solidFill>
                    <a:srgbClr val="1D9ADD"/>
                  </a:solidFill>
                </a:uFill>
                <a:latin typeface="Tahoma" pitchFamily="34" charset="0"/>
              </a:rPr>
            </a:br>
            <a:r>
              <a:rPr lang="en-US" sz="1125" b="1" u="sng" dirty="0">
                <a:solidFill>
                  <a:srgbClr val="FFFFFF"/>
                </a:solidFill>
                <a:uFill>
                  <a:solidFill>
                    <a:srgbClr val="1D9ADD"/>
                  </a:solidFill>
                </a:uFill>
                <a:latin typeface="Tahoma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Video</a:t>
            </a:r>
            <a:endParaRPr lang="en-US" sz="1125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19500" y="619125"/>
            <a:ext cx="4953000" cy="390525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/>
          <a:effectLst>
            <a:outerShdw blurRad="381000" dist="190500" dir="5400000" algn="bl" rotWithShape="0">
              <a:srgbClr val="001432">
                <a:alpha val="45000"/>
              </a:srgbClr>
            </a:outerShdw>
          </a:effectLst>
        </p:spPr>
      </p:sp>
      <p:pic>
        <p:nvPicPr>
          <p:cNvPr id="6" name="Decorative imag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20085" b="-20085"/>
          <a:stretch/>
        </p:blipFill>
        <p:spPr>
          <a:xfrm>
            <a:off x="3619500" y="619125"/>
            <a:ext cx="4953000" cy="39052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r">
              <a:buNone/>
            </a:pPr>
            <a:fld id="{721D925F-BB01-455D-8BD7-1C5042DCC56C}" type="slidenum">
              <a:rPr lang="en-US" sz="900" dirty="0">
                <a:solidFill>
                  <a:srgbClr val="DDEBF7"/>
                </a:solidFill>
                <a:latin typeface="Tahoma" pitchFamily="34" charset="0"/>
              </a:rPr>
              <a:t>26</a:t>
            </a:fld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A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"/>
          <p:cNvSpPr>
            <a:spLocks noGrp="1"/>
          </p:cNvSpPr>
          <p:nvPr>
            <p:ph type="title"/>
          </p:nvPr>
        </p:nvSpPr>
        <p:spPr>
          <a:xfrm>
            <a:off x="0" y="-571500"/>
            <a:ext cx="3048000" cy="381000"/>
          </a:xfrm>
          <a:prstGeom prst="rect">
            <a:avLst/>
          </a:prstGeom>
          <a:noFill/>
        </p:spPr>
        <p:txBody>
          <a:bodyPr/>
          <a:lstStyle/>
          <a:p>
            <a:pPr algn="l"/>
            <a:r>
              <a:rPr lang="en-US" sz="1600" b="1" dirty="0">
                <a:solidFill>
                  <a:srgbClr val="004A98"/>
                </a:solidFill>
                <a:latin typeface="Tahoma"/>
              </a:rPr>
              <a:t>Contact NaNDA</a:t>
            </a:r>
          </a:p>
        </p:txBody>
      </p:sp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10250" y="-952500"/>
            <a:ext cx="4286250" cy="4286250"/>
          </a:xfrm>
          <a:prstGeom prst="ellipse">
            <a:avLst/>
          </a:prstGeom>
          <a:solidFill>
            <a:srgbClr val="0A5BB0"/>
          </a:solidFill>
          <a:ln/>
        </p:spPr>
      </p:sp>
      <p:pic>
        <p:nvPicPr>
          <p:cNvPr id="3" name="Decorative imag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05500" y="2095500"/>
            <a:ext cx="2667000" cy="2667000"/>
          </a:xfrm>
          <a:prstGeom prst="rect">
            <a:avLst/>
          </a:prstGeom>
        </p:spPr>
      </p:pic>
      <p:pic>
        <p:nvPicPr>
          <p:cNvPr id="4" name="Contact NaND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28625"/>
            <a:ext cx="1809750" cy="1429941"/>
          </a:xfrm>
          <a:prstGeom prst="rect">
            <a:avLst/>
          </a:prstGeom>
        </p:spPr>
      </p:pic>
      <p:pic>
        <p:nvPicPr>
          <p:cNvPr id="5" name="Website" descr="Website: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71500" y="2238375"/>
            <a:ext cx="247650" cy="24765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971550" y="2247900"/>
            <a:ext cx="200545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</a:rPr>
              <a:t>nanda.isr.umich.edu</a:t>
            </a:r>
            <a:endParaRPr lang="en-US" sz="1500" dirty="0"/>
          </a:p>
        </p:txBody>
      </p:sp>
      <p:pic>
        <p:nvPicPr>
          <p:cNvPr id="7" name="Email" descr="Email: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71500" y="2647950"/>
            <a:ext cx="247650" cy="247650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971550" y="2657475"/>
            <a:ext cx="251553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</a:rPr>
              <a:t>nanda-admin@umich.edu</a:t>
            </a:r>
            <a:endParaRPr lang="en-US" sz="1500" dirty="0"/>
          </a:p>
        </p:txBody>
      </p:sp>
      <p:pic>
        <p:nvPicPr>
          <p:cNvPr id="9" name="Instagram" descr="Instagram: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71500" y="3057525"/>
            <a:ext cx="247650" cy="247650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971550" y="3067050"/>
            <a:ext cx="132843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</a:rPr>
              <a:t>@UM_NaNDA</a:t>
            </a:r>
            <a:endParaRPr lang="en-US" sz="1500" dirty="0"/>
          </a:p>
        </p:txBody>
      </p:sp>
      <p:pic>
        <p:nvPicPr>
          <p:cNvPr id="11" name="Threads" descr="Threads: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71500" y="3467100"/>
            <a:ext cx="247650" cy="247650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971550" y="3476625"/>
            <a:ext cx="132843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</a:rPr>
              <a:t>@UM_NaNDA</a:t>
            </a:r>
            <a:endParaRPr lang="en-US" sz="1500" dirty="0"/>
          </a:p>
        </p:txBody>
      </p:sp>
      <p:pic>
        <p:nvPicPr>
          <p:cNvPr id="13" name="LinkedIn" descr="LinkedIn: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71500" y="3876675"/>
            <a:ext cx="247650" cy="247650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971550" y="3886200"/>
            <a:ext cx="338470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</a:rPr>
              <a:t>linkedin.com/company/um-nanda</a:t>
            </a:r>
            <a:endParaRPr lang="en-US" sz="1500" dirty="0"/>
          </a:p>
        </p:txBody>
      </p:sp>
      <p:sp>
        <p:nvSpPr>
          <p:cNvPr id="15" name="Text 6"/>
          <p:cNvSpPr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r">
              <a:buNone/>
            </a:pPr>
            <a:fld id="{9E86C144-1DFD-442B-A8F2-7A4A1EE22E59}" type="slidenum">
              <a:rPr lang="en-US" sz="900" dirty="0">
                <a:solidFill>
                  <a:srgbClr val="DDEBF7"/>
                </a:solidFill>
                <a:latin typeface="Tahoma" pitchFamily="34" charset="0"/>
              </a:rPr>
              <a:t>27</a:t>
            </a:fld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Choose your breakout</a:t>
            </a:r>
          </a:p>
        </p:txBody>
      </p:sp>
      <p:sp>
        <p:nvSpPr>
          <p:cNvPr id="3" name="Reconvene time"/>
          <p:cNvSpPr/>
          <p:nvPr/>
        </p:nvSpPr>
        <p:spPr>
          <a:xfrm>
            <a:off x="6431690" y="400000"/>
            <a:ext cx="2300000" cy="340000"/>
          </a:xfrm>
          <a:prstGeom prst="roundRect">
            <a:avLst>
              <a:gd name="adj" fmla="val 50000"/>
            </a:avLst>
          </a:prstGeom>
          <a:solidFill>
            <a:srgbClr val="E6F4FC"/>
          </a:solidFill>
          <a:ln>
            <a:noFill/>
          </a:ln>
        </p:spPr>
        <p:txBody>
          <a:bodyPr wrap="square" t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4A98"/>
                </a:solidFill>
                <a:latin typeface="Tahoma"/>
              </a:rPr>
              <a:t>Back together at 1:45</a:t>
            </a:r>
          </a:p>
        </p:txBody>
      </p:sp>
      <p:sp>
        <p:nvSpPr>
          <p:cNvPr id="4" name="Beginner track card"/>
          <p:cNvSpPr/>
          <p:nvPr/>
        </p:nvSpPr>
        <p:spPr>
          <a:xfrm>
            <a:off x="412310" y="1170000"/>
            <a:ext cx="4045390" cy="2120000"/>
          </a:xfrm>
          <a:prstGeom prst="rect">
            <a:avLst/>
          </a:prstGeom>
          <a:solidFill>
            <a:srgbClr val="EEF4FA"/>
          </a:solidFill>
          <a:ln>
            <a:noFill/>
          </a:ln>
        </p:spPr>
        <p:txBody>
          <a:bodyPr wrap="square" lIns="173736" tIns="173736" rIns="173736" bIns="91440" rtlCol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00">
                <a:solidFill>
                  <a:srgbClr val="004A98"/>
                </a:solidFill>
                <a:latin typeface="Tahoma"/>
              </a:rPr>
              <a:t>BEGINNER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400" b="1">
                <a:solidFill>
                  <a:srgbClr val="004A98"/>
                </a:solidFill>
                <a:latin typeface="Tahoma"/>
              </a:rPr>
              <a:t>Choosing Your First NaNDA Dataset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100" b="1">
                <a:solidFill>
                  <a:srgbClr val="103333"/>
                </a:solidFill>
                <a:latin typeface="Tahoma"/>
              </a:rPr>
              <a:t>Pick this if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103333"/>
                </a:solidFill>
                <a:latin typeface="Tahoma"/>
              </a:rPr>
              <a:t>You are new to neighborhood data, or want help finding the right dataset.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100" b="1">
                <a:solidFill>
                  <a:srgbClr val="103333"/>
                </a:solidFill>
                <a:latin typeface="Tahoma"/>
              </a:rPr>
              <a:t>You'll leave with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103333"/>
                </a:solidFill>
                <a:latin typeface="Tahoma"/>
              </a:rPr>
              <a:t>A NaNDA dataset matched to your geography and years.</a:t>
            </a:r>
          </a:p>
        </p:txBody>
      </p:sp>
      <p:sp>
        <p:nvSpPr>
          <p:cNvPr id="5" name="Beginner card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2310" y="1170000"/>
            <a:ext cx="4045390" cy="4572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Intermediate track card"/>
          <p:cNvSpPr/>
          <p:nvPr/>
        </p:nvSpPr>
        <p:spPr>
          <a:xfrm>
            <a:off x="4686300" y="1170000"/>
            <a:ext cx="4045390" cy="2120000"/>
          </a:xfrm>
          <a:prstGeom prst="rect">
            <a:avLst/>
          </a:prstGeom>
          <a:solidFill>
            <a:srgbClr val="EEF4FA"/>
          </a:solidFill>
          <a:ln>
            <a:noFill/>
          </a:ln>
        </p:spPr>
        <p:txBody>
          <a:bodyPr wrap="square" lIns="173736" tIns="173736" rIns="173736" bIns="91440" rtlCol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spc="100">
                <a:solidFill>
                  <a:srgbClr val="004A98"/>
                </a:solidFill>
                <a:latin typeface="Tahoma"/>
              </a:rPr>
              <a:t>INTERMEDIATE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400" b="1">
                <a:solidFill>
                  <a:srgbClr val="004A98"/>
                </a:solidFill>
                <a:latin typeface="Tahoma"/>
              </a:rPr>
              <a:t>Linking NaNDA with Your Data</a:t>
            </a:r>
          </a:p>
          <a:p>
            <a:pPr algn="l">
              <a:spcBef>
                <a:spcPts val="900"/>
              </a:spcBef>
              <a:spcAft>
                <a:spcPts val="0"/>
              </a:spcAft>
            </a:pPr>
            <a:r>
              <a:rPr sz="1100" b="1">
                <a:solidFill>
                  <a:srgbClr val="103333"/>
                </a:solidFill>
                <a:latin typeface="Tahoma"/>
              </a:rPr>
              <a:t>Pick this if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103333"/>
                </a:solidFill>
                <a:latin typeface="Tahoma"/>
              </a:rPr>
              <a:t>Your data have addresses, ZIP codes, or census tracts to merge with NaNDA.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100" b="1">
                <a:solidFill>
                  <a:srgbClr val="103333"/>
                </a:solidFill>
                <a:latin typeface="Tahoma"/>
              </a:rPr>
              <a:t>You'll leave with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0">
                <a:solidFill>
                  <a:srgbClr val="103333"/>
                </a:solidFill>
                <a:latin typeface="Tahoma"/>
              </a:rPr>
              <a:t>A merge you ran on practice data, plus code you can reuse.</a:t>
            </a:r>
          </a:p>
        </p:txBody>
      </p:sp>
      <p:sp>
        <p:nvSpPr>
          <p:cNvPr id="7" name="Intermediate card accen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686300" y="1170000"/>
            <a:ext cx="4045390" cy="4572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How to join"/>
          <p:cNvSpPr/>
          <p:nvPr/>
        </p:nvSpPr>
        <p:spPr>
          <a:xfrm>
            <a:off x="412310" y="3420000"/>
            <a:ext cx="8319380" cy="720000"/>
          </a:xfrm>
          <a:prstGeom prst="rect">
            <a:avLst/>
          </a:prstGeom>
          <a:solidFill>
            <a:srgbClr val="004A98"/>
          </a:solidFill>
          <a:ln>
            <a:noFill/>
          </a:ln>
        </p:spPr>
        <p:txBody>
          <a:bodyPr wrap="square" lIns="173736" tIns="0" rIns="0" bIns="0" rtlCol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Tahoma"/>
              </a:rPr>
              <a:t>How to join</a:t>
            </a:r>
          </a:p>
        </p:txBody>
      </p:sp>
      <p:sp>
        <p:nvSpPr>
          <p:cNvPr id="9" name="Step 1 number"/>
          <p:cNvSpPr/>
          <p:nvPr/>
        </p:nvSpPr>
        <p:spPr>
          <a:xfrm>
            <a:off x="1862310" y="3619980"/>
            <a:ext cx="320040" cy="3200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4A98"/>
                </a:solidFill>
                <a:latin typeface="Tahoma"/>
              </a:rPr>
              <a:t>1</a:t>
            </a:r>
          </a:p>
        </p:txBody>
      </p:sp>
      <p:sp>
        <p:nvSpPr>
          <p:cNvPr id="10" name="Step 1"/>
          <p:cNvSpPr txBox="1"/>
          <p:nvPr/>
        </p:nvSpPr>
        <p:spPr>
          <a:xfrm>
            <a:off x="2273790" y="3420000"/>
            <a:ext cx="1781360" cy="7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Tahoma"/>
              </a:rPr>
              <a:t>Click </a:t>
            </a:r>
            <a:r>
              <a:rPr sz="1100" b="1">
                <a:solidFill>
                  <a:srgbClr val="FFFFFF"/>
                </a:solidFill>
                <a:latin typeface="Tahoma"/>
              </a:rPr>
              <a:t>Breakout Rooms</a:t>
            </a:r>
            <a:r>
              <a:rPr sz="1100" b="0">
                <a:solidFill>
                  <a:srgbClr val="FFFFFF"/>
                </a:solidFill>
                <a:latin typeface="Tahoma"/>
              </a:rPr>
              <a:t> in your Zoom toolbar. It may be under </a:t>
            </a:r>
            <a:r>
              <a:rPr sz="1100" b="1">
                <a:solidFill>
                  <a:srgbClr val="FFFFFF"/>
                </a:solidFill>
                <a:latin typeface="Tahoma"/>
              </a:rPr>
              <a:t>More</a:t>
            </a:r>
            <a:r>
              <a:rPr sz="1100" b="0">
                <a:solidFill>
                  <a:srgbClr val="FFFFFF"/>
                </a:solidFill>
                <a:latin typeface="Tahoma"/>
              </a:rPr>
              <a:t>.</a:t>
            </a:r>
          </a:p>
        </p:txBody>
      </p:sp>
      <p:sp>
        <p:nvSpPr>
          <p:cNvPr id="11" name="Step 2 number"/>
          <p:cNvSpPr/>
          <p:nvPr/>
        </p:nvSpPr>
        <p:spPr>
          <a:xfrm>
            <a:off x="4192310" y="3619980"/>
            <a:ext cx="320040" cy="3200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04A98"/>
                </a:solidFill>
                <a:latin typeface="Tahoma"/>
              </a:rPr>
              <a:t>2</a:t>
            </a:r>
          </a:p>
        </p:txBody>
      </p:sp>
      <p:sp>
        <p:nvSpPr>
          <p:cNvPr id="12" name="Step 2"/>
          <p:cNvSpPr txBox="1"/>
          <p:nvPr/>
        </p:nvSpPr>
        <p:spPr>
          <a:xfrm>
            <a:off x="4603790" y="3420000"/>
            <a:ext cx="1781360" cy="7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Tahoma"/>
              </a:rPr>
              <a:t>Choose </a:t>
            </a:r>
            <a:r>
              <a:rPr sz="1100" b="1">
                <a:solidFill>
                  <a:srgbClr val="FFFFFF"/>
                </a:solidFill>
                <a:latin typeface="Tahoma"/>
              </a:rPr>
              <a:t>Beginner</a:t>
            </a:r>
            <a:r>
              <a:rPr sz="1100" b="0">
                <a:solidFill>
                  <a:srgbClr val="FFFFFF"/>
                </a:solidFill>
                <a:latin typeface="Tahoma"/>
              </a:rPr>
              <a:t> or </a:t>
            </a:r>
            <a:r>
              <a:rPr sz="1100" b="1">
                <a:solidFill>
                  <a:srgbClr val="FFFFFF"/>
                </a:solidFill>
                <a:latin typeface="Tahoma"/>
              </a:rPr>
              <a:t>Intermediate</a:t>
            </a:r>
            <a:r>
              <a:rPr sz="1100" b="0">
                <a:solidFill>
                  <a:srgbClr val="FFFFFF"/>
                </a:solidFill>
                <a:latin typeface="Tahoma"/>
              </a:rPr>
              <a:t>, then click </a:t>
            </a:r>
            <a:r>
              <a:rPr sz="1100" b="1">
                <a:solidFill>
                  <a:srgbClr val="FFFFFF"/>
                </a:solidFill>
                <a:latin typeface="Tahoma"/>
              </a:rPr>
              <a:t>Join</a:t>
            </a:r>
            <a:r>
              <a:rPr sz="1100" b="0">
                <a:solidFill>
                  <a:srgbClr val="FFFFFF"/>
                </a:solidFill>
                <a:latin typeface="Tahoma"/>
              </a:rPr>
              <a:t>.</a:t>
            </a:r>
          </a:p>
        </p:txBody>
      </p:sp>
      <p:sp>
        <p:nvSpPr>
          <p:cNvPr id="13" name="Divider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22310" y="3570000"/>
            <a:ext cx="19050" cy="420000"/>
          </a:xfrm>
          <a:prstGeom prst="rect">
            <a:avLst/>
          </a:prstGeom>
          <a:solidFill>
            <a:srgbClr val="1D9ADD"/>
          </a:solidFill>
          <a:ln>
            <a:noFill/>
          </a:ln>
        </p:spPr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ip"/>
          <p:cNvSpPr txBox="1"/>
          <p:nvPr/>
        </p:nvSpPr>
        <p:spPr>
          <a:xfrm>
            <a:off x="6705190" y="3420000"/>
            <a:ext cx="1889340" cy="7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Tahoma"/>
              </a:rPr>
              <a:t>Not sure? </a:t>
            </a:r>
            <a:r>
              <a:rPr sz="1100" b="0">
                <a:solidFill>
                  <a:srgbClr val="FFFFFF"/>
                </a:solidFill>
                <a:latin typeface="Tahoma"/>
              </a:rPr>
              <a:t>Start with Beginner. You can switch rooms any time.</a:t>
            </a:r>
          </a:p>
        </p:txBody>
      </p:sp>
      <p:sp>
        <p:nvSpPr>
          <p:cNvPr id="15" name="Slide Number"/>
          <p:cNvSpPr/>
          <p:nvPr/>
        </p:nvSpPr>
        <p:spPr>
          <a:xfrm>
            <a:off x="8576311" y="4814888"/>
            <a:ext cx="320040" cy="15716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r">
              <a:buNone/>
            </a:pPr>
            <a:fld id="{EBA70D93-50D0-44B0-B696-A604FFBC6501}" type="slidenum">
              <a:rPr lang="en-US" sz="900" dirty="0">
                <a:solidFill>
                  <a:srgbClr val="4F6B8A"/>
                </a:solidFill>
                <a:latin typeface="Tahoma" pitchFamily="34" charset="0"/>
              </a:rPr>
              <a:t>28</a:t>
            </a:fld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50708"/>
      </a:dk1>
      <a:lt1>
        <a:srgbClr val="FFFFFF"/>
      </a:lt1>
      <a:dk2>
        <a:srgbClr val="5C666D"/>
      </a:dk2>
      <a:lt2>
        <a:srgbClr val="F5F8FA"/>
      </a:lt2>
      <a:accent1>
        <a:srgbClr val="004A98"/>
      </a:accent1>
      <a:accent2>
        <a:srgbClr val="1D9ADD"/>
      </a:accent2>
      <a:accent3>
        <a:srgbClr val="16B1C1"/>
      </a:accent3>
      <a:accent4>
        <a:srgbClr val="49AA31"/>
      </a:accent4>
      <a:accent5>
        <a:srgbClr val="59D3EF"/>
      </a:accent5>
      <a:accent6>
        <a:srgbClr val="103333"/>
      </a:accent6>
      <a:hlink>
        <a:srgbClr val="004A98"/>
      </a:hlink>
      <a:folHlink>
        <a:srgbClr val="003A77"/>
      </a:folHlink>
    </a:clrScheme>
    <a:fontScheme name="Office">
      <a:majorFont>
        <a:latin typeface="Tahom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ahom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ahoma"/>
        <a:font script="Hebr" typeface="Tahoma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Tahom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ahom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ahoma"/>
        <a:font script="Hebr" typeface="Tahoma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1470</Words>
  <Application>Microsoft Office PowerPoint</Application>
  <PresentationFormat>On-screen Show (16:9)</PresentationFormat>
  <Paragraphs>289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Courier New</vt:lpstr>
      <vt:lpstr>Tahoma</vt:lpstr>
      <vt:lpstr>Verdana</vt:lpstr>
      <vt:lpstr>Simple Light</vt:lpstr>
      <vt:lpstr>Using Neighborhood Data in Aging Research</vt:lpstr>
      <vt:lpstr>Funding &amp; support</vt:lpstr>
      <vt:lpstr>Your presenters</vt:lpstr>
      <vt:lpstr>Today's plan</vt:lpstr>
      <vt:lpstr>Housekeeping</vt:lpstr>
      <vt:lpstr>Workshop materials</vt:lpstr>
      <vt:lpstr>In the chat: what do you wish you could measure about the neighborhoods?</vt:lpstr>
      <vt:lpstr>By 2:00 you will be able to</vt:lpstr>
      <vt:lpstr>Two options. You pick one at 12:55.</vt:lpstr>
      <vt:lpstr>NaNDA overview</vt:lpstr>
      <vt:lpstr>What we'll cover</vt:lpstr>
      <vt:lpstr>What is your neighborhood?</vt:lpstr>
      <vt:lpstr>SOCIAL DETERMINANTS OF HEALTH</vt:lpstr>
      <vt:lpstr>What we mean by neighborhood</vt:lpstr>
      <vt:lpstr>Where data come from</vt:lpstr>
      <vt:lpstr>Every research team was building the same neighborhood measures from scratch.</vt:lpstr>
      <vt:lpstr>What is NaNDA?</vt:lpstr>
      <vt:lpstr>FAIR data principles</vt:lpstr>
      <vt:lpstr>Examples of neighborhood topics include:</vt:lpstr>
      <vt:lpstr>Data updates</vt:lpstr>
      <vt:lpstr>Hierarchy of select geographic entities</vt:lpstr>
      <vt:lpstr>NaNDA geographies</vt:lpstr>
      <vt:lpstr>Which geography do I use?</vt:lpstr>
      <vt:lpstr>“Pre-linked” NaNDA</vt:lpstr>
      <vt:lpstr>Your data plus NaNDA data, joined on one geographic identifier.</vt:lpstr>
      <vt:lpstr>NaNDA repository walk through</vt:lpstr>
      <vt:lpstr>Contact NaNDA</vt:lpstr>
      <vt:lpstr>Choose your breakout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and overview: what NaNDA is and a tour of the repository</dc:title>
  <dc:creator/>
  <cp:lastModifiedBy/>
  <cp:revision>24</cp:revision>
  <dcterms:modified xsi:type="dcterms:W3CDTF">2026-09-30T22:09:57Z</dcterms:modified>
</cp:coreProperties>
</file>