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7" r:id="rId2"/>
    <p:sldId id="256" r:id="rId3"/>
    <p:sldId id="264" r:id="rId4"/>
    <p:sldId id="259" r:id="rId5"/>
    <p:sldId id="263" r:id="rId6"/>
    <p:sldId id="258" r:id="rId7"/>
    <p:sldId id="266" r:id="rId8"/>
    <p:sldId id="267" r:id="rId9"/>
    <p:sldId id="262" r:id="rId10"/>
    <p:sldId id="269" r:id="rId11"/>
    <p:sldId id="270" r:id="rId12"/>
    <p:sldId id="271" r:id="rId13"/>
    <p:sldId id="272" r:id="rId14"/>
    <p:sldId id="273" r:id="rId15"/>
    <p:sldId id="274" r:id="rId16"/>
    <p:sldId id="284" r:id="rId17"/>
    <p:sldId id="275" r:id="rId18"/>
    <p:sldId id="276" r:id="rId19"/>
    <p:sldId id="277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Tahoma"/>
      <a:defRPr sz="1400" b="0" i="0" u="none" strike="noStrike" cap="none" spc="0">
        <a:solidFill>
          <a:srgbClr val="000000"/>
        </a:solidFill>
        <a:latin typeface="Tahoma"/>
        <a:ea typeface="Tahoma"/>
        <a:cs typeface="Tahoma"/>
        <a:sym typeface="Tahoma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hoOWjlW04PdANa6L+6LTL1o9E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1348"/>
    <p:restoredTop sz="83425"/>
  </p:normalViewPr>
  <p:slideViewPr>
    <p:cSldViewPr snapToGrid="0">
      <p:cViewPr varScale="1">
        <p:scale>
          <a:sx n="117" d="100"/>
          <a:sy n="117" d="100"/>
        </p:scale>
        <p:origin x="954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2" name="Google Shape;10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0" name="Google Shape;15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404209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maiz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3fa0a80fba9_1_4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1" name="Google Shape;11;g3fa0a80fba9_1_4"/>
          <p:cNvSpPr txBox="1">
            <a:spLocks noGrp="1"/>
          </p:cNvSpPr>
          <p:nvPr>
            <p:ph type="ctrTitle"/>
          </p:nvPr>
        </p:nvSpPr>
        <p:spPr>
          <a:xfrm>
            <a:off x="946950" y="1097425"/>
            <a:ext cx="7250100" cy="17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Tahoma"/>
              <a:buNone/>
              <a:defRPr sz="5200" b="0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3fa0a80fba9_1_4"/>
          <p:cNvSpPr txBox="1">
            <a:spLocks noGrp="1"/>
          </p:cNvSpPr>
          <p:nvPr>
            <p:ph type="subTitle" idx="1"/>
          </p:nvPr>
        </p:nvSpPr>
        <p:spPr>
          <a:xfrm>
            <a:off x="946950" y="2910325"/>
            <a:ext cx="7250100" cy="1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50708"/>
              </a:buClr>
              <a:buSzPts val="2000"/>
              <a:buFont typeface="Tahoma"/>
              <a:buNone/>
              <a:defRPr sz="2000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g3fa0a80fba9_1_4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" name="Google Shape;14;g3fa0a80fba9_1_4"/>
          <p:cNvSpPr/>
          <p:nvPr/>
        </p:nvSpPr>
        <p:spPr>
          <a:xfrm>
            <a:off x="746825" y="644113"/>
            <a:ext cx="3186000" cy="453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5" name="Google Shape;15;g3fa0a80fba9_1_4" descr="National Neighborhood Data Archive (NaNDA)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825" y="600000"/>
            <a:ext cx="1975867" cy="43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- Dark">
  <p:cSld name="TITLE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fa0a80fba9_1_1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" name="Google Shape;18;g3fa0a80fba9_1_11"/>
          <p:cNvSpPr txBox="1">
            <a:spLocks noGrp="1"/>
          </p:cNvSpPr>
          <p:nvPr>
            <p:ph type="ctrTitle"/>
          </p:nvPr>
        </p:nvSpPr>
        <p:spPr>
          <a:xfrm>
            <a:off x="718350" y="1149888"/>
            <a:ext cx="7250100" cy="17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Font typeface="Tahoma"/>
              <a:buNone/>
              <a:defRPr sz="5200" b="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g3fa0a80fba9_1_11"/>
          <p:cNvSpPr txBox="1">
            <a:spLocks noGrp="1"/>
          </p:cNvSpPr>
          <p:nvPr>
            <p:ph type="subTitle" idx="1"/>
          </p:nvPr>
        </p:nvSpPr>
        <p:spPr>
          <a:xfrm>
            <a:off x="718350" y="3010431"/>
            <a:ext cx="7250100" cy="1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04A98"/>
              </a:buClr>
              <a:buSzPts val="2000"/>
              <a:buFont typeface="Tahoma"/>
              <a:buNone/>
              <a:defRPr sz="2000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2pPr>
            <a:lvl3pPr lvl="2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3pPr>
            <a:lvl4pPr lvl="3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4pPr>
            <a:lvl5pPr lvl="4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5pPr>
            <a:lvl6pPr lvl="5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6pPr>
            <a:lvl7pPr lvl="6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7pPr>
            <a:lvl8pPr lvl="7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8pPr>
            <a:lvl9pPr lvl="8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04A98"/>
              </a:buClr>
              <a:buSzPts val="2800"/>
              <a:buNone/>
              <a:defRPr sz="2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3fa0a80fba9_1_11"/>
          <p:cNvSpPr txBox="1">
            <a:spLocks noGrp="1"/>
          </p:cNvSpPr>
          <p:nvPr>
            <p:ph type="sldNum" idx="12"/>
          </p:nvPr>
        </p:nvSpPr>
        <p:spPr>
          <a:xfrm>
            <a:off x="8290508" y="4445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1" name="Google Shape;21;g3fa0a80fba9_1_11" descr="NaNDA logo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6825" y="620000"/>
            <a:ext cx="2315149" cy="40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fa0a80fba9_1_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E6F4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4" name="Google Shape;24;g3fa0a80fba9_1_17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25" name="Google Shape;25;g3fa0a80fba9_1_17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g3fa0a80fba9_1_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fa0a80fba9_1_22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29" name="Google Shape;29;g3fa0a80fba9_1_22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g3fa0a80fba9_1_22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EFE"/>
                </a:solidFill>
              </a:defRPr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EFE"/>
                </a:solidFill>
              </a:defRPr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EFE"/>
                </a:solidFill>
              </a:defRPr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EFE"/>
                </a:solidFill>
              </a:defRPr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EFE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g3fa0a80fba9_1_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EFE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a0a80fba9_1_27"/>
          <p:cNvSpPr txBox="1">
            <a:spLocks noGrp="1"/>
          </p:cNvSpPr>
          <p:nvPr>
            <p:ph type="body" idx="1"/>
          </p:nvPr>
        </p:nvSpPr>
        <p:spPr>
          <a:xfrm>
            <a:off x="311700" y="1732050"/>
            <a:ext cx="4295700" cy="241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g3fa0a80fba9_1_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g3fa0a80fba9_1_27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4295700" cy="112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g3fa0a80fba9_1_27"/>
          <p:cNvSpPr/>
          <p:nvPr/>
        </p:nvSpPr>
        <p:spPr>
          <a:xfrm>
            <a:off x="412310" y="14341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37" name="Google Shape;37;g3fa0a80fba9_1_27"/>
          <p:cNvGrpSpPr/>
          <p:nvPr/>
        </p:nvGrpSpPr>
        <p:grpSpPr>
          <a:xfrm>
            <a:off x="5044267" y="1091842"/>
            <a:ext cx="3719100" cy="2949300"/>
            <a:chOff x="5044267" y="1091842"/>
            <a:chExt cx="3719100" cy="2949300"/>
          </a:xfrm>
        </p:grpSpPr>
        <p:sp>
          <p:nvSpPr>
            <p:cNvPr id="38" name="Google Shape;38;g3fa0a80fba9_1_27"/>
            <p:cNvSpPr/>
            <p:nvPr/>
          </p:nvSpPr>
          <p:spPr>
            <a:xfrm>
              <a:off x="5196667" y="1244242"/>
              <a:ext cx="3566700" cy="2796900"/>
            </a:xfrm>
            <a:prstGeom prst="rect">
              <a:avLst/>
            </a:prstGeom>
            <a:solidFill>
              <a:srgbClr val="1D9AD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9" name="Google Shape;39;g3fa0a80fba9_1_27"/>
            <p:cNvSpPr/>
            <p:nvPr/>
          </p:nvSpPr>
          <p:spPr>
            <a:xfrm>
              <a:off x="5044267" y="1091842"/>
              <a:ext cx="3566700" cy="2796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Tahoma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pic>
          <p:nvPicPr>
            <p:cNvPr id="40" name="Google Shape;40;g3fa0a80fba9_1_27">
              <a:extLs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 preferRelativeResize="0"/>
            <p:nvPr/>
          </p:nvPicPr>
          <p:blipFill rotWithShape="1">
            <a:blip r:embed="rId2">
              <a:alphaModFix amt="50000"/>
            </a:blip>
            <a:srcRect/>
            <a:stretch/>
          </p:blipFill>
          <p:spPr>
            <a:xfrm>
              <a:off x="6000549" y="2000313"/>
              <a:ext cx="1654150" cy="1284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3fa0a80fba9_1_41"/>
          <p:cNvSpPr txBox="1">
            <a:spLocks noGrp="1"/>
          </p:cNvSpPr>
          <p:nvPr>
            <p:ph type="body" idx="1"/>
          </p:nvPr>
        </p:nvSpPr>
        <p:spPr>
          <a:xfrm>
            <a:off x="3117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g3fa0a80fba9_1_41"/>
          <p:cNvSpPr txBox="1">
            <a:spLocks noGrp="1"/>
          </p:cNvSpPr>
          <p:nvPr>
            <p:ph type="body" idx="2"/>
          </p:nvPr>
        </p:nvSpPr>
        <p:spPr>
          <a:xfrm>
            <a:off x="48324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9" name="Google Shape;49;g3fa0a80fba9_1_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" name="Google Shape;50;g3fa0a80fba9_1_41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g3fa0a80fba9_1_41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fa0a80fba9_1_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" name="Google Shape;54;g3fa0a80fba9_1_47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>
                <a:solidFill>
                  <a:srgbClr val="004A9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g3fa0a80fba9_1_47"/>
          <p:cNvSpPr/>
          <p:nvPr/>
        </p:nvSpPr>
        <p:spPr>
          <a:xfrm>
            <a:off x="412310" y="976975"/>
            <a:ext cx="1195800" cy="723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fa0a80fba9_1_51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58" name="Google Shape;58;g3fa0a80fba9_1_51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g3fa0a80fba9_1_5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APTION_ONLY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a0a80fba9_1_55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2" name="Google Shape;62;g3fa0a80fba9_1_55"/>
          <p:cNvSpPr txBox="1">
            <a:spLocks noGrp="1"/>
          </p:cNvSpPr>
          <p:nvPr>
            <p:ph type="body" idx="1"/>
          </p:nvPr>
        </p:nvSpPr>
        <p:spPr>
          <a:xfrm>
            <a:off x="311700" y="468625"/>
            <a:ext cx="5998800" cy="43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50708"/>
              </a:buClr>
              <a:buSzPts val="4800"/>
              <a:buNone/>
              <a:defRPr sz="4800" b="1">
                <a:solidFill>
                  <a:srgbClr val="FFFFFF"/>
                </a:solidFill>
              </a:defRPr>
            </a:lvl1pPr>
          </a:lstStyle>
          <a:p>
            <a:endParaRPr/>
          </a:p>
        </p:txBody>
      </p:sp>
      <p:sp>
        <p:nvSpPr>
          <p:cNvPr id="63" name="Google Shape;63;g3fa0a80fba9_1_5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a0a80fba9_1_59"/>
          <p:cNvSpPr/>
          <p:nvPr/>
        </p:nvSpPr>
        <p:spPr>
          <a:xfrm>
            <a:off x="228600" y="228600"/>
            <a:ext cx="8686800" cy="46863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6" name="Google Shape;66;g3fa0a80fba9_1_59"/>
          <p:cNvSpPr txBox="1">
            <a:spLocks noGrp="1"/>
          </p:cNvSpPr>
          <p:nvPr>
            <p:ph type="title" hasCustomPrompt="1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EFE"/>
              </a:buClr>
              <a:buSzPts val="12000"/>
              <a:buNone/>
              <a:defRPr sz="12000">
                <a:solidFill>
                  <a:srgbClr val="FFFFFF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" name="Google Shape;67;g3fa0a80fba9_1_59"/>
          <p:cNvSpPr txBox="1">
            <a:spLocks noGrp="1"/>
          </p:cNvSpPr>
          <p:nvPr>
            <p:ph type="body" idx="1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FFFEFE"/>
              </a:buClr>
              <a:buSzPts val="1800"/>
              <a:buChar char="●"/>
              <a:defRPr>
                <a:solidFill>
                  <a:srgbClr val="FFFFFF"/>
                </a:solidFill>
              </a:defRPr>
            </a:lvl1pPr>
            <a:lvl2pPr marL="914400" lvl="1" indent="-3302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6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6pPr>
            <a:lvl7pPr marL="3200400" lvl="6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●"/>
              <a:defRPr>
                <a:solidFill>
                  <a:srgbClr val="FFFFFF"/>
                </a:solidFill>
              </a:defRPr>
            </a:lvl7pPr>
            <a:lvl8pPr marL="3657600" lvl="7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○"/>
              <a:defRPr>
                <a:solidFill>
                  <a:srgbClr val="FFFFFF"/>
                </a:solidFill>
              </a:defRPr>
            </a:lvl8pPr>
            <a:lvl9pPr marL="4114800" lvl="8" indent="-317500" algn="ctr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FFFEFE"/>
              </a:buClr>
              <a:buSzPts val="1400"/>
              <a:buChar char="■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g3fa0a80fba9_1_5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FFFFFF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fa0a80fba9_1_6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DEAF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1" name="Google Shape;71;g3fa0a80fba9_1_64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g3fa0a80fba9_1_64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3" name="Google Shape;73;g3fa0a80fba9_1_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_HEADER_1_1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a0a80fba9_1_6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ahoma"/>
              <a:buNone/>
            </a:pPr>
            <a:endParaRPr sz="1400" b="0" i="0" u="none" strike="noStrike" cap="none">
              <a:solidFill>
                <a:srgbClr val="000000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76" name="Google Shape;76;g3fa0a80fba9_1_69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>
                <a:solidFill>
                  <a:srgbClr val="004A98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g3fa0a80fba9_1_69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302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78" name="Google Shape;78;g3fa0a80fba9_1_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fa0a80fba9_1_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484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a0a80fba9_1_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0708"/>
              </a:buClr>
              <a:buSzPts val="3200"/>
              <a:buFont typeface="Tahoma"/>
              <a:buNone/>
              <a:defRPr sz="3200" b="1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ahoma"/>
              <a:buNone/>
              <a:defRPr sz="2800" b="0" i="0" u="none" strike="noStrike" cap="none">
                <a:solidFill>
                  <a:srgbClr val="004A9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7" name="Google Shape;7;g3fa0a80fba9_1_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2000"/>
              </a:lnSpc>
              <a:spcBef>
                <a:spcPts val="1300"/>
              </a:spcBef>
              <a:spcAft>
                <a:spcPts val="0"/>
              </a:spcAft>
              <a:buClr>
                <a:srgbClr val="050708"/>
              </a:buClr>
              <a:buSzPts val="1800"/>
              <a:buFont typeface="Tahoma"/>
              <a:buChar char="●"/>
              <a:defRPr sz="18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3302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600"/>
              <a:buFont typeface="Tahoma"/>
              <a:buChar char="○"/>
              <a:defRPr sz="16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3200400" marR="0" lvl="6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●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3657600" marR="0" lvl="7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○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4114800" marR="0" lvl="8" indent="-31750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Clr>
                <a:srgbClr val="050708"/>
              </a:buClr>
              <a:buSzPts val="1400"/>
              <a:buFont typeface="Tahoma"/>
              <a:buChar char="■"/>
              <a:defRPr sz="1400" b="0" i="0" u="none" strike="noStrike" cap="none">
                <a:solidFill>
                  <a:srgbClr val="050708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endParaRPr/>
          </a:p>
        </p:txBody>
      </p:sp>
      <p:sp>
        <p:nvSpPr>
          <p:cNvPr id="8" name="Google Shape;8;g3fa0a80fba9_1_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Tahoma"/>
              <a:buNone/>
              <a:defRPr sz="1000" b="0" i="0" u="none" strike="noStrike" cap="none">
                <a:solidFill>
                  <a:srgbClr val="5C666D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Tahoma"/>
        <a:defRPr sz="1400" b="0" i="0" u="none" strike="noStrike" cap="none" spc="0">
          <a:solidFill>
            <a:srgbClr val="000000"/>
          </a:solidFill>
          <a:latin typeface="Tahoma"/>
          <a:ea typeface="Tahoma"/>
          <a:cs typeface="Tahoma"/>
          <a:sym typeface="Tahom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.jp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ctrTitle"/>
          </p:nvPr>
        </p:nvSpPr>
        <p:spPr>
          <a:xfrm>
            <a:off x="718350" y="1149888"/>
            <a:ext cx="7250100" cy="17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sz="3400" dirty="0"/>
              <a:t>Where We Live Gets Under the Skin: </a:t>
            </a:r>
            <a:r>
              <a:rPr sz="2800" dirty="0" err="1"/>
              <a:t>NaNDA</a:t>
            </a:r>
            <a:r>
              <a:rPr sz="2800" dirty="0"/>
              <a:t> and Immune Aging</a:t>
            </a:r>
            <a:endParaRPr dirty="0"/>
          </a:p>
        </p:txBody>
      </p:sp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718350" y="2755206"/>
            <a:ext cx="7250100" cy="1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dirty="0" err="1"/>
              <a:t>GSA Annual Scientific Meeting Online Workshop Series 2026</a:t>
            </a:r>
            <a:endParaRPr dirty="0">
              <a:solidFill>
                <a:srgbClr val="E9F2F5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dirty="0"/>
              <a:t>Grace Noppert, PhD</a:t>
            </a:r>
            <a:endParaRPr dirty="0">
              <a:solidFill>
                <a:srgbClr val="E9F2F5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rPr dirty="0"/>
              <a:t>Research Associate Professor, Institute for Social Research</a:t>
            </a:r>
            <a:endParaRPr dirty="0">
              <a:solidFill>
                <a:srgbClr val="E9F2F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71500" y="4138612"/>
            <a:ext cx="3762375" cy="9525"/>
          </a:xfrm>
          <a:prstGeom prst="rect">
            <a:avLst/>
          </a:prstGeom>
          <a:solidFill>
            <a:srgbClr val="FFFFFF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0"/>
          <p:cNvSpPr txBox="1"/>
          <p:nvPr/>
        </p:nvSpPr>
        <p:spPr>
          <a:xfrm>
            <a:off x="571500" y="899287"/>
            <a:ext cx="3561230" cy="365082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975" kern="0" spc="117" dirty="0">
                <a:solidFill>
                  <a:srgbClr val="59D3EF"/>
                </a:solidFill>
                <a:latin typeface="Tahoma"/>
                <a:ea typeface="Tahoma"/>
                <a:cs typeface="Tahoma"/>
              </a:rPr>
              <a:t>GSA ANNUAL SCIENTIFIC MEETING ONLINE WORKSHOP SERIES 2026</a:t>
            </a:r>
            <a:endParaRPr lang="en-US" sz="975" dirty="0"/>
          </a:p>
        </p:txBody>
      </p:sp>
      <p:sp>
        <p:nvSpPr>
          <p:cNvPr id="4" name="Text 1"/>
          <p:cNvSpPr>
            <a:spLocks noGrp="1"/>
          </p:cNvSpPr>
          <p:nvPr>
            <p:ph type="title"/>
          </p:nvPr>
        </p:nvSpPr>
        <p:spPr>
          <a:xfrm>
            <a:off x="571500" y="1426294"/>
            <a:ext cx="356123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</a:rPr>
              <a:t>Where We Live Gets Under the Skin:</a:t>
            </a:r>
          </a:p>
        </p:txBody>
      </p:sp>
      <p:sp>
        <p:nvSpPr>
          <p:cNvPr id="5" name="Text 2"/>
          <p:cNvSpPr txBox="1"/>
          <p:nvPr/>
        </p:nvSpPr>
        <p:spPr>
          <a:xfrm>
            <a:off x="547688" y="2848980"/>
            <a:ext cx="4000500" cy="689520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lnSpc>
                <a:spcPct val="95135"/>
              </a:lnSpc>
              <a:buNone/>
            </a:pPr>
            <a:r>
              <a:rPr lang="en-US" sz="2400" dirty="0" err="1">
                <a:solidFill>
                  <a:schemeClr val="accent5"/>
                </a:solidFill>
              </a:rPr>
              <a:t>NaNDA</a:t>
            </a:r>
            <a:r>
              <a:rPr lang="en-US" sz="2400" dirty="0">
                <a:solidFill>
                  <a:schemeClr val="accent5"/>
                </a:solidFill>
              </a:rPr>
              <a:t> and Immune Aging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571500" y="4300538"/>
            <a:ext cx="4138612" cy="447711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Grace </a:t>
            </a:r>
            <a:r>
              <a:rPr lang="en-US" sz="1350" b="1" dirty="0" err="1">
                <a:solidFill>
                  <a:srgbClr val="FFFFFF"/>
                </a:solidFill>
                <a:latin typeface="Tahoma"/>
                <a:ea typeface="Tahoma"/>
                <a:cs typeface="Tahoma"/>
              </a:rPr>
              <a:t>Noppert</a:t>
            </a:r>
            <a:r>
              <a:rPr lang="en-US" sz="1350" b="1" dirty="0">
                <a:solidFill>
                  <a:srgbClr val="FFFFFF"/>
                </a:solidFill>
                <a:latin typeface="Tahoma"/>
                <a:ea typeface="Tahoma"/>
                <a:cs typeface="Tahoma"/>
              </a:rPr>
              <a:t>, PhD</a:t>
            </a:r>
          </a:p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</a:rPr>
              <a:t>Research Associate Professor</a:t>
            </a:r>
            <a:endParaRPr lang="en-US" sz="1350" dirty="0"/>
          </a:p>
        </p:txBody>
      </p:sp>
      <p:pic>
        <p:nvPicPr>
          <p:cNvPr id="2" name="Imag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523875"/>
            <a:ext cx="1543571" cy="266700"/>
          </a:xfrm>
          <a:prstGeom prst="rect">
            <a:avLst/>
          </a:prstGeom>
        </p:spPr>
      </p:pic>
      <p:pic>
        <p:nvPicPr>
          <p:cNvPr id="9" name="Imag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989" r="25989"/>
          <a:stretch/>
        </p:blipFill>
        <p:spPr>
          <a:xfrm>
            <a:off x="4762500" y="0"/>
            <a:ext cx="4381500" cy="5143500"/>
          </a:xfrm>
          <a:prstGeom prst="rect">
            <a:avLst/>
          </a:prstGeom>
        </p:spPr>
      </p:pic>
      <p:sp>
        <p:nvSpPr>
          <p:cNvPr id="10" name="Shape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62500" y="0"/>
            <a:ext cx="85725" cy="5143500"/>
          </a:xfrm>
          <a:prstGeom prst="rect">
            <a:avLst/>
          </a:prstGeom>
          <a:solidFill>
            <a:schemeClr val="accent5"/>
          </a:solidFill>
          <a:ln>
            <a:solidFill>
              <a:schemeClr val="accent5"/>
            </a:solidFill>
          </a:ln>
        </p:spPr>
        <p:txBody>
          <a:bodyPr/>
          <a:lstStyle/>
          <a:p>
            <a:endParaRPr lang="en-US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sz="3600" dirty="0"/>
              <a:t>Can the neighborhood you live in change </a:t>
            </a:r>
            <a:r>
              <a:rPr lang="en-US" sz="3600" dirty="0"/>
              <a:t>the way </a:t>
            </a:r>
            <a:r>
              <a:rPr sz="3600" dirty="0"/>
              <a:t>your immune system ages?</a:t>
            </a:r>
            <a:endParaRPr dirty="0"/>
          </a:p>
        </p:txBody>
      </p:sp>
      <p:sp>
        <p:nvSpPr>
          <p:cNvPr id="142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AAEA7F07-D6F7-4177-86ED-3C483D442869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3</a:t>
            </a:fld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>Why look at the immune system?</a:t>
            </a: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939500" y="1173342"/>
            <a:ext cx="3837000" cy="2796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 dirty="0"/>
              <a:t>Our immune system ages</a:t>
            </a:r>
            <a:endParaRPr lang="en-US" sz="1500"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 dirty="0"/>
              <a:t>An “older” immune system is less able to fight off new infections</a:t>
            </a:r>
            <a:r>
              <a:rPr lang="en-US" sz="1500" dirty="0"/>
              <a:t> and is associated with many chronic conditions 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 dirty="0"/>
              <a:t>Chronic stress and repeated infections may speed that aging up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 dirty="0"/>
              <a:t>Neighborhoods </a:t>
            </a:r>
            <a:r>
              <a:rPr lang="en-US" sz="1500" dirty="0"/>
              <a:t>may be a key source of stress and/or infectious diseases </a:t>
            </a:r>
            <a:endParaRPr dirty="0"/>
          </a:p>
        </p:txBody>
      </p:sp>
      <p:sp>
        <p:nvSpPr>
          <p:cNvPr id="106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3D7B58B7-4CCE-485C-92F8-5CCCCF45AE20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4</a:t>
            </a:fld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>Three signs of immune aging</a:t>
            </a:r>
          </a:p>
        </p:txBody>
      </p:sp>
      <p:sp>
        <p:nvSpPr>
          <p:cNvPr id="135" name="Rounded Rectangle 1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6256" y="123444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685800" y="1417320"/>
            <a:ext cx="502920" cy="5029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2057400"/>
            <a:ext cx="1760621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004A98"/>
                </a:solidFill>
                <a:latin typeface="Tahoma"/>
              </a:rPr>
              <a:t>CD4+ “helper” T cells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685800" y="2560320"/>
            <a:ext cx="2148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12B36"/>
                </a:solidFill>
                <a:latin typeface="Tahoma"/>
              </a:rPr>
              <a:t>The balance of worn, experienced cells to fresh, ready-for-anything (naïve) cells.</a:t>
            </a:r>
            <a:r>
              <a:rPr lang="en-US" sz="1200" b="0" dirty="0">
                <a:solidFill>
                  <a:srgbClr val="212B36"/>
                </a:solidFill>
                <a:latin typeface="Tahoma"/>
              </a:rPr>
              <a:t> Measured as a ratio of older: younger cells. </a:t>
            </a:r>
            <a:endParaRPr sz="1200" b="0" dirty="0">
              <a:solidFill>
                <a:srgbClr val="212B36"/>
              </a:solidFill>
              <a:latin typeface="Tahoma"/>
            </a:endParaRPr>
          </a:p>
        </p:txBody>
      </p:sp>
      <p:sp>
        <p:nvSpPr>
          <p:cNvPr id="139" name="Rounded Rectangle 1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337560" y="123444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3566160" y="1417320"/>
            <a:ext cx="502920" cy="5029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3566160" y="2057400"/>
            <a:ext cx="1757149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dirty="0">
                <a:solidFill>
                  <a:srgbClr val="004A98"/>
                </a:solidFill>
                <a:latin typeface="Tahoma"/>
              </a:rPr>
              <a:t>CD8+ “killer” T cells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566160" y="2560320"/>
            <a:ext cx="214884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0" dirty="0">
                <a:solidFill>
                  <a:srgbClr val="212B36"/>
                </a:solidFill>
                <a:latin typeface="Tahoma"/>
              </a:rPr>
              <a:t>The same balance: more experienced cells relative to naïve cells means an older profile.</a:t>
            </a:r>
            <a:r>
              <a:rPr lang="en-US" sz="1200" dirty="0">
                <a:solidFill>
                  <a:srgbClr val="212B36"/>
                </a:solidFill>
                <a:latin typeface="Tahoma"/>
              </a:rPr>
              <a:t> Measured as a ratio of older: younger cells. </a:t>
            </a:r>
            <a:endParaRPr sz="1200" b="0" dirty="0">
              <a:solidFill>
                <a:srgbClr val="212B36"/>
              </a:solidFill>
              <a:latin typeface="Tahoma"/>
            </a:endParaRPr>
          </a:p>
        </p:txBody>
      </p:sp>
      <p:sp>
        <p:nvSpPr>
          <p:cNvPr id="143" name="Rounded Rectangle 1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17920" y="1234440"/>
            <a:ext cx="2606040" cy="2743200"/>
          </a:xfrm>
          <a:prstGeom prst="roundRect">
            <a:avLst>
              <a:gd name="adj" fmla="val 6000"/>
            </a:avLst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6446520" y="1417320"/>
            <a:ext cx="502920" cy="5029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6446520" y="2057400"/>
            <a:ext cx="2148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4A98"/>
                </a:solidFill>
                <a:latin typeface="Tahoma"/>
              </a:rPr>
              <a:t>CMV antibodies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6446520" y="2343990"/>
            <a:ext cx="2281224" cy="11079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12B36"/>
                </a:solidFill>
                <a:latin typeface="Tahoma"/>
              </a:rPr>
              <a:t>CMV is a common virus that stays in the body for life. Higher antibody levels suggest the immune system is working harder to keep it in check.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5C666D"/>
                </a:solidFill>
                <a:latin typeface="Tahoma"/>
              </a:rPr>
              <a:t>For all three, higher values point to an “older” immune profile.</a:t>
            </a:r>
          </a:p>
        </p:txBody>
      </p:sp>
      <p:sp>
        <p:nvSpPr>
          <p:cNvPr id="148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6ED8469-E1E2-421F-9CA9-810FBC538BB6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5</a:t>
            </a:fld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sz="2600"/>
              <a:t>The data: Health and Retirement Study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/>
              <a:t>Nationally representative study of Americans over 50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/>
              <a:t>Running since 1992, with follow-up every two years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/>
              <a:t>More than 20,000 participants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/>
              <a:t>In 2016, blood samples measured immune function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/>
              <a:t>We also knew where people lived in 2016</a:t>
            </a:r>
            <a:endParaRPr/>
          </a:p>
        </p:txBody>
      </p:sp>
      <p:pic>
        <p:nvPicPr>
          <p:cNvPr id="100" name="Picture 99" descr="Health and Retirement Study (HRS)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3840480"/>
            <a:ext cx="1828800" cy="356616"/>
          </a:xfrm>
          <a:prstGeom prst="rect">
            <a:avLst/>
          </a:prstGeom>
        </p:spPr>
      </p:pic>
      <p:sp>
        <p:nvSpPr>
          <p:cNvPr id="101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CCD2BC72-D843-4F1A-809F-6819A3C0E5DA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6</a:t>
            </a:fld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"/>
          <p:cNvSpPr txBox="1">
            <a:spLocks noGrp="1"/>
          </p:cNvSpPr>
          <p:nvPr>
            <p:ph type="title"/>
          </p:nvPr>
        </p:nvSpPr>
        <p:spPr>
          <a:xfrm>
            <a:off x="970200" y="1116425"/>
            <a:ext cx="7203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</a:pPr>
            <a:r>
              <a:t>9,000+</a:t>
            </a:r>
          </a:p>
        </p:txBody>
      </p:sp>
      <p:sp>
        <p:nvSpPr>
          <p:cNvPr id="153" name="Google Shape;153;p11"/>
          <p:cNvSpPr txBox="1">
            <a:spLocks noGrp="1"/>
          </p:cNvSpPr>
          <p:nvPr>
            <p:ph type="body" idx="1"/>
          </p:nvPr>
        </p:nvSpPr>
        <p:spPr>
          <a:xfrm>
            <a:off x="970200" y="3152225"/>
            <a:ext cx="7203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2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sz="1800"/>
              <a:t>older adults in each analysis with both immune data and a neighborhood we could link to NaNDA</a:t>
            </a:r>
            <a:endParaRPr/>
          </a:p>
        </p:txBody>
      </p:sp>
      <p:sp>
        <p:nvSpPr>
          <p:cNvPr id="154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BB651323-1A62-4924-85BA-AAD61C9E6D80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7</a:t>
            </a:fld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>How the NaNDA link works</a:t>
            </a:r>
          </a:p>
        </p:txBody>
      </p:sp>
      <p:sp>
        <p:nvSpPr>
          <p:cNvPr id="135" name="Oval 134"/>
          <p:cNvSpPr/>
          <p:nvPr/>
        </p:nvSpPr>
        <p:spPr>
          <a:xfrm>
            <a:off x="1005840" y="1280160"/>
            <a:ext cx="731520" cy="7315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136" name="Right Arrow 1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74519" y="1508760"/>
            <a:ext cx="1124712" cy="274320"/>
          </a:xfrm>
          <a:prstGeom prst="rightArrow">
            <a:avLst/>
          </a:prstGeom>
          <a:solidFill>
            <a:srgbClr val="CD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TextBox 136"/>
          <p:cNvSpPr txBox="1"/>
          <p:nvPr/>
        </p:nvSpPr>
        <p:spPr>
          <a:xfrm>
            <a:off x="457200" y="2194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4A98"/>
                </a:solidFill>
                <a:latin typeface="Tahoma"/>
              </a:rPr>
              <a:t>Start with people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457200" y="26974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12B36"/>
                </a:solidFill>
                <a:latin typeface="Tahoma"/>
              </a:rPr>
              <a:t>HRS participants and their 2016 home address (kept confidential)</a:t>
            </a:r>
          </a:p>
        </p:txBody>
      </p:sp>
      <p:sp>
        <p:nvSpPr>
          <p:cNvPr id="139" name="Oval 138"/>
          <p:cNvSpPr/>
          <p:nvPr/>
        </p:nvSpPr>
        <p:spPr>
          <a:xfrm>
            <a:off x="3136392" y="1280160"/>
            <a:ext cx="731520" cy="7315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40" name="Right Arrow 1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05072" y="1508760"/>
            <a:ext cx="1124712" cy="274320"/>
          </a:xfrm>
          <a:prstGeom prst="rightArrow">
            <a:avLst/>
          </a:prstGeom>
          <a:solidFill>
            <a:srgbClr val="CD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2587752" y="2194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4A98"/>
                </a:solidFill>
                <a:latin typeface="Tahoma"/>
              </a:rPr>
              <a:t>Find the neighborhood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2587752" y="26974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212B36"/>
                </a:solidFill>
                <a:latin typeface="Tahoma"/>
              </a:rPr>
              <a:t>Each address falls in a census tract: a small area of a few thousand residents</a:t>
            </a:r>
          </a:p>
        </p:txBody>
      </p:sp>
      <p:sp>
        <p:nvSpPr>
          <p:cNvPr id="143" name="Oval 142"/>
          <p:cNvSpPr/>
          <p:nvPr/>
        </p:nvSpPr>
        <p:spPr>
          <a:xfrm>
            <a:off x="5266944" y="1280160"/>
            <a:ext cx="731520" cy="731520"/>
          </a:xfrm>
          <a:prstGeom prst="ellipse">
            <a:avLst/>
          </a:prstGeom>
          <a:solidFill>
            <a:srgbClr val="1D9A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44" name="Right Arrow 1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35624" y="1508760"/>
            <a:ext cx="1124712" cy="274320"/>
          </a:xfrm>
          <a:prstGeom prst="rightArrow">
            <a:avLst/>
          </a:prstGeom>
          <a:solidFill>
            <a:srgbClr val="CDEA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TextBox 144"/>
          <p:cNvSpPr txBox="1"/>
          <p:nvPr/>
        </p:nvSpPr>
        <p:spPr>
          <a:xfrm>
            <a:off x="4718304" y="2194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4A98"/>
                </a:solidFill>
                <a:latin typeface="Tahoma"/>
              </a:rPr>
              <a:t>Match to NaNDA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718304" y="26974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 dirty="0">
                <a:solidFill>
                  <a:srgbClr val="212B36"/>
                </a:solidFill>
                <a:latin typeface="Tahoma"/>
              </a:rPr>
              <a:t>Join on the tract ID to pull ready-made neighborhood measures</a:t>
            </a:r>
          </a:p>
        </p:txBody>
      </p:sp>
      <p:sp>
        <p:nvSpPr>
          <p:cNvPr id="147" name="Oval 146"/>
          <p:cNvSpPr/>
          <p:nvPr/>
        </p:nvSpPr>
        <p:spPr>
          <a:xfrm>
            <a:off x="7397496" y="1280160"/>
            <a:ext cx="731520" cy="731520"/>
          </a:xfrm>
          <a:prstGeom prst="ellipse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6848856" y="2194560"/>
            <a:ext cx="18288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4A98"/>
                </a:solidFill>
                <a:latin typeface="Tahoma"/>
              </a:rPr>
              <a:t>Analyze together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6848856" y="269748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0">
                <a:solidFill>
                  <a:srgbClr val="212B36"/>
                </a:solidFill>
                <a:latin typeface="Tahoma"/>
              </a:rPr>
              <a:t>Each person’s blood data now sits next to their neighborhood data</a:t>
            </a:r>
          </a:p>
        </p:txBody>
      </p:sp>
      <p:sp>
        <p:nvSpPr>
          <p:cNvPr id="150" name="Rounded Rectangle 149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20000"/>
            </a:avLst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0">
                <a:solidFill>
                  <a:srgbClr val="004A98"/>
                </a:solidFill>
                <a:latin typeface="Tahoma"/>
              </a:rPr>
              <a:t>The census tract ID is the bridge: one shared column links a health study to NaNDA.</a:t>
            </a:r>
          </a:p>
        </p:txBody>
      </p:sp>
      <p:sp>
        <p:nvSpPr>
          <p:cNvPr id="151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4596D689-23B7-4FE1-BBC8-C5D6A94C9112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8</a:t>
            </a:fld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>What we pulled from NaNDA</a:t>
            </a:r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1"/>
          </p:nvPr>
        </p:nvSpPr>
        <p:spPr>
          <a:xfrm>
            <a:off x="3117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500" b="1" dirty="0">
                <a:solidFill>
                  <a:srgbClr val="004A98"/>
                </a:solidFill>
              </a:rPr>
              <a:t>Neighborhood disadvantage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living below the poverty line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unemployed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receiving public assistance or food stamps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female-headed households with childre</a:t>
            </a:r>
            <a:r>
              <a:rPr lang="en-US" sz="1400" dirty="0"/>
              <a:t>n</a:t>
            </a:r>
            <a:endParaRPr dirty="0"/>
          </a:p>
        </p:txBody>
      </p:sp>
      <p:sp>
        <p:nvSpPr>
          <p:cNvPr id="128" name="Google Shape;128;p7"/>
          <p:cNvSpPr txBox="1">
            <a:spLocks noGrp="1"/>
          </p:cNvSpPr>
          <p:nvPr>
            <p:ph type="body" idx="2"/>
          </p:nvPr>
        </p:nvSpPr>
        <p:spPr>
          <a:xfrm>
            <a:off x="48324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500" b="1" dirty="0">
                <a:solidFill>
                  <a:srgbClr val="004A98"/>
                </a:solidFill>
              </a:rPr>
              <a:t>Neighborhood affluence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households earning over $75K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in professional or managerial jobs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% with a bachelor’s degree or higher</a:t>
            </a:r>
            <a:endParaRPr dirty="0"/>
          </a:p>
          <a:p>
            <a:pPr marL="0" lvl="0" indent="0" algn="l" rtl="0">
              <a:lnSpc>
                <a:spcPct val="112000"/>
              </a:lnSpc>
              <a:spcBef>
                <a:spcPts val="1400"/>
              </a:spcBef>
              <a:spcAft>
                <a:spcPts val="0"/>
              </a:spcAft>
              <a:buSzPts val="1800"/>
              <a:buNone/>
            </a:pPr>
            <a:r>
              <a:rPr sz="1500" b="1" dirty="0">
                <a:solidFill>
                  <a:srgbClr val="004A98"/>
                </a:solidFill>
              </a:rPr>
              <a:t>Also: population density</a:t>
            </a:r>
            <a:endParaRPr dirty="0"/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400" dirty="0"/>
              <a:t>How crowded the neighborhood is</a:t>
            </a:r>
            <a:endParaRPr dirty="0"/>
          </a:p>
        </p:txBody>
      </p:sp>
      <p:sp>
        <p:nvSpPr>
          <p:cNvPr id="129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7FE99AAD-2679-4DFB-9714-A03B145250C7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9</a:t>
            </a:fld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>What we found: CMV antibodies</a:t>
            </a:r>
          </a:p>
        </p:txBody>
      </p:sp>
      <p:pic>
        <p:nvPicPr>
          <p:cNvPr id="135" name="Picture 134" descr="Forest plot in two panels showing how CMV antibody levels differ by neighborhood, across five models that add controls one step at a time: 1, age and gender; 2, plus income and education; 3, plus race/ethnicity; 4, plus health behaviors and conditions; 5, plus population density. Left panel, more neighborhood disadvantage: all five estimates sit to the right of the no-difference line, meaning higher antibodies. The estimate is largest in model 1, shrinks in models 2 and 3, then holds steady through model 5. Right panel, more neighborhood affluence: all five estimates sit to the left of the line, meaning lower antibodies, and move closer to zero as controls are added. All ten confidence intervals exclude zero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7863840" cy="283464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4A98"/>
                </a:solidFill>
                <a:latin typeface="Tahoma"/>
              </a:rPr>
              <a:t>More disadvantage → higher CMV antibodies. More affluence → lower. </a:t>
            </a:r>
          </a:p>
          <a:p>
            <a:pPr algn="l"/>
            <a:r>
              <a:rPr sz="1100" b="0">
                <a:solidFill>
                  <a:srgbClr val="212B36"/>
                </a:solidFill>
                <a:latin typeface="Tahoma"/>
              </a:rPr>
              <a:t>The link shrinks once we account for people’s own circumstances, but it never goes away.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E82EF8B8-A08B-44E1-8A38-B02F36CF3408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10</a:t>
            </a:fld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t>Where the signal showed up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3246120" y="118872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004A98"/>
                </a:solidFill>
                <a:latin typeface="Tahoma"/>
              </a:rPr>
              <a:t>More disadvantage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5989320" y="1188720"/>
            <a:ext cx="2697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1D9ADD"/>
                </a:solidFill>
                <a:latin typeface="Tahoma"/>
              </a:rPr>
              <a:t>More affluence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457200" y="1645920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12B36"/>
                </a:solidFill>
                <a:latin typeface="Tahoma"/>
              </a:rPr>
              <a:t>CD4+ T cells: experienced vs. naïve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3246120" y="1645920"/>
            <a:ext cx="2468879" cy="603504"/>
          </a:xfrm>
          <a:prstGeom prst="rect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▲ Higher: older profile*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989320" y="1645920"/>
            <a:ext cx="2606040" cy="60350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5B6670"/>
                </a:solidFill>
                <a:latin typeface="Tahoma"/>
              </a:rPr>
              <a:t>No clear difference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457200" y="2359152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12B36"/>
                </a:solidFill>
                <a:latin typeface="Tahoma"/>
              </a:rPr>
              <a:t>CD8+ T cells: experienced vs. naïve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246120" y="2359152"/>
            <a:ext cx="2468879" cy="60350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5B6670"/>
                </a:solidFill>
                <a:latin typeface="Tahoma"/>
              </a:rPr>
              <a:t>No clear difference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989320" y="2359152"/>
            <a:ext cx="2606040" cy="603504"/>
          </a:xfrm>
          <a:prstGeom prst="rect">
            <a:avLst/>
          </a:prstGeom>
          <a:solidFill>
            <a:srgbClr val="F1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5B6670"/>
                </a:solidFill>
                <a:latin typeface="Tahoma"/>
              </a:rPr>
              <a:t>No clear difference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57200" y="3072384"/>
            <a:ext cx="2606040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1">
                <a:solidFill>
                  <a:srgbClr val="212B36"/>
                </a:solidFill>
                <a:latin typeface="Tahoma"/>
              </a:rPr>
              <a:t>CMV antibodies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3246120" y="3072384"/>
            <a:ext cx="2468879" cy="603504"/>
          </a:xfrm>
          <a:prstGeom prst="rect">
            <a:avLst/>
          </a:prstGeom>
          <a:solidFill>
            <a:srgbClr val="004A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Tahoma"/>
              </a:rPr>
              <a:t>▲ Higher: older profile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989320" y="3072384"/>
            <a:ext cx="2606040" cy="603504"/>
          </a:xfrm>
          <a:prstGeom prst="rect">
            <a:avLst/>
          </a:prstGeom>
          <a:solidFill>
            <a:srgbClr val="E6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200" b="1">
                <a:solidFill>
                  <a:srgbClr val="004A98"/>
                </a:solidFill>
                <a:latin typeface="Tahoma"/>
              </a:rPr>
              <a:t>▼ Lower: younger profile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457200" y="388620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dirty="0">
                <a:solidFill>
                  <a:srgbClr val="212B36"/>
                </a:solidFill>
                <a:latin typeface="Tahoma"/>
              </a:rPr>
              <a:t>Both CMV links held after accounting for personal income, education, race/ethnicity, health, and population density.</a:t>
            </a:r>
          </a:p>
          <a:p>
            <a:pPr algn="l">
              <a:spcBef>
                <a:spcPts val="600"/>
              </a:spcBef>
            </a:pPr>
            <a:r>
              <a:rPr sz="1050" b="0" dirty="0">
                <a:solidFill>
                  <a:srgbClr val="5B6670"/>
                </a:solidFill>
                <a:latin typeface="Tahoma"/>
              </a:rPr>
              <a:t>*Held after accounting for income and education; weakened once race/ethnicity was added.</a:t>
            </a:r>
          </a:p>
        </p:txBody>
      </p:sp>
      <p:sp>
        <p:nvSpPr>
          <p:cNvPr id="14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BE0E2F7D-6D40-4732-BE00-F01D777B4240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11</a:t>
            </a:fld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sz="3400" dirty="0"/>
              <a:t>Where we live </a:t>
            </a:r>
            <a:r>
              <a:rPr lang="en-US" sz="3400" dirty="0"/>
              <a:t>becomes</a:t>
            </a:r>
            <a:r>
              <a:rPr sz="3400" dirty="0"/>
              <a:t> biologically embedded. It shows up in our immune systems.</a:t>
            </a:r>
            <a:endParaRPr dirty="0"/>
          </a:p>
        </p:txBody>
      </p:sp>
      <p:sp>
        <p:nvSpPr>
          <p:cNvPr id="142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4A167E8B-B7F5-41D1-A583-947248C30B01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12</a:t>
            </a:fld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rPr sz="2800"/>
              <a:t>Why NaNDA made this possible</a:t>
            </a:r>
            <a:endParaRPr/>
          </a:p>
        </p:txBody>
      </p:sp>
      <p:sp>
        <p:nvSpPr>
          <p:cNvPr id="99" name="Google Shape;99;p3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Ready-made neighborhood measures for the whole U.S.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Links to any study with a geographic ID, like a census tract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Consistent definitions, so results can be compared across studies</a:t>
            </a:r>
            <a:endParaRPr dirty="0"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400" dirty="0"/>
              <a:t>Lets health researchers </a:t>
            </a:r>
            <a:r>
              <a:rPr lang="en-US" sz="1400" dirty="0"/>
              <a:t>examine whether where you live shows up in how you age</a:t>
            </a:r>
            <a:endParaRPr dirty="0"/>
          </a:p>
        </p:txBody>
      </p:sp>
      <p:sp>
        <p:nvSpPr>
          <p:cNvPr id="100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0B908D70-6DF7-429A-B0B1-38AF02DC4ED4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13</a:t>
            </a:fld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>
            <a:spLocks noGrp="1"/>
          </p:cNvSpPr>
          <p:nvPr>
            <p:ph type="ctrTitle"/>
          </p:nvPr>
        </p:nvSpPr>
        <p:spPr>
          <a:xfrm>
            <a:off x="718350" y="1149888"/>
            <a:ext cx="7250100" cy="175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>Thank you! Questions?</a:t>
            </a:r>
          </a:p>
        </p:txBody>
      </p:sp>
      <p:sp>
        <p:nvSpPr>
          <p:cNvPr id="93" name="Google Shape;93;p2"/>
          <p:cNvSpPr txBox="1">
            <a:spLocks noGrp="1"/>
          </p:cNvSpPr>
          <p:nvPr>
            <p:ph type="subTitle" idx="1"/>
          </p:nvPr>
        </p:nvSpPr>
        <p:spPr>
          <a:xfrm>
            <a:off x="718350" y="2755206"/>
            <a:ext cx="7250100" cy="15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t>Grace Noppert, PhD</a:t>
            </a:r>
            <a:endParaRPr>
              <a:solidFill>
                <a:srgbClr val="E9F2F5"/>
              </a:solidFill>
            </a:endParaRPr>
          </a:p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</a:pPr>
            <a:r>
              <a:t>gnoppert@umich.edu</a:t>
            </a:r>
            <a:endParaRPr>
              <a:solidFill>
                <a:srgbClr val="E9F2F5"/>
              </a:solidFill>
            </a:endParaRPr>
          </a:p>
        </p:txBody>
      </p:sp>
      <p:sp>
        <p:nvSpPr>
          <p:cNvPr id="94" name="Slide Number"/>
          <p:cNvSpPr txBox="1"/>
          <p:nvPr/>
        </p:nvSpPr>
        <p:spPr>
          <a:xfrm>
            <a:off x="8420000" y="4640000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6634BBA8-E57E-4607-BF19-9063FB515DDD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14</a:t>
            </a:fld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"/>
          <p:cNvSpPr txBox="1">
            <a:spLocks noGrp="1"/>
          </p:cNvSpPr>
          <p:nvPr>
            <p:ph type="title"/>
          </p:nvPr>
        </p:nvSpPr>
        <p:spPr>
          <a:xfrm>
            <a:off x="265500" y="1379400"/>
            <a:ext cx="40452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</a:pPr>
            <a:r>
              <a:t>Backup slides</a:t>
            </a:r>
          </a:p>
        </p:txBody>
      </p:sp>
      <p:sp>
        <p:nvSpPr>
          <p:cNvPr id="105" name="Google Shape;105;p4"/>
          <p:cNvSpPr txBox="1">
            <a:spLocks noGrp="1"/>
          </p:cNvSpPr>
          <p:nvPr>
            <p:ph type="body" idx="1"/>
          </p:nvPr>
        </p:nvSpPr>
        <p:spPr>
          <a:xfrm>
            <a:off x="4939500" y="1379400"/>
            <a:ext cx="3837000" cy="23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/>
              <a:t>Detailed results: CD4+ T cells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/>
              <a:t>Detailed results: CD8+ T cells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500"/>
              <a:t>Who was in the study</a:t>
            </a:r>
            <a:endParaRPr/>
          </a:p>
        </p:txBody>
      </p:sp>
      <p:sp>
        <p:nvSpPr>
          <p:cNvPr id="106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90131070-A75B-4BDD-914B-26D27BF51615}" type="slidenum">
              <a:rPr lang="en-US" sz="900" dirty="0">
                <a:solidFill>
                  <a:srgbClr val="DDEBF7"/>
                </a:solidFill>
                <a:latin typeface="Tahoma"/>
                <a:cs typeface="Tahoma"/>
              </a:rPr>
              <a:t>15</a:t>
            </a:fld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your breakout</a:t>
            </a:r>
          </a:p>
        </p:txBody>
      </p:sp>
      <p:sp>
        <p:nvSpPr>
          <p:cNvPr id="3" name="Reconvene time"/>
          <p:cNvSpPr/>
          <p:nvPr/>
        </p:nvSpPr>
        <p:spPr>
          <a:xfrm>
            <a:off x="6431691" y="400001"/>
            <a:ext cx="2300000" cy="340000"/>
          </a:xfrm>
          <a:prstGeom prst="roundRect">
            <a:avLst>
              <a:gd name="adj" fmla="val 50000"/>
            </a:avLst>
          </a:prstGeom>
          <a:solidFill>
            <a:srgbClr val="E6F4FC"/>
          </a:solidFill>
          <a:ln>
            <a:noFill/>
          </a:ln>
        </p:spPr>
        <p:txBody>
          <a:bodyPr wrap="square" tIns="0" bIns="0" rtlCol="0" anchor="ctr"/>
          <a:lstStyle/>
          <a:p>
            <a:pPr algn="ctr"/>
            <a:r>
              <a:rPr sz="1200" b="1">
                <a:solidFill>
                  <a:srgbClr val="004A98"/>
                </a:solidFill>
              </a:rPr>
              <a:t>Back together at 1:45</a:t>
            </a:r>
          </a:p>
        </p:txBody>
      </p:sp>
      <p:sp>
        <p:nvSpPr>
          <p:cNvPr id="4" name="Beginner track card"/>
          <p:cNvSpPr/>
          <p:nvPr/>
        </p:nvSpPr>
        <p:spPr>
          <a:xfrm>
            <a:off x="412311" y="1170001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r>
              <a:rPr sz="1000" b="1" spc="100">
                <a:solidFill>
                  <a:srgbClr val="004A98"/>
                </a:solidFill>
              </a:rPr>
              <a:t>BEGINNER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004A98"/>
                </a:solidFill>
              </a:rPr>
              <a:t>Choosing Your First NaNDA Dataset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3333"/>
                </a:solidFill>
              </a:rPr>
              <a:t>Pick this if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200">
                <a:solidFill>
                  <a:srgbClr val="103333"/>
                </a:solidFill>
              </a:rPr>
              <a:t>You are new to neighborhood data, or want help finding the right dataset.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3333"/>
                </a:solidFill>
              </a:rPr>
              <a:t>You'll leave with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200">
                <a:solidFill>
                  <a:srgbClr val="103333"/>
                </a:solidFill>
              </a:rPr>
              <a:t>A NaNDA dataset matched to your geography and years.</a:t>
            </a:r>
          </a:p>
        </p:txBody>
      </p:sp>
      <p:sp>
        <p:nvSpPr>
          <p:cNvPr id="5" name="Beginner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2311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sz="1800"/>
          </a:p>
        </p:txBody>
      </p:sp>
      <p:sp>
        <p:nvSpPr>
          <p:cNvPr id="6" name="Intermediate track card"/>
          <p:cNvSpPr/>
          <p:nvPr/>
        </p:nvSpPr>
        <p:spPr>
          <a:xfrm>
            <a:off x="4686300" y="1170001"/>
            <a:ext cx="4045390" cy="2120000"/>
          </a:xfrm>
          <a:prstGeom prst="rect">
            <a:avLst/>
          </a:prstGeom>
          <a:solidFill>
            <a:srgbClr val="EEF4FA"/>
          </a:solidFill>
          <a:ln>
            <a:noFill/>
          </a:ln>
        </p:spPr>
        <p:txBody>
          <a:bodyPr wrap="square" lIns="173736" tIns="173736" rIns="173736" bIns="91440" rtlCol="0" anchor="t"/>
          <a:lstStyle/>
          <a:p>
            <a:r>
              <a:rPr sz="1000" b="1" spc="100">
                <a:solidFill>
                  <a:srgbClr val="004A98"/>
                </a:solidFill>
              </a:rPr>
              <a:t>INTERMEDIATE</a:t>
            </a:r>
          </a:p>
          <a:p>
            <a:pPr>
              <a:spcBef>
                <a:spcPts val="300"/>
              </a:spcBef>
            </a:pPr>
            <a:r>
              <a:rPr b="1">
                <a:solidFill>
                  <a:srgbClr val="004A98"/>
                </a:solidFill>
              </a:rPr>
              <a:t>Linking NaNDA with Your Data</a:t>
            </a:r>
          </a:p>
          <a:p>
            <a:pPr>
              <a:spcBef>
                <a:spcPts val="900"/>
              </a:spcBef>
            </a:pPr>
            <a:r>
              <a:rPr sz="1100" b="1">
                <a:solidFill>
                  <a:srgbClr val="103333"/>
                </a:solidFill>
              </a:rPr>
              <a:t>Pick this if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200">
                <a:solidFill>
                  <a:srgbClr val="103333"/>
                </a:solidFill>
              </a:rPr>
              <a:t>Your data have addresses, ZIP codes, or census tracts to merge with NaNDA.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103333"/>
                </a:solidFill>
              </a:rPr>
              <a:t>You'll leave with</a:t>
            </a:r>
          </a:p>
          <a:p>
            <a:pPr>
              <a:lnSpc>
                <a:spcPct val="108000"/>
              </a:lnSpc>
              <a:spcBef>
                <a:spcPts val="200"/>
              </a:spcBef>
            </a:pPr>
            <a:r>
              <a:rPr sz="1200">
                <a:solidFill>
                  <a:srgbClr val="103333"/>
                </a:solidFill>
              </a:rPr>
              <a:t>A merge you ran on practice data, plus code you can reuse.</a:t>
            </a:r>
          </a:p>
        </p:txBody>
      </p:sp>
      <p:sp>
        <p:nvSpPr>
          <p:cNvPr id="7" name="Intermediate card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86300" y="1170000"/>
            <a:ext cx="4045390" cy="4572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sz="1800"/>
          </a:p>
        </p:txBody>
      </p:sp>
      <p:sp>
        <p:nvSpPr>
          <p:cNvPr id="8" name="How to join"/>
          <p:cNvSpPr/>
          <p:nvPr/>
        </p:nvSpPr>
        <p:spPr>
          <a:xfrm>
            <a:off x="412311" y="3420000"/>
            <a:ext cx="8319380" cy="720000"/>
          </a:xfrm>
          <a:prstGeom prst="rect">
            <a:avLst/>
          </a:prstGeom>
          <a:solidFill>
            <a:srgbClr val="004A98"/>
          </a:solidFill>
          <a:ln>
            <a:noFill/>
          </a:ln>
        </p:spPr>
        <p:txBody>
          <a:bodyPr wrap="square" lIns="173736" tIns="0" rIns="0" bIns="0" rtlCol="0" anchor="ctr"/>
          <a:lstStyle/>
          <a:p>
            <a:r>
              <a:rPr sz="1300" b="1">
                <a:solidFill>
                  <a:srgbClr val="FFFFFF"/>
                </a:solidFill>
              </a:rPr>
              <a:t>How to join</a:t>
            </a:r>
          </a:p>
        </p:txBody>
      </p:sp>
      <p:sp>
        <p:nvSpPr>
          <p:cNvPr id="9" name="Step 1 number"/>
          <p:cNvSpPr/>
          <p:nvPr/>
        </p:nvSpPr>
        <p:spPr>
          <a:xfrm>
            <a:off x="186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04A98"/>
                </a:solidFill>
              </a:rPr>
              <a:t>1</a:t>
            </a:r>
          </a:p>
        </p:txBody>
      </p:sp>
      <p:sp>
        <p:nvSpPr>
          <p:cNvPr id="10" name="Step 1"/>
          <p:cNvSpPr txBox="1"/>
          <p:nvPr/>
        </p:nvSpPr>
        <p:spPr>
          <a:xfrm>
            <a:off x="2273791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FFFFFF"/>
                </a:solidFill>
              </a:rPr>
              <a:t>Click </a:t>
            </a:r>
            <a:r>
              <a:rPr sz="1100" b="1">
                <a:solidFill>
                  <a:srgbClr val="FFFFFF"/>
                </a:solidFill>
              </a:rPr>
              <a:t>Breakout Rooms</a:t>
            </a:r>
            <a:r>
              <a:rPr sz="1100">
                <a:solidFill>
                  <a:srgbClr val="FFFFFF"/>
                </a:solidFill>
              </a:rPr>
              <a:t> in your Zoom toolbar. It may be under </a:t>
            </a:r>
            <a:r>
              <a:rPr sz="1100" b="1">
                <a:solidFill>
                  <a:srgbClr val="FFFFFF"/>
                </a:solidFill>
              </a:rPr>
              <a:t>More</a:t>
            </a:r>
            <a:r>
              <a:rPr sz="11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1" name="Step 2 number"/>
          <p:cNvSpPr/>
          <p:nvPr/>
        </p:nvSpPr>
        <p:spPr>
          <a:xfrm>
            <a:off x="4192310" y="3619980"/>
            <a:ext cx="320040" cy="320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/>
            <a:r>
              <a:rPr sz="1200" b="1">
                <a:solidFill>
                  <a:srgbClr val="004A98"/>
                </a:solidFill>
              </a:rPr>
              <a:t>2</a:t>
            </a:r>
          </a:p>
        </p:txBody>
      </p:sp>
      <p:sp>
        <p:nvSpPr>
          <p:cNvPr id="12" name="Step 2"/>
          <p:cNvSpPr txBox="1"/>
          <p:nvPr/>
        </p:nvSpPr>
        <p:spPr>
          <a:xfrm>
            <a:off x="4603791" y="3420000"/>
            <a:ext cx="178136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8000"/>
              </a:lnSpc>
            </a:pPr>
            <a:r>
              <a:rPr sz="1100">
                <a:solidFill>
                  <a:srgbClr val="FFFFFF"/>
                </a:solidFill>
              </a:rPr>
              <a:t>Choose </a:t>
            </a:r>
            <a:r>
              <a:rPr sz="1100" b="1">
                <a:solidFill>
                  <a:srgbClr val="FFFFFF"/>
                </a:solidFill>
              </a:rPr>
              <a:t>Beginner</a:t>
            </a:r>
            <a:r>
              <a:rPr sz="1100">
                <a:solidFill>
                  <a:srgbClr val="FFFFFF"/>
                </a:solidFill>
              </a:rPr>
              <a:t> or </a:t>
            </a:r>
            <a:r>
              <a:rPr sz="1100" b="1">
                <a:solidFill>
                  <a:srgbClr val="FFFFFF"/>
                </a:solidFill>
              </a:rPr>
              <a:t>Intermediate</a:t>
            </a:r>
            <a:r>
              <a:rPr sz="1100">
                <a:solidFill>
                  <a:srgbClr val="FFFFFF"/>
                </a:solidFill>
              </a:rPr>
              <a:t>, then click </a:t>
            </a:r>
            <a:r>
              <a:rPr sz="1100" b="1">
                <a:solidFill>
                  <a:srgbClr val="FFFFFF"/>
                </a:solidFill>
              </a:rPr>
              <a:t>Join</a:t>
            </a:r>
            <a:r>
              <a:rPr sz="110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13" name="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2310" y="3570000"/>
            <a:ext cx="19050" cy="420000"/>
          </a:xfrm>
          <a:prstGeom prst="rect">
            <a:avLst/>
          </a:prstGeom>
          <a:solidFill>
            <a:srgbClr val="1D9ADD"/>
          </a:solidFill>
          <a:ln>
            <a:noFill/>
          </a:ln>
        </p:spPr>
        <p:txBody>
          <a:bodyPr wrap="square" rtlCol="0" anchor="ctr"/>
          <a:lstStyle/>
          <a:p>
            <a:pPr algn="ctr"/>
            <a:endParaRPr sz="1800"/>
          </a:p>
        </p:txBody>
      </p:sp>
      <p:sp>
        <p:nvSpPr>
          <p:cNvPr id="14" name="Tip"/>
          <p:cNvSpPr txBox="1"/>
          <p:nvPr/>
        </p:nvSpPr>
        <p:spPr>
          <a:xfrm>
            <a:off x="6705190" y="3420000"/>
            <a:ext cx="1889340" cy="720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>
              <a:lnSpc>
                <a:spcPct val="108000"/>
              </a:lnSpc>
            </a:pPr>
            <a:r>
              <a:rPr sz="1100" b="1">
                <a:solidFill>
                  <a:srgbClr val="FFFFFF"/>
                </a:solidFill>
              </a:rPr>
              <a:t>Not sure? </a:t>
            </a:r>
            <a:r>
              <a:rPr sz="1100">
                <a:solidFill>
                  <a:srgbClr val="FFFFFF"/>
                </a:solidFill>
              </a:rPr>
              <a:t>Start with Beginner. You can switch rooms any time.</a:t>
            </a:r>
          </a:p>
        </p:txBody>
      </p:sp>
      <p:sp>
        <p:nvSpPr>
          <p:cNvPr id="15" name="Slide Number"/>
          <p:cNvSpPr/>
          <p:nvPr/>
        </p:nvSpPr>
        <p:spPr>
          <a:xfrm>
            <a:off x="8576311" y="4814889"/>
            <a:ext cx="320040" cy="157163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>
            <a:normAutofit lnSpcReduction="10000"/>
          </a:bodyPr>
          <a:lstStyle/>
          <a:p>
            <a:pPr algn="r"/>
            <a:fld id="{EBA70D93-50D0-44B0-B696-A604FFBC6501}" type="slidenum">
              <a:rPr lang="en-US" sz="900" dirty="0">
                <a:solidFill>
                  <a:srgbClr val="4F6B8A"/>
                </a:solidFill>
                <a:latin typeface="Tahoma" pitchFamily="34" charset="0"/>
              </a:rPr>
              <a:pPr algn="r"/>
              <a:t>16</a:t>
            </a:fld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8809071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sz="2400"/>
              <a:t>Backup: CD4+ T cells (EMRA:naïve ratio)</a:t>
            </a:r>
            <a:endParaRPr/>
          </a:p>
        </p:txBody>
      </p:sp>
      <p:pic>
        <p:nvPicPr>
          <p:cNvPr id="135" name="Picture 134" descr="Forest plot in two panels showing the CD4+ T cell EMRA-to-naïve ratio by neighborhood, across the five models described in the caption below. Left panel, more neighborhood disadvantage: estimates are above zero in every model. In models 1 and 2 the confidence intervals exclude zero; once race/ethnicity is added in model 3, the estimate shrinks and the intervals cross zero. Right panel, more neighborhood affluence: estimates sit just below zero, and every confidence interval crosses zero, meaning no clear difference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7863840" cy="283464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66D"/>
                </a:solidFill>
                <a:latin typeface="Tahoma"/>
              </a:rPr>
              <a:t>Linear regression estimates with 95% confidence intervals; outcomes standardized (SD units). Model 1: age + gender; Model 2: + income &amp; education; Model 3: + race/ethnicity; Model 4: + health behaviors + chronic conditions; Model 5: + neighborhood population density.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99DE7613-56E1-4BF7-8CBA-7AA4409EB47F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17</a:t>
            </a:fld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sz="2400"/>
              <a:t>Backup: CD8+ T cells (EMRA:naïve ratio)</a:t>
            </a:r>
            <a:endParaRPr/>
          </a:p>
        </p:txBody>
      </p:sp>
      <p:pic>
        <p:nvPicPr>
          <p:cNvPr id="135" name="Picture 134" descr="Forest plot in two panels showing the CD8+ T cell EMRA-to-naïve ratio by neighborhood, across the five models described in the caption below. Left panel, more neighborhood disadvantage: estimates sit slightly above zero. Right panel, more neighborhood affluence: estimates sit slightly below zero. In both panels every confidence interval crosses zero, so there is no clear difference in any model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7863840" cy="2834640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5C666D"/>
                </a:solidFill>
                <a:latin typeface="Tahoma"/>
              </a:rPr>
              <a:t>Linear regression estimates with 95% confidence intervals; outcomes standardized (SD units). Model 1: age + gender; Model 2: + income &amp; education; Model 3: + race/ethnicity; Model 4: + health behaviors + chronic conditions; Model 5: + neighborhood population density.</a:t>
            </a:r>
          </a:p>
        </p:txBody>
      </p:sp>
      <p:sp>
        <p:nvSpPr>
          <p:cNvPr id="137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17708558-AAC9-4870-BEC6-15E1AF73B23E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18</a:t>
            </a:fld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"/>
          <p:cNvSpPr txBox="1">
            <a:spLocks noGrp="1"/>
          </p:cNvSpPr>
          <p:nvPr>
            <p:ph type="title"/>
          </p:nvPr>
        </p:nvSpPr>
        <p:spPr>
          <a:xfrm>
            <a:off x="311700" y="238850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sz="2400"/>
              <a:t>Backup: Who was in the study (N = 9,933)</a:t>
            </a:r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1"/>
          </p:nvPr>
        </p:nvSpPr>
        <p:spPr>
          <a:xfrm>
            <a:off x="3117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200" b="1">
                <a:solidFill>
                  <a:srgbClr val="004A98"/>
                </a:solidFill>
              </a:rPr>
              <a:t>Demographics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Median age 67; 59% female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64% NH White, 18% NH Black, 15% Hispanic, 3% other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Education: 17% less than HS, 51% HS grad, 7% some college, 24% college grad</a:t>
            </a:r>
            <a:endParaRPr/>
          </a:p>
        </p:txBody>
      </p:sp>
      <p:sp>
        <p:nvSpPr>
          <p:cNvPr id="128" name="Google Shape;128;p7"/>
          <p:cNvSpPr txBox="1">
            <a:spLocks noGrp="1"/>
          </p:cNvSpPr>
          <p:nvPr>
            <p:ph type="body" idx="2"/>
          </p:nvPr>
        </p:nvSpPr>
        <p:spPr>
          <a:xfrm>
            <a:off x="4832400" y="1259600"/>
            <a:ext cx="3999900" cy="30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sz="1200" b="1">
                <a:solidFill>
                  <a:srgbClr val="004A98"/>
                </a:solidFill>
              </a:rPr>
              <a:t>Neighborhood, median (IQR)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Disadvantage: 7.81 (7.5)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Affluence: 28.37 (20.89)</a:t>
            </a:r>
            <a:endParaRPr/>
          </a:p>
          <a:p>
            <a:pPr marL="0" lvl="0" indent="0" algn="l" rtl="0">
              <a:lnSpc>
                <a:spcPct val="112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sz="1200" b="1">
                <a:solidFill>
                  <a:srgbClr val="004A98"/>
                </a:solidFill>
              </a:rPr>
              <a:t>Immune measures, median (IQR)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CD8+:CD4+ ratio: 0.33 (0.31)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CD4+ EMRA:naïve: 0.04 (0.12)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CD8+ EMRA:naïve: 2.31 (4.88)</a:t>
            </a:r>
            <a:endParaRPr/>
          </a:p>
          <a:p>
            <a:pPr marL="457200" lvl="0" indent="-34290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sz="1200"/>
              <a:t>CMV: 72% seropositive; IgG 214.2 U/mL (578.25)</a:t>
            </a:r>
            <a:endParaRPr/>
          </a:p>
        </p:txBody>
      </p:sp>
      <p:sp>
        <p:nvSpPr>
          <p:cNvPr id="129" name="Slide Number"/>
          <p:cNvSpPr txBox="1"/>
          <p:nvPr/>
        </p:nvSpPr>
        <p:spPr>
          <a:xfrm>
            <a:off x="8576311" y="4814888"/>
            <a:ext cx="320040" cy="157163"/>
          </a:xfrm>
          <a:prstGeom prst="rect">
            <a:avLst/>
          </a:prstGeom>
          <a:noFill/>
        </p:spPr>
        <p:txBody>
          <a:bodyPr wrap="none" lIns="12700" tIns="12700" rIns="12700" bIns="12700" rtlCol="0" anchor="t">
            <a:noAutofit/>
          </a:bodyPr>
          <a:lstStyle/>
          <a:p>
            <a:pPr marL="0" indent="0" algn="r">
              <a:buNone/>
            </a:pPr>
            <a:fld id="{263A7C90-B9A3-4571-822E-2E102E92E3DB}" type="slidenum">
              <a:rPr lang="en-US" sz="900" dirty="0">
                <a:solidFill>
                  <a:srgbClr val="4F6B8A"/>
                </a:solidFill>
                <a:latin typeface="Tahoma"/>
                <a:cs typeface="Tahoma"/>
              </a:rPr>
              <a:t>19</a:t>
            </a:fld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50708"/>
      </a:dk1>
      <a:lt1>
        <a:srgbClr val="FFFFFF"/>
      </a:lt1>
      <a:dk2>
        <a:srgbClr val="5C666D"/>
      </a:dk2>
      <a:lt2>
        <a:srgbClr val="F5F8FA"/>
      </a:lt2>
      <a:accent1>
        <a:srgbClr val="004A98"/>
      </a:accent1>
      <a:accent2>
        <a:srgbClr val="1D9ADD"/>
      </a:accent2>
      <a:accent3>
        <a:srgbClr val="16B1C1"/>
      </a:accent3>
      <a:accent4>
        <a:srgbClr val="49AA31"/>
      </a:accent4>
      <a:accent5>
        <a:srgbClr val="59D3EF"/>
      </a:accent5>
      <a:accent6>
        <a:srgbClr val="103333"/>
      </a:accent6>
      <a:hlink>
        <a:srgbClr val="004A98"/>
      </a:hlink>
      <a:folHlink>
        <a:srgbClr val="003A77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ahom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1094</Words>
  <Application>Microsoft Office PowerPoint</Application>
  <PresentationFormat>On-screen Show (16:9)</PresentationFormat>
  <Paragraphs>145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Tahoma</vt:lpstr>
      <vt:lpstr>Simple Light</vt:lpstr>
      <vt:lpstr>Where We Live Gets Under the Skin: NaNDA and Immune Aging</vt:lpstr>
      <vt:lpstr>Where We Live Gets Under the Skin:</vt:lpstr>
      <vt:lpstr>Can the neighborhood you live in change the way your immune system ages?</vt:lpstr>
      <vt:lpstr>Why look at the immune system?</vt:lpstr>
      <vt:lpstr>Three signs of immune aging</vt:lpstr>
      <vt:lpstr>The data: Health and Retirement Study</vt:lpstr>
      <vt:lpstr>9,000+</vt:lpstr>
      <vt:lpstr>How the NaNDA link works</vt:lpstr>
      <vt:lpstr>What we pulled from NaNDA</vt:lpstr>
      <vt:lpstr>What we found: CMV antibodies</vt:lpstr>
      <vt:lpstr>Where the signal showed up</vt:lpstr>
      <vt:lpstr>Where we live becomes biologically embedded. It shows up in our immune systems.</vt:lpstr>
      <vt:lpstr>Why NaNDA made this possible</vt:lpstr>
      <vt:lpstr>Thank you! Questions?</vt:lpstr>
      <vt:lpstr>Backup slides</vt:lpstr>
      <vt:lpstr>Choose your breakout</vt:lpstr>
      <vt:lpstr>Backup: CD4+ T cells (EMRA:naïve ratio)</vt:lpstr>
      <vt:lpstr>Backup: CD8+ T cells (EMRA:naïve ratio)</vt:lpstr>
      <vt:lpstr>Backup: Who was in the study (N = 9,933)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Where We Live Gets Under the Skin: NaNDA and Immune Aging</dc:title>
  <dc:creator/>
  <cp:lastModifiedBy/>
  <cp:revision>11</cp:revision>
  <dcterms:modified xsi:type="dcterms:W3CDTF">2026-09-30T22:10:00Z</dcterms:modified>
</cp:coreProperties>
</file>