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9" r:id="rId27"/>
    <p:sldId id="290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10287000" cy="18288000"/>
  <p:defaultTextStyle>
    <a:lvl1pPr marL="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046" autoAdjust="0"/>
  </p:normalViewPr>
  <p:slideViewPr>
    <p:cSldViewPr snapToGrid="0" snapToObjects="1">
      <p:cViewPr varScale="1">
        <p:scale>
          <a:sx n="62" d="100"/>
          <a:sy n="62" d="100"/>
        </p:scale>
        <p:origin x="11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18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615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191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5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2200" kern="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Tahoma"/>
        <a:buChar char="•"/>
        <a:defRPr sz="1600" kern="6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Tahoma"/>
        <a:buChar char="–"/>
        <a:defRPr sz="1400" kern="6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Tahoma"/>
        <a:buChar char="•"/>
        <a:defRPr sz="1200" kern="6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Tahoma"/>
        <a:buChar char="–"/>
        <a:defRPr sz="1000" kern="6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Tahoma"/>
        <a:buChar char="»"/>
        <a:defRPr sz="1000" kern="6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Tahoma"/>
        <a:buChar char="•"/>
        <a:defRPr sz="1000" kern="6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Tahoma"/>
        <a:buChar char="•"/>
        <a:defRPr sz="1000" kern="6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Tahoma"/>
        <a:buChar char="•"/>
        <a:defRPr sz="1000" kern="6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Tahoma"/>
        <a:buChar char="•"/>
        <a:defRPr sz="1000" kern="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6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psr.umich.edu/sites/icpsr/categories/shared/log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docs.google.com/document/d/18-SXCsL8Pb1TedawAU952PfPBodfV5GuyOn4ZmPG3h8/cop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programs-surveys/geography/guidance/geo-identifier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www.icpsr.umich.edu/sites/nanda/abou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anda.isr.umich.edu/2025/03/25/understanding-geographies-in-nanda-tract10-tract20-zcta10-and-zcta20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psr.umich.edu/sites/nanda/abou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nanda.isr.umich.edu/2025/03/25/understanding-geographies-in-nanda-tract10-tract20-zcta10-and-zcta20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nanda.isr.umich.edu/data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nanda.isr.umich.edu/contact-us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875" y="2038350"/>
            <a:ext cx="6305550" cy="2581275"/>
          </a:xfrm>
          <a:prstGeom prst="roundRect">
            <a:avLst>
              <a:gd name="adj" fmla="val 2583"/>
            </a:avLst>
          </a:prstGeom>
          <a:solidFill>
            <a:srgbClr val="0B264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1" descr="NaND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2343150"/>
            <a:ext cx="1762125" cy="304800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/>
          </p:nvPr>
        </p:nvSpPr>
        <p:spPr>
          <a:xfrm>
            <a:off x="866775" y="2781300"/>
            <a:ext cx="5960030" cy="92422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966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Choosing Your First NaNDA Dataset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866775" y="3795712"/>
            <a:ext cx="6799898" cy="2590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7209"/>
              </a:lnSpc>
              <a:buNone/>
            </a:pPr>
            <a:r>
              <a:rPr lang="en-US" sz="1350" dirty="0">
                <a:solidFill>
                  <a:srgbClr val="CDEA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Breakout 1 · Beginner session · 45 minutes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66775" y="4152900"/>
            <a:ext cx="6799898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CDEA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GSA Annual Scientific Meeting Online Workshop Series 2026 · October 7,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8023777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 questions, one 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3875" y="981075"/>
            <a:ext cx="2263527" cy="881062"/>
          </a:xfrm>
          <a:prstGeom prst="roundRect">
            <a:avLst>
              <a:gd name="adj" fmla="val 7568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76275" y="1114425"/>
            <a:ext cx="2154600" cy="27049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62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76275" y="1394445"/>
            <a:ext cx="2154600" cy="19905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dirty="0">
                <a:solidFill>
                  <a:srgbClr val="CDEA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44552" y="981075"/>
            <a:ext cx="1319956" cy="881062"/>
          </a:xfrm>
          <a:prstGeom prst="roundRect">
            <a:avLst>
              <a:gd name="adj" fmla="val 7568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996952" y="1114425"/>
            <a:ext cx="1116672" cy="27049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62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996952" y="1394445"/>
            <a:ext cx="1116672" cy="19905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dirty="0">
                <a:solidFill>
                  <a:srgbClr val="CDEA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21658" y="981075"/>
            <a:ext cx="1887140" cy="881062"/>
          </a:xfrm>
          <a:prstGeom prst="roundRect">
            <a:avLst>
              <a:gd name="adj" fmla="val 7568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74058" y="1114425"/>
            <a:ext cx="1740574" cy="27049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62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74058" y="1394445"/>
            <a:ext cx="1740574" cy="19905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dirty="0">
                <a:solidFill>
                  <a:srgbClr val="CDEA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Topics and variables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5949" y="981075"/>
            <a:ext cx="2454176" cy="881062"/>
          </a:xfrm>
          <a:prstGeom prst="roundRect">
            <a:avLst>
              <a:gd name="adj" fmla="val 7568"/>
            </a:avLst>
          </a:prstGeom>
          <a:solidFill>
            <a:srgbClr val="0B26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18349" y="1114425"/>
            <a:ext cx="2364314" cy="27049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62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turn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18349" y="1394445"/>
            <a:ext cx="2364314" cy="19905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dirty="0">
                <a:solidFill>
                  <a:srgbClr val="CDEA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own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3875" y="2435494"/>
            <a:ext cx="1213589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4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IT WORKS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48652" y="2758214"/>
            <a:ext cx="5537835" cy="124956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113348" indent="-113348" algn="l">
              <a:lnSpc>
                <a:spcPct val="157561"/>
              </a:lnSpc>
              <a:buSzPct val="100000"/>
              <a:buChar char="•"/>
              <a:tabLst>
                <a:tab pos="113348" algn="l"/>
              </a:tabLst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/>
              </a:rPr>
              <a:t>ICPSR Account </a:t>
            </a:r>
            <a:endParaRPr lang="en-US" sz="1275" dirty="0">
              <a:solidFill>
                <a:srgbClr val="050708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113348" indent="-113348" algn="l">
              <a:lnSpc>
                <a:spcPct val="157561"/>
              </a:lnSpc>
              <a:buSzPct val="100000"/>
              <a:buChar char="•"/>
              <a:tabLst>
                <a:tab pos="113348" algn="l"/>
              </a:tabLst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/>
              </a:rPr>
              <a:t>Choosing Your First </a:t>
            </a:r>
            <a:r>
              <a:rPr lang="en-US" sz="1275" dirty="0" err="1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/>
              </a:rPr>
              <a:t>NaNDA</a:t>
            </a: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/>
              </a:rPr>
              <a:t> Dataset: Participant Handout (GSA 2026)</a:t>
            </a:r>
            <a:endParaRPr lang="en-US" sz="1275" dirty="0"/>
          </a:p>
          <a:p>
            <a:pPr marL="113348" indent="-113348" algn="l">
              <a:lnSpc>
                <a:spcPct val="157561"/>
              </a:lnSpc>
              <a:buSzPct val="100000"/>
              <a:buChar char="•"/>
              <a:tabLst>
                <a:tab pos="113348" algn="l"/>
              </a:tabLst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Polls, a scavenger hunt, and lots of chat.</a:t>
            </a:r>
            <a:endParaRPr lang="en-US" sz="1275" dirty="0"/>
          </a:p>
          <a:p>
            <a:pPr marL="113348" indent="-113348" algn="l">
              <a:lnSpc>
                <a:spcPct val="157561"/>
              </a:lnSpc>
              <a:buSzPct val="100000"/>
              <a:buChar char="•"/>
              <a:tabLst>
                <a:tab pos="113348" algn="l"/>
              </a:tabLst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Bring your own project, or borrow Jordan's.</a:t>
            </a:r>
            <a:endParaRPr lang="en-US" sz="1275" dirty="0"/>
          </a:p>
        </p:txBody>
      </p:sp>
      <p:pic>
        <p:nvPicPr>
          <p:cNvPr id="17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75" y="2714625"/>
            <a:ext cx="1809750" cy="1809750"/>
          </a:xfrm>
          <a:prstGeom prst="rect">
            <a:avLst/>
          </a:prstGeom>
        </p:spPr>
      </p:pic>
      <p:pic>
        <p:nvPicPr>
          <p:cNvPr id="18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19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4B2A5BEE-A714-47CE-A46A-FE420ADE9253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6446768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Meet Jordan Ellis</a:t>
            </a:r>
            <a:endParaRPr lang="en-US" sz="2400" dirty="0"/>
          </a:p>
        </p:txBody>
      </p:sp>
      <p:pic>
        <p:nvPicPr>
          <p:cNvPr id="3" name="Image 0" descr="Portrait of Dr. Jordan Ellis, a fictional researcher, drawn as the NaNDA globe mascot wearing glasses and a mustach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875" y="942975"/>
            <a:ext cx="2667000" cy="266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875" y="3705225"/>
            <a:ext cx="2384977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Dr. Jordan Ellis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875" y="3933825"/>
            <a:ext cx="668514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they|them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533775" y="942975"/>
            <a:ext cx="1246822" cy="262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31282"/>
              </a:lnSpc>
              <a:buNone/>
            </a:pPr>
            <a:r>
              <a:rPr lang="en-US" sz="12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Topic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7250" y="942975"/>
            <a:ext cx="4348162" cy="262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31282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Loneliness among adults 65 and older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33775" y="1291530"/>
            <a:ext cx="1171575" cy="7503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31282"/>
              </a:lnSpc>
              <a:buNone/>
            </a:pPr>
            <a:r>
              <a:rPr lang="en-US" sz="12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67250" y="1291530"/>
            <a:ext cx="4071462" cy="7503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31282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 participants</a:t>
            </a:r>
            <a:b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Yearly interviews 2016 to 2019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33775" y="1882483"/>
            <a:ext cx="1171575" cy="50661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31282"/>
              </a:lnSpc>
              <a:buNone/>
            </a:pPr>
            <a:r>
              <a:rPr lang="en-US" sz="12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67250" y="1875854"/>
            <a:ext cx="4071462" cy="50661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31282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Home addresses collected at enrollment in 2016</a:t>
            </a:r>
            <a:b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Geocoded to census tracts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33775" y="2757488"/>
            <a:ext cx="5038725" cy="1171575"/>
          </a:xfrm>
          <a:prstGeom prst="roundRect">
            <a:avLst>
              <a:gd name="adj" fmla="val 5691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724275" y="2909888"/>
            <a:ext cx="5123498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QUESTION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724275" y="3137520"/>
            <a:ext cx="4797457" cy="48860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 older adults living near more places to gather (clubs, community groups, places of worship) report less loneliness?</a:t>
            </a:r>
            <a:endParaRPr lang="en-US" sz="1275" dirty="0"/>
          </a:p>
        </p:txBody>
      </p:sp>
      <p:pic>
        <p:nvPicPr>
          <p:cNvPr id="15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4324350"/>
            <a:ext cx="1981200" cy="342900"/>
          </a:xfrm>
          <a:prstGeom prst="rect">
            <a:avLst/>
          </a:prstGeom>
        </p:spPr>
      </p:pic>
      <p:sp>
        <p:nvSpPr>
          <p:cNvPr id="1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626910F7-99B0-4CA4-B7F5-691741B35EEF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3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847850"/>
            <a:ext cx="93470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 1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2152650"/>
            <a:ext cx="4127638" cy="781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2902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23875" y="3048000"/>
            <a:ext cx="5516404" cy="2723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tracts, ZCTAs, and geographic boundaries, oh my!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91DC6C73-9529-453D-9D7C-4731E24040AE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4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4" y="381000"/>
            <a:ext cx="6466646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tracts and ZCTAs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942975"/>
            <a:ext cx="3952875" cy="2752725"/>
          </a:xfrm>
          <a:prstGeom prst="roundRect">
            <a:avLst>
              <a:gd name="adj" fmla="val 242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57238" y="1157288"/>
            <a:ext cx="3834765" cy="2790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57238" y="1522065"/>
            <a:ext cx="3590734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small, stable statistical area, usually 1,200 to 8,000 people.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7238" y="2084040"/>
            <a:ext cx="3590734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Nests inside a county, the way counties nest inside a state.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7238" y="2646015"/>
            <a:ext cx="383476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Most NaNDA measures are available at this level.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7250" y="942975"/>
            <a:ext cx="3952875" cy="2752725"/>
          </a:xfrm>
          <a:prstGeom prst="roundRect">
            <a:avLst>
              <a:gd name="adj" fmla="val 242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4900612" y="1157288"/>
            <a:ext cx="3435006" cy="2790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(ZIP Code Tabulation Area)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4900612" y="1522065"/>
            <a:ext cx="3590734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Census Bureau's area version of a ZIP code, built from census blocks.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0612" y="2084040"/>
            <a:ext cx="3590734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the boundary the Postal Service uses, and not nested inside anything.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875" y="3905250"/>
            <a:ext cx="1714708" cy="354286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1429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ZIP ≠ ZCTA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45026" y="3933825"/>
            <a:ext cx="6298924" cy="460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ZIP code is a mail delivery route. A ZCTA is a statistical area. They are </a:t>
            </a:r>
            <a:r>
              <a:rPr lang="en-US" sz="1200" b="1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</a:t>
            </a:r>
            <a:r>
              <a:rPr lang="en-US" sz="12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interchangeable. ZIP codes need a crosswalk to ZCTAs (Intermediate Session).</a:t>
            </a:r>
            <a:endParaRPr lang="en-US" sz="1200" dirty="0"/>
          </a:p>
        </p:txBody>
      </p:sp>
      <p:pic>
        <p:nvPicPr>
          <p:cNvPr id="16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17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8618A8CB-7184-4D11-BB6D-7ADDE19489BF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5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7334664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Census geography hierarchy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2350" y="1095375"/>
            <a:ext cx="19050" cy="3143250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904875"/>
            <a:ext cx="4572000" cy="3524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09875" y="904875"/>
            <a:ext cx="1524000" cy="381000"/>
          </a:xfrm>
          <a:prstGeom prst="roundRect">
            <a:avLst>
              <a:gd name="adj" fmla="val 17500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2787015" y="904875"/>
            <a:ext cx="1569720" cy="400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09875" y="1533525"/>
            <a:ext cx="15240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4288">
            <a:solidFill>
              <a:srgbClr val="004A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801302" y="1547812"/>
            <a:ext cx="1541145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09875" y="2162175"/>
            <a:ext cx="15240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4288">
            <a:solidFill>
              <a:srgbClr val="004A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801302" y="2176462"/>
            <a:ext cx="1541145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09875" y="2790825"/>
            <a:ext cx="1524000" cy="381000"/>
          </a:xfrm>
          <a:prstGeom prst="roundRect">
            <a:avLst>
              <a:gd name="adj" fmla="val 17500"/>
            </a:avLst>
          </a:prstGeom>
          <a:solidFill>
            <a:srgbClr val="1D9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787015" y="2790825"/>
            <a:ext cx="1569720" cy="400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09875" y="3419475"/>
            <a:ext cx="15240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4288">
            <a:solidFill>
              <a:srgbClr val="004A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801302" y="3433762"/>
            <a:ext cx="1541145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Block groups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809875" y="4048125"/>
            <a:ext cx="15240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4288">
            <a:solidFill>
              <a:srgbClr val="004A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801302" y="4062412"/>
            <a:ext cx="1541145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blocks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6750" y="2162175"/>
            <a:ext cx="1552575" cy="409575"/>
          </a:xfrm>
          <a:prstGeom prst="roundRect">
            <a:avLst>
              <a:gd name="adj" fmla="val 16279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43462" y="2162175"/>
            <a:ext cx="1599152" cy="4286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ZCTAs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619363" y="2619375"/>
            <a:ext cx="1618774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lnSpc>
                <a:spcPct val="113226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Built from census blocks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476875" y="1685925"/>
            <a:ext cx="3335655" cy="72337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center spine nests. </a:t>
            </a: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Nation, states, counties, tracts, block groups, blocks. Each level fits inside the one above it.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5476875" y="2600325"/>
            <a:ext cx="3335655" cy="72337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ZCTAs sit off to the side. </a:t>
            </a: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They skip tracts and counties entirely, which is why their lines never match tract or county lines.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5476875" y="3514725"/>
            <a:ext cx="3803332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1724"/>
              </a:lnSpc>
              <a:buNone/>
            </a:pPr>
            <a:r>
              <a:rPr lang="en-US" sz="9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Simplified from the U.S. Census Bureau hierarchy diagram</a:t>
            </a:r>
            <a:endParaRPr lang="en-US" sz="900" dirty="0"/>
          </a:p>
        </p:txBody>
      </p:sp>
      <p:pic>
        <p:nvPicPr>
          <p:cNvPr id="24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5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D7AC7519-3B13-4A96-B5A1-D2D0EA6C3FF7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6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wo illustrations side by side. Left: census tracts fit neatly inside counties, and counties fit inside the state. Right: the same map with ZCTA boundaries drawn as dashed lines that cut across tract, county, and state lines. Illustration, not a real map."/>
          <p:cNvPicPr>
            <a:picLocks noChangeAspect="1"/>
          </p:cNvPicPr>
          <p:nvPr/>
        </p:nvPicPr>
        <p:blipFill>
          <a:blip r:embed="rId3"/>
          <a:srcRect l="-17013" r="-17013"/>
          <a:stretch/>
        </p:blipFill>
        <p:spPr>
          <a:xfrm>
            <a:off x="-950026" y="534368"/>
            <a:ext cx="11044052" cy="442912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23875" y="266700"/>
            <a:ext cx="6797951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Tracts and ZCTAs</a:t>
            </a:r>
            <a:endParaRPr lang="en-US" sz="2400" dirty="0"/>
          </a:p>
        </p:txBody>
      </p:sp>
      <p:pic>
        <p:nvPicPr>
          <p:cNvPr id="5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946234F6-E07B-461E-8768-792EB6B23FEA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7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4" y="381000"/>
            <a:ext cx="6214856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a FIPS code grows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942975"/>
            <a:ext cx="1414462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3875" y="1141065"/>
            <a:ext cx="1414462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digits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09750" y="944836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790700" y="944836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24075" y="944836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105025" y="944836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7375" y="1016273"/>
            <a:ext cx="3248025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Michigan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23875" y="1413420"/>
            <a:ext cx="1414462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3875" y="1611511"/>
            <a:ext cx="1414462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digits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09750" y="1415281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790700" y="1415281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24075" y="1415281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105025" y="1415281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38400" y="1415281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419350" y="1415281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52725" y="1415281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733675" y="1415281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067050" y="1415281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048000" y="1415281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7375" y="1486718"/>
            <a:ext cx="3248025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State, then county 161 (Washtenaw)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23875" y="1883866"/>
            <a:ext cx="1414462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875" y="2081956"/>
            <a:ext cx="1414462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digits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09750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790700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124075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105025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438400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419350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752725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733675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067050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048000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381375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362325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695700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76650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010025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990975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324350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305300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638675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619625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953000" y="1885727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933950" y="1885727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667375" y="1957164"/>
            <a:ext cx="3248025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County, then tract 400100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523875" y="2354312"/>
            <a:ext cx="1414462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Block group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3875" y="2552402"/>
            <a:ext cx="1414462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digits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09750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1790700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2124075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105025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438400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2419350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2752725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733675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3067050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3048000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3381375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3362325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3695700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3676650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4010025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3990975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4324350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4305300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4638675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619625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4953000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4933950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5267325" y="2356172"/>
            <a:ext cx="285750" cy="342900"/>
          </a:xfrm>
          <a:prstGeom prst="roundRect">
            <a:avLst>
              <a:gd name="adj" fmla="val 13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5248275" y="2356172"/>
            <a:ext cx="323850" cy="3619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5667375" y="2427610"/>
            <a:ext cx="3248025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Tract, then block group 1</a:t>
            </a:r>
            <a:endParaRPr lang="en-US" sz="1125" dirty="0"/>
          </a:p>
        </p:txBody>
      </p:sp>
      <p:sp>
        <p:nvSpPr>
          <p:cNvPr id="76" name="Shape 74"/>
          <p:cNvSpPr/>
          <p:nvPr/>
        </p:nvSpPr>
        <p:spPr>
          <a:xfrm>
            <a:off x="523875" y="3686175"/>
            <a:ext cx="8096250" cy="647700"/>
          </a:xfrm>
          <a:prstGeom prst="roundRect">
            <a:avLst>
              <a:gd name="adj" fmla="val 10294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714375" y="3810000"/>
            <a:ext cx="7946708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NaNDA's tract identifiers, </a:t>
            </a: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tract_fips10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 </a:t>
            </a: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tract_fips20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are this 11-digit code. Stored as text to preserve leading zeros. </a:t>
            </a:r>
            <a:r>
              <a:rPr lang="en-US" sz="975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 Bureau: Understanding Geographic Identifiers</a:t>
            </a:r>
            <a:endParaRPr lang="en-US" sz="1125" dirty="0"/>
          </a:p>
        </p:txBody>
      </p:sp>
      <p:pic>
        <p:nvPicPr>
          <p:cNvPr id="78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79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24CEBF88-88F0-4442-A650-A47E37435E53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8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7222020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codes are a separate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942975"/>
            <a:ext cx="4486275" cy="2338388"/>
          </a:xfrm>
          <a:prstGeom prst="roundRect">
            <a:avLst>
              <a:gd name="adj" fmla="val 2851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8188" y="1138238"/>
            <a:ext cx="4463415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FIPS code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8188" y="1361108"/>
            <a:ext cx="4463415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digits · state + county + tract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73818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913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0966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9061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8113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D9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6208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5261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D9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83356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2408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D9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20503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9556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57651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6703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94798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3851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31946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70998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69093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08146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06241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45293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43388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8188" y="2232570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90588" y="2204516"/>
            <a:ext cx="320130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325017" y="2232570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1D9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477417" y="2204516"/>
            <a:ext cx="419696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County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2011412" y="2232570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163812" y="2204516"/>
            <a:ext cx="305023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738188" y="2536924"/>
            <a:ext cx="4463415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Nested. Every digit tells you where the tract sits.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5295900" y="942975"/>
            <a:ext cx="3324225" cy="2338388"/>
          </a:xfrm>
          <a:prstGeom prst="roundRect">
            <a:avLst>
              <a:gd name="adj" fmla="val 2851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510212" y="1138238"/>
            <a:ext cx="3185160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code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510212" y="1361108"/>
            <a:ext cx="3185160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digits · no state or county inside it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551021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6B1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49116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88168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6B1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86263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25316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6B1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23411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624638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6B1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605588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996112" y="1642542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16B1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977062" y="1642542"/>
            <a:ext cx="381000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510212" y="2232570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16B1C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662612" y="2204516"/>
            <a:ext cx="320278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5510212" y="2536924"/>
            <a:ext cx="2982468" cy="6405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nested. It looks like a ZIP code, and usually matches one, but it is a Census area, not a mail route.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523875" y="3686175"/>
            <a:ext cx="8096250" cy="480938"/>
          </a:xfrm>
          <a:prstGeom prst="roundRect">
            <a:avLst>
              <a:gd name="adj" fmla="val 10294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14375" y="3810000"/>
            <a:ext cx="8486775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Have ZIP codes?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They still need a crosswalk to ZCTAs before linking to NaNDA.</a:t>
            </a:r>
            <a:endParaRPr lang="en-US" sz="1125" dirty="0"/>
          </a:p>
        </p:txBody>
      </p:sp>
      <p:pic>
        <p:nvPicPr>
          <p:cNvPr id="54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55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08F29220-BAB5-4F77-945F-7D2D6D6088B6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9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7632838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Geographic boundaries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828675"/>
            <a:ext cx="7578804" cy="48860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Tracts and ZCTAs are redrawn after each Decennial Census. 2010 and 2020 codes do not align. </a:t>
            </a:r>
          </a:p>
          <a:p>
            <a:pPr marL="0" indent="0" algn="l">
              <a:lnSpc>
                <a:spcPct val="120244"/>
              </a:lnSpc>
              <a:buNone/>
            </a:pPr>
            <a:r>
              <a:rPr lang="en-US" sz="12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 the boundary to when your geography was assigned, not to the survey year.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012888" y="1533525"/>
            <a:ext cx="1412748" cy="34096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Census tract boundaries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99201" y="1533525"/>
            <a:ext cx="1412748" cy="34096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 Census tract boundaries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619125" y="2124075"/>
            <a:ext cx="1100138" cy="2667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719262" y="2124075"/>
            <a:ext cx="4786312" cy="266700"/>
          </a:xfrm>
          <a:prstGeom prst="rect">
            <a:avLst/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09762" y="2124075"/>
            <a:ext cx="473940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boundaries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05575" y="2124075"/>
            <a:ext cx="2019300" cy="266700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5286" y="2124075"/>
            <a:ext cx="2079879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 boundaries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09738" y="1914525"/>
            <a:ext cx="19050" cy="523875"/>
          </a:xfrm>
          <a:prstGeom prst="rect">
            <a:avLst/>
          </a:prstGeom>
          <a:solidFill>
            <a:srgbClr val="525C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96050" y="1914525"/>
            <a:ext cx="19050" cy="523875"/>
          </a:xfrm>
          <a:prstGeom prst="rect">
            <a:avLst/>
          </a:prstGeom>
          <a:solidFill>
            <a:srgbClr val="525C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00075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14600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29125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43650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58175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8914" y="3674269"/>
            <a:ext cx="8096250" cy="685800"/>
          </a:xfrm>
          <a:prstGeom prst="roundRect">
            <a:avLst>
              <a:gd name="adj" fmla="val 9722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14375" y="3790950"/>
            <a:ext cx="623888" cy="226219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turn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577008" y="3790950"/>
            <a:ext cx="7062500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addresses were geocoded in 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1125" dirty="0">
              <a:solidFill>
                <a:srgbClr val="050708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geographic boundaries do Jordan's tract codes use? </a:t>
            </a:r>
            <a:endParaRPr lang="en-US" sz="1125" dirty="0"/>
          </a:p>
        </p:txBody>
      </p:sp>
      <p:pic>
        <p:nvPicPr>
          <p:cNvPr id="2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3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3686ABEA-1960-43F5-BDDB-FC34F83E16C7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10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381000"/>
            <a:ext cx="3869220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b="1" kern="0" spc="84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 1 OF 3 · BOUNDARIES</a:t>
            </a:r>
            <a:endParaRPr lang="en-US" sz="105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619125"/>
            <a:ext cx="8905875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geographic boundaries fit Jordan's research?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1076325"/>
            <a:ext cx="8633460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Civic, Social, and Religious Organizations comes in four files. Jordan's data: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tracts 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boundaries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3875" y="1676400"/>
            <a:ext cx="2635225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816894"/>
            <a:ext cx="175617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3244" y="1816894"/>
            <a:ext cx="1357655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4350" y="1676400"/>
            <a:ext cx="2635225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16275" y="1816894"/>
            <a:ext cx="201290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24191" y="1810268"/>
            <a:ext cx="1357655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4826" y="1676400"/>
            <a:ext cx="2635225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46750" y="1816894"/>
            <a:ext cx="17576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1092" y="1816894"/>
            <a:ext cx="800383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3875" y="2238375"/>
            <a:ext cx="2635225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2378869"/>
            <a:ext cx="21267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1728" y="2372243"/>
            <a:ext cx="800383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54350" y="2238375"/>
            <a:ext cx="2635225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416275" y="2378869"/>
            <a:ext cx="16973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4588" y="2378869"/>
            <a:ext cx="60855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sure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3875" y="3848100"/>
            <a:ext cx="8096250" cy="485775"/>
          </a:xfrm>
          <a:prstGeom prst="roundRect">
            <a:avLst>
              <a:gd name="adj" fmla="val 13725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14375" y="3998118"/>
            <a:ext cx="1133475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the poll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47850" y="3990975"/>
            <a:ext cx="3332604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Watch for it to pop up in your Zoom window.</a:t>
            </a:r>
            <a:endParaRPr lang="en-US" sz="1125" dirty="0"/>
          </a:p>
        </p:txBody>
      </p:sp>
      <p:pic>
        <p:nvPicPr>
          <p:cNvPr id="23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4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38E686F7-8C5F-48C2-B763-75779A98E69A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11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7699099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answer is A: Census Tract 2010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29275" y="942975"/>
            <a:ext cx="1571625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7191375" y="942975"/>
            <a:ext cx="1571625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23875" y="1293465"/>
            <a:ext cx="504825" cy="3123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226"/>
              </a:lnSpc>
              <a:buNone/>
            </a:pPr>
            <a:r>
              <a:rPr lang="en-US" sz="1650" b="1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23950" y="1240110"/>
            <a:ext cx="4503134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2010.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Tracts, on the same geographic boundaries as Jordan's codes.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5629275" y="1306786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07844" y="1306786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7191375" y="1306786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69944" y="1306786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23875" y="1817340"/>
            <a:ext cx="504825" cy="3123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226"/>
              </a:lnSpc>
              <a:buNone/>
            </a:pPr>
            <a:r>
              <a:rPr lang="en-US" sz="1650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23950" y="1763986"/>
            <a:ext cx="4503134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2020. Right unit, but the codes are different. It won't link to Jordan's 2010 tract codes.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629275" y="1830660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607844" y="1830660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191375" y="1830660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69944" y="1830660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boundaries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23875" y="2341215"/>
            <a:ext cx="504825" cy="3123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226"/>
              </a:lnSpc>
              <a:buNone/>
            </a:pPr>
            <a:r>
              <a:rPr lang="en-US" sz="1650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23950" y="2287860"/>
            <a:ext cx="4503134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2010. Right boundaries, wrong unit. Jordan has tract codes, not ZCTAs.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5629275" y="2354536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607844" y="2354536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unit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7191375" y="2354536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69944" y="2354536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23875" y="2811736"/>
            <a:ext cx="504825" cy="3123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226"/>
              </a:lnSpc>
              <a:buNone/>
            </a:pPr>
            <a:r>
              <a:rPr lang="en-US" sz="1650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23950" y="2858393"/>
            <a:ext cx="4809172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2020. Neither.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5629275" y="2825056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607844" y="2825056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unit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191375" y="2825056"/>
            <a:ext cx="1428750" cy="266700"/>
          </a:xfrm>
          <a:prstGeom prst="roundRect">
            <a:avLst>
              <a:gd name="adj" fmla="val 25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169944" y="2825056"/>
            <a:ext cx="147161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125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Wrong boundaries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23875" y="3648075"/>
            <a:ext cx="8096250" cy="685800"/>
          </a:xfrm>
          <a:prstGeom prst="roundRect">
            <a:avLst>
              <a:gd name="adj" fmla="val 9722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14375" y="3790950"/>
            <a:ext cx="1130834" cy="226219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 first.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2062213" y="3774281"/>
            <a:ext cx="6466137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filename tells you the unit and the geographic boundaries. Only the Census Tract 2010 file links on 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tract_fips10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 Years come next.</a:t>
            </a:r>
            <a:endParaRPr lang="en-US" sz="1125" dirty="0"/>
          </a:p>
        </p:txBody>
      </p:sp>
      <p:pic>
        <p:nvPicPr>
          <p:cNvPr id="33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34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44194D25-3DFA-40B8-9112-E435042048E5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12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7506942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boundaries: 2010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828675"/>
            <a:ext cx="7578804" cy="48860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Geocoded in 2016, five years before the 2020 boundaries existed. Anything geocoded before 2020 almost certainly uses 2010 boundaries.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012888" y="1533525"/>
            <a:ext cx="1412748" cy="34096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Census tract boundaries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99201" y="1533525"/>
            <a:ext cx="1412748" cy="34096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lnSpc>
                <a:spcPct val="109032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 Census tract boundaries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619125" y="2124075"/>
            <a:ext cx="1100138" cy="26670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719262" y="2124075"/>
            <a:ext cx="4786312" cy="266700"/>
          </a:xfrm>
          <a:prstGeom prst="rect">
            <a:avLst/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09762" y="2124075"/>
            <a:ext cx="473940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boundaries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05575" y="2124075"/>
            <a:ext cx="2019300" cy="266700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5286" y="2124075"/>
            <a:ext cx="2079879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 boundaries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09738" y="1914525"/>
            <a:ext cx="19050" cy="523875"/>
          </a:xfrm>
          <a:prstGeom prst="rect">
            <a:avLst/>
          </a:prstGeom>
          <a:solidFill>
            <a:srgbClr val="525C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96050" y="1914525"/>
            <a:ext cx="19050" cy="523875"/>
          </a:xfrm>
          <a:prstGeom prst="rect">
            <a:avLst/>
          </a:prstGeom>
          <a:solidFill>
            <a:srgbClr val="525C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6762" y="2009775"/>
            <a:ext cx="28575" cy="457200"/>
          </a:xfrm>
          <a:prstGeom prst="rect">
            <a:avLst/>
          </a:prstGeom>
          <a:solidFill>
            <a:srgbClr val="49AA3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019425" y="2743200"/>
            <a:ext cx="3143250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ctr">
              <a:lnSpc>
                <a:spcPct val="108333"/>
              </a:lnSpc>
              <a:buNone/>
            </a:pPr>
            <a:r>
              <a:rPr lang="en-US" sz="1125" b="1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· Jordan's addresses geocoded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00075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14600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29125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3650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58175" y="24860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875" y="3648075"/>
            <a:ext cx="8096250" cy="685800"/>
          </a:xfrm>
          <a:prstGeom prst="roundRect">
            <a:avLst>
              <a:gd name="adj" fmla="val 9722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4375" y="3790950"/>
            <a:ext cx="836130" cy="45147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Jordan’s</a:t>
            </a:r>
          </a:p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817564" y="3790950"/>
            <a:ext cx="6810424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boundaries. Use the 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file, linked on 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tract_fips10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 Not sure when your data were geocoded? Ask whoever did it, or check the codebook.</a:t>
            </a:r>
            <a:endParaRPr lang="en-US" sz="1125" dirty="0"/>
          </a:p>
        </p:txBody>
      </p:sp>
      <p:pic>
        <p:nvPicPr>
          <p:cNvPr id="24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5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6F7CD796-BBCD-4667-802A-3CC6A189DA37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13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4" y="381000"/>
            <a:ext cx="7599708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NaNDA location variables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1274862"/>
            <a:ext cx="2000250" cy="9525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23875" y="1028700"/>
            <a:ext cx="2060258" cy="1985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VARIABLE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2752725" y="1274862"/>
            <a:ext cx="5867400" cy="9525"/>
          </a:xfrm>
          <a:prstGeom prst="rect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52725" y="1028700"/>
            <a:ext cx="6043422" cy="1985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IT IS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523875" y="1648197"/>
            <a:ext cx="200025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23875" y="1355824"/>
            <a:ext cx="2060258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52725" y="1648197"/>
            <a:ext cx="586740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52725" y="1355824"/>
            <a:ext cx="6043422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tract, 2010 boundaries (11 digits)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875" y="2016770"/>
            <a:ext cx="200025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23875" y="1724397"/>
            <a:ext cx="2060258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52725" y="2016770"/>
            <a:ext cx="586740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52725" y="1724397"/>
            <a:ext cx="6043422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tract, 2020 boundaries (11 digits)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875" y="2021532"/>
            <a:ext cx="2000250" cy="72762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23875" y="2744390"/>
            <a:ext cx="200025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2475" y="2092970"/>
            <a:ext cx="1831658" cy="59903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050" b="1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└ tract_fips22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52725" y="2021532"/>
            <a:ext cx="5867400" cy="72762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52725" y="2744390"/>
            <a:ext cx="586740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752725" y="2092970"/>
            <a:ext cx="5929122" cy="59903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05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same 2020 tracts, recoded for Connecticut's 2022 boundary change. An additional variable in the 2020 files, not a separate dataset. Use it if your data were geocoded after 2022 and include Connecticut.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3875" y="3112964"/>
            <a:ext cx="200025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3875" y="2820590"/>
            <a:ext cx="2060258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52725" y="3112964"/>
            <a:ext cx="586740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752725" y="2820590"/>
            <a:ext cx="6043422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ZCTA, 2010 boundaries (5 digits)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3875" y="3481536"/>
            <a:ext cx="200025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23875" y="3189164"/>
            <a:ext cx="2060258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zcta20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52725" y="3481536"/>
            <a:ext cx="5867400" cy="4762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752725" y="3189164"/>
            <a:ext cx="6043422" cy="2399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ZCTA, 2020 boundaries (5 digits)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875" y="3828223"/>
            <a:ext cx="8339138" cy="40570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suffix tells you the geographic boundaries. </a:t>
            </a:r>
            <a:r>
              <a:rPr lang="en-US" sz="105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Recent NaNDA datasets use these variable names; older ones may differ, so check the documentation.</a:t>
            </a:r>
            <a:endParaRPr lang="en-US" sz="1050" dirty="0"/>
          </a:p>
        </p:txBody>
      </p:sp>
      <p:pic>
        <p:nvPicPr>
          <p:cNvPr id="31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32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9C521EDB-02CB-4064-B4AB-4B922A07BA0B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14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381000"/>
            <a:ext cx="1323975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b="1" kern="0" spc="84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TRY IT</a:t>
            </a:r>
            <a:endParaRPr lang="en-US" sz="105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609600"/>
            <a:ext cx="7805738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 NaNDA for 2010 census tract datasets</a:t>
            </a:r>
            <a:endParaRPr lang="en-US" sz="2400" dirty="0"/>
          </a:p>
        </p:txBody>
      </p:sp>
      <p:pic>
        <p:nvPicPr>
          <p:cNvPr id="4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5" y="190500"/>
            <a:ext cx="1047750" cy="1047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3875" y="1333500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04825" y="1333500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125" y="1371600"/>
            <a:ext cx="4316730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the </a:t>
            </a:r>
            <a:r>
              <a:rPr lang="en-US" sz="1125" b="1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NaNDA repository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on ICPSR. </a:t>
            </a:r>
            <a:r>
              <a:rPr lang="en-US" sz="112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icpsr.umich.edu/sites/nanda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068705" y="1824038"/>
            <a:ext cx="4160520" cy="4247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93345" indent="-93345" algn="l">
              <a:lnSpc>
                <a:spcPct val="119412"/>
              </a:lnSpc>
              <a:buSzPct val="100000"/>
              <a:buChar char="○"/>
              <a:tabLst>
                <a:tab pos="93345" algn="l"/>
              </a:tabLst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Data</a:t>
            </a:r>
            <a:endParaRPr lang="en-US" sz="1050" dirty="0"/>
          </a:p>
          <a:p>
            <a:pPr marL="93345" indent="-93345" algn="l">
              <a:lnSpc>
                <a:spcPct val="119412"/>
              </a:lnSpc>
              <a:buSzPct val="100000"/>
              <a:buChar char="○"/>
              <a:tabLst>
                <a:tab pos="93345" algn="l"/>
              </a:tabLst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3875" y="2334518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04825" y="2334518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0125" y="2372618"/>
            <a:ext cx="3864315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"census tract 2010"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1068705" y="2617886"/>
            <a:ext cx="3482534" cy="2123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93345" indent="-93345" algn="l">
              <a:lnSpc>
                <a:spcPct val="119412"/>
              </a:lnSpc>
              <a:buSzPct val="100000"/>
              <a:buChar char="○"/>
              <a:tabLst>
                <a:tab pos="93345" algn="l"/>
              </a:tabLst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topic for Jordan's research: "religious", "civic", or "social"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3875" y="2915990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04825" y="2915990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0125" y="2954090"/>
            <a:ext cx="2183986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any study.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068705" y="3199358"/>
            <a:ext cx="1954962" cy="4247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93345" indent="-93345" algn="l">
              <a:lnSpc>
                <a:spcPct val="119412"/>
              </a:lnSpc>
              <a:buSzPct val="100000"/>
              <a:buChar char="○"/>
              <a:tabLst>
                <a:tab pos="93345" algn="l"/>
              </a:tabLst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"Data &amp; documentation"</a:t>
            </a:r>
            <a:endParaRPr lang="en-US" sz="1050" dirty="0"/>
          </a:p>
          <a:p>
            <a:pPr marL="93345" indent="-93345" algn="l">
              <a:lnSpc>
                <a:spcPct val="119412"/>
              </a:lnSpc>
              <a:buSzPct val="100000"/>
              <a:buChar char="○"/>
              <a:tabLst>
                <a:tab pos="93345" algn="l"/>
              </a:tabLst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the Census Tract 2010 file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3875" y="3709838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04825" y="3709838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0125" y="3747938"/>
            <a:ext cx="2133481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 the study title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the chat.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5381625" y="1428750"/>
            <a:ext cx="3238500" cy="2121992"/>
          </a:xfrm>
          <a:prstGeom prst="roundRect">
            <a:avLst>
              <a:gd name="adj" fmla="val 314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5595938" y="1624012"/>
            <a:ext cx="3090862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kern="0" spc="36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YOU WILL SEE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95938" y="1858268"/>
            <a:ext cx="2894172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Most NaNDA studies come as the same four files.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5595938" y="2372618"/>
            <a:ext cx="1209804" cy="228600"/>
          </a:xfrm>
          <a:prstGeom prst="roundRect">
            <a:avLst>
              <a:gd name="adj" fmla="val 29787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668410" y="2377380"/>
            <a:ext cx="1097161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53366" y="2377380"/>
            <a:ext cx="1097161" cy="223838"/>
          </a:xfrm>
          <a:prstGeom prst="roundRect">
            <a:avLst>
              <a:gd name="adj" fmla="val 29787"/>
            </a:avLst>
          </a:prstGeom>
          <a:solidFill>
            <a:srgbClr val="B9C8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6939092" y="2377380"/>
            <a:ext cx="963811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2020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95938" y="2648843"/>
            <a:ext cx="717202" cy="223838"/>
          </a:xfrm>
          <a:prstGeom prst="roundRect">
            <a:avLst>
              <a:gd name="adj" fmla="val 29787"/>
            </a:avLst>
          </a:prstGeom>
          <a:solidFill>
            <a:srgbClr val="B9C8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681662" y="2648843"/>
            <a:ext cx="583852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2010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60765" y="2648843"/>
            <a:ext cx="717202" cy="223838"/>
          </a:xfrm>
          <a:prstGeom prst="roundRect">
            <a:avLst>
              <a:gd name="adj" fmla="val 29787"/>
            </a:avLst>
          </a:prstGeom>
          <a:solidFill>
            <a:srgbClr val="B9C8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446490" y="2648843"/>
            <a:ext cx="583852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2020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95938" y="2996506"/>
            <a:ext cx="2894172" cy="3780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975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data fit the first one. Yours may fit a different one.</a:t>
            </a:r>
            <a:endParaRPr lang="en-US" sz="975" dirty="0"/>
          </a:p>
        </p:txBody>
      </p:sp>
      <p:pic>
        <p:nvPicPr>
          <p:cNvPr id="32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33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E3DB5924-4DF0-41A1-9B75-17E98331E443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15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4" y="381000"/>
            <a:ext cx="5618508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Where, so far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981075"/>
            <a:ext cx="3952875" cy="3143250"/>
          </a:xfrm>
          <a:prstGeom prst="roundRect">
            <a:avLst>
              <a:gd name="adj" fmla="val 2121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57238" y="1195388"/>
            <a:ext cx="3834765" cy="2933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2480" y="1593502"/>
            <a:ext cx="3489008" cy="2505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126682" indent="-126682" algn="l">
              <a:lnSpc>
                <a:spcPct val="123913"/>
              </a:lnSpc>
              <a:buSzPct val="100000"/>
              <a:buChar char="•"/>
              <a:tabLst>
                <a:tab pos="126682" algn="l"/>
              </a:tabLst>
            </a:pPr>
            <a:r>
              <a:rPr lang="en-US" sz="14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Tracts nest in counties. ZCTAs nest in nothing.</a:t>
            </a:r>
            <a:endParaRPr lang="en-US" sz="1425" dirty="0"/>
          </a:p>
          <a:p>
            <a:pPr marL="126682" indent="-126682" algn="l">
              <a:lnSpc>
                <a:spcPct val="123913"/>
              </a:lnSpc>
              <a:buSzPct val="100000"/>
              <a:buChar char="•"/>
              <a:tabLst>
                <a:tab pos="126682" algn="l"/>
              </a:tabLst>
            </a:pPr>
            <a:r>
              <a:rPr lang="en-US" sz="14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ZIP ≠ ZCTA. ZIP codes need a crosswalk first.</a:t>
            </a:r>
            <a:endParaRPr lang="en-US" sz="1425" dirty="0"/>
          </a:p>
          <a:p>
            <a:pPr marL="126682" indent="-126682" algn="l">
              <a:lnSpc>
                <a:spcPct val="123913"/>
              </a:lnSpc>
              <a:buSzPct val="100000"/>
              <a:buChar char="•"/>
              <a:tabLst>
                <a:tab pos="126682" algn="l"/>
              </a:tabLst>
            </a:pPr>
            <a:r>
              <a:rPr lang="en-US" sz="14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 follow the geocoding date: before 2020 means 2010.</a:t>
            </a:r>
            <a:endParaRPr lang="en-US" sz="1425" dirty="0"/>
          </a:p>
          <a:p>
            <a:pPr marL="126682" indent="-126682" algn="l">
              <a:lnSpc>
                <a:spcPct val="123913"/>
              </a:lnSpc>
              <a:buSzPct val="100000"/>
              <a:buChar char="•"/>
              <a:tabLst>
                <a:tab pos="126682" algn="l"/>
              </a:tabLst>
            </a:pPr>
            <a:r>
              <a:rPr lang="en-US" sz="14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Store FIPS codes as text to preserve leading zeros.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4667250" y="981075"/>
            <a:ext cx="3952875" cy="1304925"/>
          </a:xfrm>
          <a:prstGeom prst="roundRect">
            <a:avLst>
              <a:gd name="adj" fmla="val 5109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76800" y="1152525"/>
            <a:ext cx="3887152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kern="0" spc="42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WHERE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76800" y="1392510"/>
            <a:ext cx="3639788" cy="77896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codes on 2010 boundaries. Census Tract 2010 file, linked on tract_fips10.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667250" y="2438400"/>
            <a:ext cx="4194096" cy="48860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Want a refresher after today? </a:t>
            </a:r>
            <a:r>
              <a:rPr lang="en-US" sz="1275" b="1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NaNDA's guide to geographies</a:t>
            </a:r>
            <a:endParaRPr lang="en-US" sz="1275" dirty="0"/>
          </a:p>
        </p:txBody>
      </p:sp>
      <p:pic>
        <p:nvPicPr>
          <p:cNvPr id="11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12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F650AC4D-2AF0-4499-8D94-A4BC9C42E904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16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728788"/>
            <a:ext cx="93470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 2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2033588"/>
            <a:ext cx="4723986" cy="781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2902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23875" y="2928938"/>
            <a:ext cx="5181124" cy="2723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NaNDA years match my data collection window?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465E005F-0C26-430B-A07E-07E55E248216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17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5966370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kinds of timing</a:t>
            </a:r>
            <a:endParaRPr lang="en-US" sz="2400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934790"/>
            <a:ext cx="1198593" cy="2066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750" y="1200150"/>
            <a:ext cx="2357438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Yearly dataset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6750" y="1426815"/>
            <a:ext cx="2207419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Civic, Social, and Religious Organizations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2905125" y="1285875"/>
            <a:ext cx="5610225" cy="209550"/>
          </a:xfrm>
          <a:custGeom>
            <a:avLst/>
            <a:gdLst/>
            <a:ahLst/>
            <a:cxnLst/>
            <a:rect l="l" t="t" r="r" b="b"/>
            <a:pathLst>
              <a:path w="11220450" h="419100">
                <a:moveTo>
                  <a:pt x="0" y="0"/>
                </a:moveTo>
                <a:lnTo>
                  <a:pt x="11144250" y="0"/>
                </a:lnTo>
                <a:arcTo wR="76200" hR="76200" stAng="16200000" swAng="5400000"/>
                <a:lnTo>
                  <a:pt x="11220450" y="342900"/>
                </a:lnTo>
                <a:arcTo wR="76200" hR="7620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820972" y="1285875"/>
            <a:ext cx="5778532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value per place per year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66750" y="2076450"/>
            <a:ext cx="2357438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dataset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6750" y="2303115"/>
            <a:ext cx="2357438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Socioeconomic Status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3048000" y="2019300"/>
            <a:ext cx="1804988" cy="190500"/>
          </a:xfrm>
          <a:prstGeom prst="roundRect">
            <a:avLst>
              <a:gd name="adj" fmla="val 20000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020925" y="2019300"/>
            <a:ext cx="1859137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72038" y="2019300"/>
            <a:ext cx="1800225" cy="190500"/>
          </a:xfrm>
          <a:prstGeom prst="roundRect">
            <a:avLst>
              <a:gd name="adj" fmla="val 20000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4845034" y="2019300"/>
            <a:ext cx="1854232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62650" y="2362200"/>
            <a:ext cx="1804988" cy="190500"/>
          </a:xfrm>
          <a:prstGeom prst="roundRect">
            <a:avLst>
              <a:gd name="adj" fmla="val 20000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935575" y="2362200"/>
            <a:ext cx="1859137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2020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91312" y="2581275"/>
            <a:ext cx="1824038" cy="190500"/>
          </a:xfrm>
          <a:prstGeom prst="roundRect">
            <a:avLst>
              <a:gd name="adj" fmla="val 20000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663952" y="2581275"/>
            <a:ext cx="1878758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 to 2022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23875" y="2981325"/>
            <a:ext cx="8096250" cy="533400"/>
          </a:xfrm>
          <a:prstGeom prst="roundRect">
            <a:avLst>
              <a:gd name="adj" fmla="val 12500"/>
            </a:avLst>
          </a:prstGeom>
          <a:solidFill>
            <a:srgbClr val="EAF6E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50" y="3076575"/>
            <a:ext cx="342900" cy="342900"/>
          </a:xfrm>
          <a:prstGeom prst="ellipse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04900" y="3076575"/>
            <a:ext cx="1938338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kern="0" spc="36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DATA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4900" y="3234630"/>
            <a:ext cx="1938338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interviews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981700" y="3152775"/>
            <a:ext cx="323850" cy="1905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5962650" y="3152775"/>
            <a:ext cx="361950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348412" y="3152775"/>
            <a:ext cx="323850" cy="1905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4"/>
          <p:cNvSpPr/>
          <p:nvPr/>
        </p:nvSpPr>
        <p:spPr>
          <a:xfrm>
            <a:off x="6329362" y="3152775"/>
            <a:ext cx="361950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710362" y="3152775"/>
            <a:ext cx="323850" cy="1905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6691312" y="3152775"/>
            <a:ext cx="361950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077075" y="3152775"/>
            <a:ext cx="323850" cy="1905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7058025" y="3152775"/>
            <a:ext cx="361950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905125" y="3609975"/>
            <a:ext cx="5715000" cy="9525"/>
          </a:xfrm>
          <a:prstGeom prst="rect">
            <a:avLst/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2886075" y="36671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979515" y="36671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2011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072956" y="36671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2014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166396" y="36671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259836" y="36671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353276" y="3667125"/>
            <a:ext cx="323850" cy="173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marL="0" indent="0" algn="ctr">
              <a:lnSpc>
                <a:spcPct val="111724"/>
              </a:lnSpc>
              <a:buNone/>
            </a:pPr>
            <a:r>
              <a:rPr lang="en-US" sz="100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2023</a:t>
            </a:r>
            <a:endParaRPr lang="en-US" sz="900" dirty="0"/>
          </a:p>
        </p:txBody>
      </p:sp>
      <p:pic>
        <p:nvPicPr>
          <p:cNvPr id="40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41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A17A7902-246B-429B-98A8-EEACC06E4359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18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428750"/>
            <a:ext cx="1185840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WHEN, PART 1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1733550"/>
            <a:ext cx="5762625" cy="48004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1321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Yearly dataset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23875" y="2857500"/>
            <a:ext cx="4905375" cy="77896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Places to gather come from </a:t>
            </a:r>
            <a:r>
              <a:rPr lang="en-US" sz="142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Civic, Social, and Religious Organizations</a:t>
            </a: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one value per tract per year. 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036B0C2D-C839-46B2-B337-8D6F6C710641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19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381000"/>
            <a:ext cx="3736699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b="1" kern="0" spc="84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 2 OF 3 · YEARS, YEARLY DATASET</a:t>
            </a:r>
            <a:endParaRPr lang="en-US" sz="105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609600"/>
            <a:ext cx="8905875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years does Jordan use?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1076325"/>
            <a:ext cx="8084058" cy="460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Civic, Social, and Religious Organizations is a yearly dataset, 1990 to 2022. Jordan's interviews: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2016, 2017, 2018</a:t>
            </a:r>
            <a:r>
              <a:rPr lang="en-US" sz="1200" b="1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2019</a:t>
            </a:r>
            <a:r>
              <a:rPr lang="en-US" sz="120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3875" y="1676400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816894"/>
            <a:ext cx="204192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9992" y="1810268"/>
            <a:ext cx="2262567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only, the enrollment 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9625" y="1676400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81550" y="1816894"/>
            <a:ext cx="313911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2840" y="1796911"/>
            <a:ext cx="3579621" cy="3905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2016, 2017, 2018, and 2019, one per interview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3875" y="2238375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78869"/>
            <a:ext cx="17576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0141" y="2378869"/>
            <a:ext cx="235260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2022 only, the most recent year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9625" y="2238375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81550" y="2378869"/>
            <a:ext cx="313911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00852" y="2378869"/>
            <a:ext cx="60855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sure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3875" y="3848100"/>
            <a:ext cx="8096250" cy="485775"/>
          </a:xfrm>
          <a:prstGeom prst="roundRect">
            <a:avLst>
              <a:gd name="adj" fmla="val 13725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4374" y="3998118"/>
            <a:ext cx="90978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the poll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47850" y="3990975"/>
            <a:ext cx="3332604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Watch for it to pop up in your Zoom window.</a:t>
            </a:r>
            <a:endParaRPr lang="en-US" sz="1125" dirty="0"/>
          </a:p>
        </p:txBody>
      </p:sp>
      <p:pic>
        <p:nvPicPr>
          <p:cNvPr id="20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1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A57644CB-B21A-46C4-91D6-14A20A3BA410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20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7075884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answer is B: every interview year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1019175"/>
            <a:ext cx="2305464" cy="2171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interviews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4606" y="1285875"/>
            <a:ext cx="953690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545556" y="1285875"/>
            <a:ext cx="99179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84972" y="1285875"/>
            <a:ext cx="953690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565922" y="1285875"/>
            <a:ext cx="99179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05338" y="1285875"/>
            <a:ext cx="953690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86288" y="1285875"/>
            <a:ext cx="99179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5703" y="1285875"/>
            <a:ext cx="953690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06653" y="1285875"/>
            <a:ext cx="99179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6922" y="1619250"/>
            <a:ext cx="104906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37288" y="1619250"/>
            <a:ext cx="104906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57653" y="1619250"/>
            <a:ext cx="104906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↓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78018" y="1619250"/>
            <a:ext cx="1049060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286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↓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23875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4825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44240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525190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4606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545556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84972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565922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05338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86288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25703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606653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46069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627019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66434" y="1914525"/>
            <a:ext cx="953690" cy="457200"/>
          </a:xfrm>
          <a:prstGeom prst="roundRect">
            <a:avLst>
              <a:gd name="adj" fmla="val 8333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47384" y="1914525"/>
            <a:ext cx="991790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875" y="2381250"/>
            <a:ext cx="5371356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 file · one value per tract per year, 1990 to 2022 (2014 to 2021 shown)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23875" y="2781300"/>
            <a:ext cx="8339138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yearly dataset has a value for every tract in every year, so each interview is matched to its own year. A 2016 interview gets the 2016 value for that tract; a 2019 interview gets the 2019 value.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3875" y="3648075"/>
            <a:ext cx="8096250" cy="685800"/>
          </a:xfrm>
          <a:prstGeom prst="roundRect">
            <a:avLst>
              <a:gd name="adj" fmla="val 9722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14375" y="3790950"/>
            <a:ext cx="1313208" cy="43338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Yearly: </a:t>
            </a:r>
          </a:p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 the year.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2298204" y="3790950"/>
            <a:ext cx="6315364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one of Jordan's years has a match. If your years fall outside the dataset's range, use the nearest year and document the decision in your methods.</a:t>
            </a:r>
            <a:endParaRPr lang="en-US" sz="1125" dirty="0"/>
          </a:p>
        </p:txBody>
      </p:sp>
      <p:pic>
        <p:nvPicPr>
          <p:cNvPr id="38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39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562B8D06-9992-43A9-A901-45D1FB90FE8E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21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6619046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year, or every year?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828675"/>
            <a:ext cx="7848600" cy="48860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244"/>
              </a:lnSpc>
              <a:buNone/>
            </a:pPr>
            <a:r>
              <a:rPr lang="en-US" sz="12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Whether you need to match every interview year depends on how fast the neighborhood measure changes. That is a methods decision, and yours to make.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523875" y="1409700"/>
            <a:ext cx="3952875" cy="2199308"/>
          </a:xfrm>
          <a:prstGeom prst="roundRect">
            <a:avLst>
              <a:gd name="adj" fmla="val 303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8188" y="1604962"/>
            <a:ext cx="3876675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CHANGES SLOWLY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38188" y="1861170"/>
            <a:ext cx="3876675" cy="2571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year can be enough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8188" y="2194545"/>
            <a:ext cx="3629978" cy="8763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Places of worship and civic organizations do not move around much. Using one year for everyone, say 2016 at enrollment, may work for Jordan, and keep the analysis simpler.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738188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16458" y="3147045"/>
            <a:ext cx="357857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6544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91320" y="3147045"/>
            <a:ext cx="32928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34902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939677" y="3147045"/>
            <a:ext cx="32928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83259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488034" y="3147045"/>
            <a:ext cx="32928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0624" y="1409700"/>
            <a:ext cx="3952875" cy="2199308"/>
          </a:xfrm>
          <a:prstGeom prst="roundRect">
            <a:avLst>
              <a:gd name="adj" fmla="val 303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81562" y="1604962"/>
            <a:ext cx="3876675" cy="1800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975" kern="0" spc="39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CHANGES FAST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81562" y="1861170"/>
            <a:ext cx="3876675" cy="2571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Match each year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81562" y="2194545"/>
            <a:ext cx="3629978" cy="6619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Some measures shift rapidly within a study window. Business openings and closings before and after the pandemic, for example. Match the interview year.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4881562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59833" y="3147045"/>
            <a:ext cx="410244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9920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508190" y="3147045"/>
            <a:ext cx="434058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78277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56548" y="3147045"/>
            <a:ext cx="481682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26634" y="3147045"/>
            <a:ext cx="500732" cy="266700"/>
          </a:xfrm>
          <a:prstGeom prst="roundRect">
            <a:avLst>
              <a:gd name="adj" fmla="val 50000"/>
            </a:avLst>
          </a:prstGeom>
          <a:solidFill>
            <a:srgbClr val="32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604905" y="3147045"/>
            <a:ext cx="395957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3875" y="3648075"/>
            <a:ext cx="8096250" cy="685800"/>
          </a:xfrm>
          <a:prstGeom prst="roundRect">
            <a:avLst>
              <a:gd name="adj" fmla="val 9722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14375" y="3790950"/>
            <a:ext cx="1766850" cy="43338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Either way,</a:t>
            </a:r>
          </a:p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write it down.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2453952" y="3790950"/>
            <a:ext cx="6154942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 which years you used and why in your methods. Not sure how fast your measure changes? Pull two years and compare them.</a:t>
            </a:r>
            <a:endParaRPr lang="en-US" sz="1125" dirty="0"/>
          </a:p>
        </p:txBody>
      </p:sp>
      <p:pic>
        <p:nvPicPr>
          <p:cNvPr id="3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33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6236E0A9-0C2D-4446-AA41-28B1F496223E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22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428750"/>
            <a:ext cx="1185840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WHEN, PART 2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1733550"/>
            <a:ext cx="5762625" cy="48004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1321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dataset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23875" y="2857500"/>
            <a:ext cx="4905375" cy="77896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Neighborhood poverty comes from a </a:t>
            </a:r>
            <a:r>
              <a:rPr lang="en-US" sz="142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dataset</a:t>
            </a: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one value per 5-year window, not one per year. 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4C0572D8-0539-47B5-B534-CBEDE943EEEC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23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4883824" cy="37527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1220"/>
              </a:lnSpc>
              <a:buNone/>
            </a:pPr>
            <a:r>
              <a:rPr lang="en-US" sz="25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Socioeconomic Status: the files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60592" y="406226"/>
            <a:ext cx="190500" cy="104775"/>
          </a:xfrm>
          <a:prstGeom prst="roundRect">
            <a:avLst>
              <a:gd name="adj" fmla="val 22727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08242" y="394320"/>
            <a:ext cx="1049982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D48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tract boundaries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7360592" y="582439"/>
            <a:ext cx="190500" cy="104775"/>
          </a:xfrm>
          <a:prstGeom prst="roundRect">
            <a:avLst>
              <a:gd name="adj" fmla="val 22727"/>
            </a:avLst>
          </a:prstGeom>
          <a:pattFill prst="wdUpDiag">
            <a:fgClr>
              <a:srgbClr val="16B1C1"/>
            </a:fgClr>
            <a:bgClr>
              <a:srgbClr val="E3F6F8"/>
            </a:bgClr>
          </a:pattFill>
          <a:ln w="9525">
            <a:solidFill>
              <a:srgbClr val="16B1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608242" y="570532"/>
            <a:ext cx="1049982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D48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 tract boundaries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523875" y="946770"/>
            <a:ext cx="8096250" cy="1447279"/>
          </a:xfrm>
          <a:prstGeom prst="roundRect">
            <a:avLst>
              <a:gd name="adj" fmla="val 3949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022970"/>
            <a:ext cx="826368" cy="1428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8175" y="1203945"/>
            <a:ext cx="1302648" cy="1614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Socioeconomic Status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523875" y="1432024"/>
            <a:ext cx="2679427" cy="257175"/>
          </a:xfrm>
          <a:prstGeom prst="roundRect">
            <a:avLst>
              <a:gd name="adj" fmla="val 14815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3684" y="1432024"/>
            <a:ext cx="2759810" cy="2762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1402" y="1432024"/>
            <a:ext cx="2679427" cy="257175"/>
          </a:xfrm>
          <a:prstGeom prst="roundRect">
            <a:avLst>
              <a:gd name="adj" fmla="val 14815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201210" y="1432024"/>
            <a:ext cx="2759810" cy="2762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1602" y="1746349"/>
            <a:ext cx="2698477" cy="257175"/>
          </a:xfrm>
          <a:prstGeom prst="roundRect">
            <a:avLst>
              <a:gd name="adj" fmla="val 14815"/>
            </a:avLst>
          </a:prstGeom>
          <a:pattFill prst="wdUpDiag">
            <a:fgClr>
              <a:srgbClr val="16B1C1"/>
            </a:fgClr>
            <a:bgClr>
              <a:srgbClr val="E3F6F8"/>
            </a:bgClr>
          </a:pattFill>
          <a:ln w="9525">
            <a:solidFill>
              <a:srgbClr val="16B1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653340" y="1774936"/>
            <a:ext cx="1075000" cy="2000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653340" y="1774936"/>
            <a:ext cx="1075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2020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21574" y="2060674"/>
            <a:ext cx="2698477" cy="257175"/>
          </a:xfrm>
          <a:prstGeom prst="roundRect">
            <a:avLst>
              <a:gd name="adj" fmla="val 14815"/>
            </a:avLst>
          </a:prstGeom>
          <a:pattFill prst="wdUpDiag">
            <a:fgClr>
              <a:srgbClr val="16B1C1"/>
            </a:fgClr>
            <a:bgClr>
              <a:srgbClr val="E3F6F8"/>
            </a:bgClr>
          </a:pattFill>
          <a:ln w="9525">
            <a:solidFill>
              <a:srgbClr val="16B1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733312" y="2089262"/>
            <a:ext cx="1075000" cy="2000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733312" y="2089262"/>
            <a:ext cx="1075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 to 2022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3875" y="2451199"/>
            <a:ext cx="8096250" cy="438150"/>
          </a:xfrm>
          <a:prstGeom prst="roundRect">
            <a:avLst>
              <a:gd name="adj" fmla="val 13043"/>
            </a:avLst>
          </a:prstGeom>
          <a:solidFill>
            <a:srgbClr val="E8F3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38175" y="2517874"/>
            <a:ext cx="304800" cy="304800"/>
          </a:xfrm>
          <a:prstGeom prst="ellipse">
            <a:avLst/>
          </a:prstGeom>
          <a:solidFill>
            <a:srgbClr val="DFE6E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2517874"/>
            <a:ext cx="304800" cy="304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19175" y="2541910"/>
            <a:ext cx="1139920" cy="1333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DATA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19175" y="2656210"/>
            <a:ext cx="1139920" cy="1614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85000" lnSpcReduction="10000"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3A9B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interviews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4897636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22"/>
          <p:cNvSpPr/>
          <p:nvPr/>
        </p:nvSpPr>
        <p:spPr>
          <a:xfrm>
            <a:off x="4878586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5436915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24"/>
          <p:cNvSpPr/>
          <p:nvPr/>
        </p:nvSpPr>
        <p:spPr>
          <a:xfrm>
            <a:off x="5417865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75" dirty="0"/>
          </a:p>
        </p:txBody>
      </p:sp>
      <p:sp>
        <p:nvSpPr>
          <p:cNvPr id="29" name="Shape 25"/>
          <p:cNvSpPr/>
          <p:nvPr/>
        </p:nvSpPr>
        <p:spPr>
          <a:xfrm>
            <a:off x="5976938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26"/>
          <p:cNvSpPr/>
          <p:nvPr/>
        </p:nvSpPr>
        <p:spPr>
          <a:xfrm>
            <a:off x="5957888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975" dirty="0"/>
          </a:p>
        </p:txBody>
      </p:sp>
      <p:sp>
        <p:nvSpPr>
          <p:cNvPr id="31" name="Shape 27"/>
          <p:cNvSpPr/>
          <p:nvPr/>
        </p:nvSpPr>
        <p:spPr>
          <a:xfrm>
            <a:off x="6516886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28"/>
          <p:cNvSpPr/>
          <p:nvPr/>
        </p:nvSpPr>
        <p:spPr>
          <a:xfrm>
            <a:off x="6497836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523875" y="2946499"/>
            <a:ext cx="8096250" cy="9525"/>
          </a:xfrm>
          <a:prstGeom prst="rect">
            <a:avLst/>
          </a:prstGeom>
          <a:solidFill>
            <a:srgbClr val="DFE6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39908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201833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2011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63758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2014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25683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87608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49533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2023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23875" y="3648075"/>
            <a:ext cx="8096250" cy="700088"/>
          </a:xfrm>
          <a:prstGeom prst="roundRect">
            <a:avLst>
              <a:gd name="adj" fmla="val 9524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7"/>
          <p:cNvSpPr/>
          <p:nvPr/>
        </p:nvSpPr>
        <p:spPr>
          <a:xfrm>
            <a:off x="762000" y="3790950"/>
            <a:ext cx="1257300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 first.</a:t>
            </a:r>
            <a:endParaRPr lang="en-US" sz="1125" dirty="0"/>
          </a:p>
        </p:txBody>
      </p:sp>
      <p:sp>
        <p:nvSpPr>
          <p:cNvPr id="42" name="Text 38"/>
          <p:cNvSpPr/>
          <p:nvPr/>
        </p:nvSpPr>
        <p:spPr>
          <a:xfrm>
            <a:off x="2095500" y="3790950"/>
            <a:ext cx="6475095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codes are 2010 tracts, so we'll use 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files. That leaves one question: </a:t>
            </a: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time period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</a:t>
            </a:r>
            <a:endParaRPr lang="en-US" sz="1125" dirty="0"/>
          </a:p>
        </p:txBody>
      </p:sp>
      <p:pic>
        <p:nvPicPr>
          <p:cNvPr id="43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44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D3ACF39E-B8E4-4378-8E7A-7CACAAA6C773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24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4" y="381000"/>
            <a:ext cx="4333046" cy="192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b="1" kern="0" spc="84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 3 OF 3 · YEARS, PERIOD DATASET (SES)</a:t>
            </a:r>
            <a:endParaRPr lang="en-US" sz="105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609600"/>
            <a:ext cx="8905875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Which 5-year window fits Jordan's research?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1076325"/>
            <a:ext cx="8339138" cy="460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codes are 2010 tracts. Socioeconomic Status windows: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and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(2010 boundaries);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2020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and </a:t>
            </a:r>
            <a:r>
              <a:rPr lang="en-US" sz="120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 to 2022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(2020 boundaries). Interviews: 2016 to 2019.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3875" y="1676400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816894"/>
            <a:ext cx="255104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618" y="1816894"/>
            <a:ext cx="983984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9625" y="1676400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81550" y="1816894"/>
            <a:ext cx="30065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9466" y="1816894"/>
            <a:ext cx="983984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 to 2022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3875" y="2238375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2378869"/>
            <a:ext cx="17576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0141" y="2378869"/>
            <a:ext cx="983984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9625" y="2238375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81550" y="2378869"/>
            <a:ext cx="30065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00852" y="2378869"/>
            <a:ext cx="983984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2020</a:t>
            </a:r>
            <a:endParaRPr lang="en-US" sz="1200" dirty="0"/>
          </a:p>
        </p:txBody>
      </p:sp>
      <p:sp>
        <p:nvSpPr>
          <p:cNvPr id="21" name="Shape 40"/>
          <p:cNvSpPr/>
          <p:nvPr/>
        </p:nvSpPr>
        <p:spPr>
          <a:xfrm>
            <a:off x="523875" y="2800350"/>
            <a:ext cx="4000500" cy="466725"/>
          </a:xfrm>
          <a:prstGeom prst="roundRect">
            <a:avLst>
              <a:gd name="adj" fmla="val 14286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41"/>
          <p:cNvSpPr/>
          <p:nvPr/>
        </p:nvSpPr>
        <p:spPr>
          <a:xfrm>
            <a:off x="685800" y="2940844"/>
            <a:ext cx="17576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E.</a:t>
            </a:r>
            <a:endParaRPr lang="en-US" sz="1200" dirty="0"/>
          </a:p>
        </p:txBody>
      </p:sp>
      <p:sp>
        <p:nvSpPr>
          <p:cNvPr id="23" name="Text 42"/>
          <p:cNvSpPr/>
          <p:nvPr/>
        </p:nvSpPr>
        <p:spPr>
          <a:xfrm>
            <a:off x="890141" y="2940844"/>
            <a:ext cx="983984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sure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3875" y="3848100"/>
            <a:ext cx="8096250" cy="485775"/>
          </a:xfrm>
          <a:prstGeom prst="roundRect">
            <a:avLst>
              <a:gd name="adj" fmla="val 13725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4375" y="3998118"/>
            <a:ext cx="1028286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Join the poll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47850" y="3990975"/>
            <a:ext cx="3332604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Watch for it to pop up in your Zoom window.</a:t>
            </a:r>
            <a:endParaRPr lang="en-US" sz="1125" dirty="0"/>
          </a:p>
        </p:txBody>
      </p:sp>
      <p:pic>
        <p:nvPicPr>
          <p:cNvPr id="20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4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621363CD-9D25-4C52-8591-334EE667705E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25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4883824" cy="37527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1220"/>
              </a:lnSpc>
              <a:buNone/>
            </a:pPr>
            <a:r>
              <a:rPr lang="en-US" sz="25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answer is A: 2013 to 2017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7360592" y="406226"/>
            <a:ext cx="190500" cy="104775"/>
          </a:xfrm>
          <a:prstGeom prst="roundRect">
            <a:avLst>
              <a:gd name="adj" fmla="val 22727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7608242" y="394320"/>
            <a:ext cx="1049982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D48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tract boundaries</a:t>
            </a:r>
            <a:endParaRPr lang="en-US" sz="825" dirty="0"/>
          </a:p>
        </p:txBody>
      </p:sp>
      <p:sp>
        <p:nvSpPr>
          <p:cNvPr id="6" name="Shape 3"/>
          <p:cNvSpPr/>
          <p:nvPr/>
        </p:nvSpPr>
        <p:spPr>
          <a:xfrm>
            <a:off x="7360592" y="582439"/>
            <a:ext cx="190500" cy="104775"/>
          </a:xfrm>
          <a:prstGeom prst="roundRect">
            <a:avLst>
              <a:gd name="adj" fmla="val 22727"/>
            </a:avLst>
          </a:prstGeom>
          <a:pattFill prst="wdUpDiag">
            <a:fgClr>
              <a:srgbClr val="16B1C1"/>
            </a:fgClr>
            <a:bgClr>
              <a:srgbClr val="E3F6F8"/>
            </a:bgClr>
          </a:pattFill>
          <a:ln w="9525">
            <a:solidFill>
              <a:srgbClr val="16B1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608242" y="570532"/>
            <a:ext cx="1049982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D48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 tract boundaries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523875" y="946770"/>
            <a:ext cx="8096250" cy="1447279"/>
          </a:xfrm>
          <a:prstGeom prst="roundRect">
            <a:avLst>
              <a:gd name="adj" fmla="val 3949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022970"/>
            <a:ext cx="826368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175" y="1203945"/>
            <a:ext cx="1302648" cy="1614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Socioeconomic Status</a:t>
            </a:r>
            <a:endParaRPr lang="en-US" sz="975" dirty="0"/>
          </a:p>
        </p:txBody>
      </p:sp>
      <p:sp>
        <p:nvSpPr>
          <p:cNvPr id="11" name="Shape 7"/>
          <p:cNvSpPr/>
          <p:nvPr/>
        </p:nvSpPr>
        <p:spPr>
          <a:xfrm>
            <a:off x="523875" y="1432024"/>
            <a:ext cx="2679427" cy="257175"/>
          </a:xfrm>
          <a:prstGeom prst="roundRect">
            <a:avLst>
              <a:gd name="adj" fmla="val 14815"/>
            </a:avLst>
          </a:prstGeom>
          <a:solidFill>
            <a:srgbClr val="CFEAFB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483684" y="1432024"/>
            <a:ext cx="2759810" cy="2762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A98">
                    <a:alpha val="6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41402" y="1432024"/>
            <a:ext cx="2679427" cy="257175"/>
          </a:xfrm>
          <a:prstGeom prst="roundRect">
            <a:avLst>
              <a:gd name="adj" fmla="val 14815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3201210" y="1432024"/>
            <a:ext cx="2759810" cy="2762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41602" y="1746349"/>
            <a:ext cx="2698477" cy="257175"/>
          </a:xfrm>
          <a:prstGeom prst="roundRect">
            <a:avLst>
              <a:gd name="adj" fmla="val 14815"/>
            </a:avLst>
          </a:prstGeom>
          <a:pattFill prst="wdUpDiag">
            <a:fgClr>
              <a:srgbClr val="16B1C1">
                <a:alpha val="30000"/>
              </a:srgbClr>
            </a:fgClr>
            <a:bgClr>
              <a:srgbClr val="E3F6F8">
                <a:alpha val="30000"/>
              </a:srgbClr>
            </a:bgClr>
          </a:pattFill>
          <a:ln w="9525">
            <a:solidFill>
              <a:srgbClr val="16B1C1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5653340" y="1774936"/>
            <a:ext cx="1075000" cy="200000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5653340" y="1774936"/>
            <a:ext cx="1075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3333">
                    <a:alpha val="6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2020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21574" y="2060674"/>
            <a:ext cx="2698477" cy="257175"/>
          </a:xfrm>
          <a:prstGeom prst="roundRect">
            <a:avLst>
              <a:gd name="adj" fmla="val 14815"/>
            </a:avLst>
          </a:prstGeom>
          <a:pattFill prst="wdUpDiag">
            <a:fgClr>
              <a:srgbClr val="16B1C1">
                <a:alpha val="30000"/>
              </a:srgbClr>
            </a:fgClr>
            <a:bgClr>
              <a:srgbClr val="E3F6F8">
                <a:alpha val="30000"/>
              </a:srgbClr>
            </a:bgClr>
          </a:pattFill>
          <a:ln w="9525">
            <a:solidFill>
              <a:srgbClr val="16B1C1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6733312" y="2089262"/>
            <a:ext cx="1075000" cy="200000"/>
          </a:xfrm>
          <a:prstGeom prst="roundRect">
            <a:avLst>
              <a:gd name="adj" fmla="val 15789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6733312" y="2089262"/>
            <a:ext cx="1075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3333">
                    <a:alpha val="6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 to 2022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23875" y="2451199"/>
            <a:ext cx="8096250" cy="438150"/>
          </a:xfrm>
          <a:prstGeom prst="roundRect">
            <a:avLst>
              <a:gd name="adj" fmla="val 13043"/>
            </a:avLst>
          </a:prstGeom>
          <a:solidFill>
            <a:srgbClr val="E8F3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638175" y="2517874"/>
            <a:ext cx="304800" cy="304800"/>
          </a:xfrm>
          <a:prstGeom prst="ellipse">
            <a:avLst/>
          </a:prstGeom>
          <a:solidFill>
            <a:srgbClr val="DFE6E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2517874"/>
            <a:ext cx="304800" cy="304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19175" y="2541910"/>
            <a:ext cx="1139920" cy="1333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DATA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1019175" y="2656210"/>
            <a:ext cx="1139920" cy="1614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85000" lnSpcReduction="10000"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3A9B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interviews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4897636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4878586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5436915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4"/>
          <p:cNvSpPr/>
          <p:nvPr/>
        </p:nvSpPr>
        <p:spPr>
          <a:xfrm>
            <a:off x="5417865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5976938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/>
          <p:cNvSpPr/>
          <p:nvPr/>
        </p:nvSpPr>
        <p:spPr>
          <a:xfrm>
            <a:off x="5957888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6516886" y="255597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28"/>
          <p:cNvSpPr/>
          <p:nvPr/>
        </p:nvSpPr>
        <p:spPr>
          <a:xfrm>
            <a:off x="6497836" y="255597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2019</a:t>
            </a:r>
            <a:endParaRPr lang="en-US" sz="975" dirty="0"/>
          </a:p>
        </p:txBody>
      </p:sp>
      <p:sp>
        <p:nvSpPr>
          <p:cNvPr id="34" name="Shape 29"/>
          <p:cNvSpPr/>
          <p:nvPr/>
        </p:nvSpPr>
        <p:spPr>
          <a:xfrm>
            <a:off x="523875" y="2946499"/>
            <a:ext cx="8096250" cy="9525"/>
          </a:xfrm>
          <a:prstGeom prst="rect">
            <a:avLst/>
          </a:prstGeom>
          <a:solidFill>
            <a:srgbClr val="DFE6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/>
          <p:cNvSpPr/>
          <p:nvPr/>
        </p:nvSpPr>
        <p:spPr>
          <a:xfrm>
            <a:off x="39908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201833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2011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363758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2014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25683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87608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495332" y="300364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2023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523875" y="3771900"/>
            <a:ext cx="8096250" cy="476250"/>
          </a:xfrm>
          <a:prstGeom prst="roundRect">
            <a:avLst>
              <a:gd name="adj" fmla="val 9524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25"/>
          <p:cNvSpPr/>
          <p:nvPr/>
        </p:nvSpPr>
        <p:spPr>
          <a:xfrm>
            <a:off x="600075" y="3161654"/>
            <a:ext cx="4071462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2017: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2010 boundaries. Covers 2016 and 2017.</a:t>
            </a:r>
          </a:p>
        </p:txBody>
      </p:sp>
      <p:sp>
        <p:nvSpPr>
          <p:cNvPr id="43" name="Text 26"/>
          <p:cNvSpPr/>
          <p:nvPr/>
        </p:nvSpPr>
        <p:spPr>
          <a:xfrm>
            <a:off x="4743450" y="3161654"/>
            <a:ext cx="4071462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2020 and 2018 to 2022</a:t>
            </a:r>
            <a:r>
              <a:rPr lang="en-US" sz="1200" b="1" dirty="0">
                <a:solidFill>
                  <a:srgbClr val="004A9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 years, but 2020 boundaries. They won't link.</a:t>
            </a:r>
          </a:p>
        </p:txBody>
      </p:sp>
      <p:sp>
        <p:nvSpPr>
          <p:cNvPr id="44" name="Text 28"/>
          <p:cNvSpPr/>
          <p:nvPr/>
        </p:nvSpPr>
        <p:spPr>
          <a:xfrm>
            <a:off x="714375" y="3894772"/>
            <a:ext cx="1515554" cy="43338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 first.</a:t>
            </a:r>
          </a:p>
        </p:txBody>
      </p:sp>
      <p:sp>
        <p:nvSpPr>
          <p:cNvPr id="45" name="Text 29"/>
          <p:cNvSpPr/>
          <p:nvPr/>
        </p:nvSpPr>
        <p:spPr>
          <a:xfrm>
            <a:off x="2225502" y="3894772"/>
            <a:ext cx="6390248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the gap for 2018 and 2019 in your methods.</a:t>
            </a:r>
            <a:endParaRPr lang="en-US" sz="1125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6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47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D3ACF39E-B8E4-4378-8E7A-7CACAAA6C773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26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6750000" cy="37527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91220"/>
              </a:lnSpc>
              <a:buNone/>
            </a:pPr>
            <a:r>
              <a:rPr lang="en-US" sz="19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if Jordan's interviews ran 2011 to 2014?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60592" y="406226"/>
            <a:ext cx="190500" cy="104775"/>
          </a:xfrm>
          <a:prstGeom prst="roundRect">
            <a:avLst>
              <a:gd name="adj" fmla="val 22727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608242" y="394320"/>
            <a:ext cx="1049982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D48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2010 tract boundaries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523875" y="946770"/>
            <a:ext cx="8096250" cy="818629"/>
          </a:xfrm>
          <a:prstGeom prst="roundRect">
            <a:avLst>
              <a:gd name="adj" fmla="val 3949"/>
            </a:avLst>
          </a:prstGeom>
          <a:solidFill>
            <a:srgbClr val="F5F8F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1022970"/>
            <a:ext cx="826368" cy="1428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8175" y="1203945"/>
            <a:ext cx="1302648" cy="1614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Socioeconomic Status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523875" y="1432024"/>
            <a:ext cx="2679427" cy="257175"/>
          </a:xfrm>
          <a:prstGeom prst="roundRect">
            <a:avLst>
              <a:gd name="adj" fmla="val 14815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3684" y="1432024"/>
            <a:ext cx="2759810" cy="2762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1402" y="1432024"/>
            <a:ext cx="2679427" cy="257175"/>
          </a:xfrm>
          <a:prstGeom prst="roundRect">
            <a:avLst>
              <a:gd name="adj" fmla="val 14815"/>
            </a:avLst>
          </a:prstGeom>
          <a:solidFill>
            <a:srgbClr val="CFEA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201210" y="1432024"/>
            <a:ext cx="2759810" cy="2762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3875" y="1822549"/>
            <a:ext cx="8096250" cy="438150"/>
          </a:xfrm>
          <a:prstGeom prst="roundRect">
            <a:avLst>
              <a:gd name="adj" fmla="val 13043"/>
            </a:avLst>
          </a:prstGeom>
          <a:solidFill>
            <a:srgbClr val="E8F3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38175" y="1889224"/>
            <a:ext cx="304800" cy="304800"/>
          </a:xfrm>
          <a:prstGeom prst="ellipse">
            <a:avLst/>
          </a:prstGeom>
          <a:solidFill>
            <a:srgbClr val="DFE6E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889224"/>
            <a:ext cx="304800" cy="304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19175" y="1913260"/>
            <a:ext cx="1139920" cy="1333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DATA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19175" y="2027560"/>
            <a:ext cx="1139920" cy="1614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85000" lnSpcReduction="10000"/>
          </a:bodyPr>
          <a:lstStyle/>
          <a:p>
            <a:pPr marL="0" indent="0" algn="l">
              <a:lnSpc>
                <a:spcPct val="96452"/>
              </a:lnSpc>
              <a:buNone/>
            </a:pPr>
            <a:r>
              <a:rPr lang="en-US" sz="975" b="1" dirty="0">
                <a:solidFill>
                  <a:srgbClr val="3A9B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Jordan's interviews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2198886" y="192732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22"/>
          <p:cNvSpPr/>
          <p:nvPr/>
        </p:nvSpPr>
        <p:spPr>
          <a:xfrm>
            <a:off x="2179836" y="192732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2011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2738165" y="192732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24"/>
          <p:cNvSpPr/>
          <p:nvPr/>
        </p:nvSpPr>
        <p:spPr>
          <a:xfrm>
            <a:off x="2719115" y="192732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2012</a:t>
            </a:r>
            <a:endParaRPr lang="en-US" sz="975" dirty="0"/>
          </a:p>
        </p:txBody>
      </p:sp>
      <p:sp>
        <p:nvSpPr>
          <p:cNvPr id="29" name="Shape 25"/>
          <p:cNvSpPr/>
          <p:nvPr/>
        </p:nvSpPr>
        <p:spPr>
          <a:xfrm>
            <a:off x="3278188" y="192732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26"/>
          <p:cNvSpPr/>
          <p:nvPr/>
        </p:nvSpPr>
        <p:spPr>
          <a:xfrm>
            <a:off x="3259138" y="192732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</a:t>
            </a:r>
            <a:endParaRPr lang="en-US" sz="975" dirty="0"/>
          </a:p>
        </p:txBody>
      </p:sp>
      <p:sp>
        <p:nvSpPr>
          <p:cNvPr id="31" name="Shape 27"/>
          <p:cNvSpPr/>
          <p:nvPr/>
        </p:nvSpPr>
        <p:spPr>
          <a:xfrm>
            <a:off x="3818136" y="1927324"/>
            <a:ext cx="428625" cy="228600"/>
          </a:xfrm>
          <a:prstGeom prst="roundRect">
            <a:avLst>
              <a:gd name="adj" fmla="val 50000"/>
            </a:avLst>
          </a:prstGeom>
          <a:solidFill>
            <a:srgbClr val="3A9B1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28"/>
          <p:cNvSpPr/>
          <p:nvPr/>
        </p:nvSpPr>
        <p:spPr>
          <a:xfrm>
            <a:off x="3799086" y="1927324"/>
            <a:ext cx="466725" cy="247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2014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523875" y="2317849"/>
            <a:ext cx="8096250" cy="9525"/>
          </a:xfrm>
          <a:prstGeom prst="rect">
            <a:avLst/>
          </a:prstGeom>
          <a:solidFill>
            <a:srgbClr val="DFE6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399082" y="237499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2018332" y="237499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2011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637582" y="237499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2014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256832" y="237499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2017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876082" y="237499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2020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495332" y="2374999"/>
            <a:ext cx="287685" cy="15716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A55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2023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83684" y="3498075"/>
            <a:ext cx="8096250" cy="700088"/>
          </a:xfrm>
          <a:prstGeom prst="roundRect">
            <a:avLst>
              <a:gd name="adj" fmla="val 9524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44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D3ACF39E-B8E4-4378-8E7A-7CACAAA6C773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27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F38885D6-809F-CADC-5F29-5659ECC37D77}"/>
              </a:ext>
            </a:extLst>
          </p:cNvPr>
          <p:cNvSpPr/>
          <p:nvPr/>
        </p:nvSpPr>
        <p:spPr>
          <a:xfrm>
            <a:off x="666590" y="3616410"/>
            <a:ext cx="1515554" cy="433388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Pick one </a:t>
            </a:r>
          </a:p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 use both.</a:t>
            </a:r>
            <a:endParaRPr lang="en-US" sz="1125" dirty="0"/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4FBF1736-D24E-DDE6-B755-1C7D3BFA53D5}"/>
              </a:ext>
            </a:extLst>
          </p:cNvPr>
          <p:cNvSpPr/>
          <p:nvPr/>
        </p:nvSpPr>
        <p:spPr>
          <a:xfrm>
            <a:off x="2177716" y="3616411"/>
            <a:ext cx="6390248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Both windows use 2010 boundaries, so either one links. Say which you chose and why in your methods.</a:t>
            </a:r>
            <a:endParaRPr lang="en-US" sz="1125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01CD7DA8-805C-8FC5-0EA2-9AF337748909}"/>
              </a:ext>
            </a:extLst>
          </p:cNvPr>
          <p:cNvSpPr/>
          <p:nvPr/>
        </p:nvSpPr>
        <p:spPr>
          <a:xfrm>
            <a:off x="600075" y="2711654"/>
            <a:ext cx="4071462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2008 to 2012 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overlaps 2011 and 2012. Closest to enrollment, when the addresses were collected.</a:t>
            </a:r>
            <a:endParaRPr lang="en-US" sz="1200" dirty="0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13163A94-8E06-CE33-F388-0CE41AED571C}"/>
              </a:ext>
            </a:extLst>
          </p:cNvPr>
          <p:cNvSpPr/>
          <p:nvPr/>
        </p:nvSpPr>
        <p:spPr>
          <a:xfrm>
            <a:off x="4743450" y="2711654"/>
            <a:ext cx="4071462" cy="4762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12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2013 to 2017 </a:t>
            </a: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overlaps 2013 and 2014. Closest to the later interviews.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00041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6910594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dataset: neighborhood poverty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923925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4825" y="923925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0125" y="962025"/>
            <a:ext cx="3697984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</a:t>
            </a:r>
            <a:r>
              <a:rPr lang="en-US" sz="1125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NaNDA repository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on ICPSR for "</a:t>
            </a:r>
            <a:r>
              <a:rPr lang="en-US" sz="1125" i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poverty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".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523875" y="1371600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4825" y="1371600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0125" y="1409700"/>
            <a:ext cx="2384286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Title.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Topic, geography, and years.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523875" y="1819275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4825" y="1819275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0125" y="1857375"/>
            <a:ext cx="4316730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Data &amp; documentation.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Filenames include geographic boundaries and years.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523875" y="2414588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4825" y="2414588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0125" y="2452688"/>
            <a:ext cx="4316730" cy="6405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 the data dictionary.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Preview variable names and labels (e.g., tract_fips10, Census Tract FIPS code, 2010) </a:t>
            </a:r>
            <a:r>
              <a:rPr lang="en-US" sz="975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must be logged in to ICPSR to preview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523875" y="3217069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04825" y="3217069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0125" y="3255169"/>
            <a:ext cx="4316730" cy="4333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 the citation.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Add the dataset DOI (or full citation) to your notes or citation management software.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381625" y="923925"/>
            <a:ext cx="3238500" cy="3452812"/>
          </a:xfrm>
          <a:prstGeom prst="roundRect">
            <a:avLst>
              <a:gd name="adj" fmla="val 2059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595938" y="1119188"/>
            <a:ext cx="3090862" cy="1675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586"/>
              </a:lnSpc>
              <a:buNone/>
            </a:pPr>
            <a:r>
              <a:rPr lang="en-US" sz="900" kern="0" spc="36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ICPSR STUDY PAGE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95938" y="1353443"/>
            <a:ext cx="2983706" cy="6747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85000" lnSpcReduction="10000"/>
          </a:bodyPr>
          <a:lstStyle/>
          <a:p>
            <a:pPr marL="0" indent="0" algn="l">
              <a:lnSpc>
                <a:spcPct val="111951"/>
              </a:lnSpc>
              <a:buNone/>
            </a:pPr>
            <a:r>
              <a:rPr lang="en-US" sz="12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Socioeconomic Status and Demographic Characteristics of Census Tracts, United States, 1990-2022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5595938" y="2113880"/>
            <a:ext cx="1230511" cy="223838"/>
          </a:xfrm>
          <a:prstGeom prst="roundRect">
            <a:avLst>
              <a:gd name="adj" fmla="val 29787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81662" y="2113880"/>
            <a:ext cx="1097161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79872" y="2113880"/>
            <a:ext cx="1097161" cy="223838"/>
          </a:xfrm>
          <a:prstGeom prst="roundRect">
            <a:avLst>
              <a:gd name="adj" fmla="val 29787"/>
            </a:avLst>
          </a:prstGeom>
          <a:solidFill>
            <a:srgbClr val="B9C8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965597" y="2113880"/>
            <a:ext cx="963811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 2020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95938" y="2385343"/>
            <a:ext cx="717202" cy="223838"/>
          </a:xfrm>
          <a:prstGeom prst="roundRect">
            <a:avLst>
              <a:gd name="adj" fmla="val 29787"/>
            </a:avLst>
          </a:prstGeom>
          <a:solidFill>
            <a:srgbClr val="B9C8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681662" y="2385343"/>
            <a:ext cx="583852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60765" y="2385343"/>
            <a:ext cx="717202" cy="223838"/>
          </a:xfrm>
          <a:prstGeom prst="roundRect">
            <a:avLst>
              <a:gd name="adj" fmla="val 29787"/>
            </a:avLst>
          </a:prstGeom>
          <a:solidFill>
            <a:srgbClr val="B9C8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490" y="2385343"/>
            <a:ext cx="583852" cy="2428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 2020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95938" y="2733006"/>
            <a:ext cx="2809875" cy="476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595938" y="2842543"/>
            <a:ext cx="1178719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tract_fips10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667500" y="2842543"/>
            <a:ext cx="1912144" cy="186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tract, 2010 boundaries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595938" y="3066827"/>
            <a:ext cx="1109662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667500" y="3066827"/>
            <a:ext cx="1790462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5-year ACS window, e.g. 2013 to 2017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595938" y="3458244"/>
            <a:ext cx="1109662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ppov13_17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6667500" y="3458244"/>
            <a:ext cx="1790462" cy="35331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Proportion of people below the poverty line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5595937" y="3954438"/>
            <a:ext cx="2862024" cy="285750"/>
          </a:xfrm>
          <a:prstGeom prst="roundRect">
            <a:avLst>
              <a:gd name="adj" fmla="val 23333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8" name="Text 36"/>
          <p:cNvSpPr/>
          <p:nvPr/>
        </p:nvSpPr>
        <p:spPr>
          <a:xfrm>
            <a:off x="5680006" y="3947812"/>
            <a:ext cx="2859882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 Dataset DOI (digital object identifier)</a:t>
            </a:r>
            <a:endParaRPr lang="en-US" sz="975" dirty="0"/>
          </a:p>
        </p:txBody>
      </p:sp>
      <p:pic>
        <p:nvPicPr>
          <p:cNvPr id="39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40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E1DDCAB0-AF4F-40C1-A355-24206FCEBE4B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28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4730612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and When, so far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981075"/>
            <a:ext cx="3952875" cy="2476500"/>
          </a:xfrm>
          <a:prstGeom prst="roundRect">
            <a:avLst>
              <a:gd name="adj" fmla="val 269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8188" y="1176338"/>
            <a:ext cx="3876675" cy="27049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623"/>
              </a:lnSpc>
              <a:buNone/>
            </a:pPr>
            <a:r>
              <a:rPr lang="en-US" sz="16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81050" y="1523032"/>
            <a:ext cx="3519488" cy="1204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100012" indent="-100012" algn="l">
              <a:lnSpc>
                <a:spcPct val="125000"/>
              </a:lnSpc>
              <a:buSzPct val="100000"/>
              <a:buChar char="•"/>
              <a:tabLst>
                <a:tab pos="100012" algn="l"/>
              </a:tabLst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tracts nest within counties. ZCTAs nest in nothing.</a:t>
            </a:r>
            <a:endParaRPr lang="en-US" sz="1125" dirty="0"/>
          </a:p>
          <a:p>
            <a:pPr marL="100012" indent="-100012" algn="l">
              <a:lnSpc>
                <a:spcPct val="125000"/>
              </a:lnSpc>
              <a:buSzPct val="100000"/>
              <a:buChar char="•"/>
              <a:tabLst>
                <a:tab pos="100012" algn="l"/>
              </a:tabLst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ZIP ≠ ZCTA. ZIP codes need a crosswalk first.</a:t>
            </a:r>
            <a:endParaRPr lang="en-US" sz="1125" dirty="0"/>
          </a:p>
          <a:p>
            <a:pPr marL="100012" indent="-100012" algn="l">
              <a:lnSpc>
                <a:spcPct val="125000"/>
              </a:lnSpc>
              <a:buSzPct val="100000"/>
              <a:buChar char="•"/>
              <a:tabLst>
                <a:tab pos="100012" algn="l"/>
              </a:tabLst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 follow the geocoding date: before 2020 means 2010.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738188" y="2942332"/>
            <a:ext cx="3524250" cy="319980"/>
          </a:xfrm>
          <a:prstGeom prst="roundRect">
            <a:avLst>
              <a:gd name="adj" fmla="val 20837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52488" y="3009007"/>
            <a:ext cx="3401378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Jordan: </a:t>
            </a:r>
            <a:r>
              <a:rPr lang="en-US" sz="1050" dirty="0">
                <a:solidFill>
                  <a:srgbClr val="050708"/>
                </a:solidFill>
                <a:highlight>
                  <a:srgbClr val="E6F4FC"/>
                </a:highlight>
                <a:latin typeface="Tahoma" pitchFamily="34" charset="0"/>
                <a:ea typeface="Tahoma" pitchFamily="34" charset="-122"/>
                <a:cs typeface="Tahoma" pitchFamily="34" charset="-120"/>
              </a:rPr>
              <a:t>2010 tracts, linked on tract_fips10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7250" y="981075"/>
            <a:ext cx="3952875" cy="2476500"/>
          </a:xfrm>
          <a:prstGeom prst="roundRect">
            <a:avLst>
              <a:gd name="adj" fmla="val 2692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81562" y="1176338"/>
            <a:ext cx="3876675" cy="27049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0" indent="0" algn="l">
              <a:lnSpc>
                <a:spcPct val="99623"/>
              </a:lnSpc>
              <a:buNone/>
            </a:pPr>
            <a:r>
              <a:rPr lang="en-US" sz="16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924425" y="1523032"/>
            <a:ext cx="3519488" cy="1204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100012" indent="-100012" algn="l">
              <a:lnSpc>
                <a:spcPct val="125000"/>
              </a:lnSpc>
              <a:buSzPct val="100000"/>
              <a:buChar char="•"/>
              <a:tabLst>
                <a:tab pos="100012" algn="l"/>
              </a:tabLst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Yearly datasets: match the interview year.</a:t>
            </a:r>
            <a:endParaRPr lang="en-US" sz="1125" dirty="0"/>
          </a:p>
          <a:p>
            <a:pPr marL="100012" indent="-100012" algn="l">
              <a:lnSpc>
                <a:spcPct val="125000"/>
              </a:lnSpc>
              <a:buSzPct val="100000"/>
              <a:buChar char="•"/>
              <a:tabLst>
                <a:tab pos="100012" algn="l"/>
              </a:tabLst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datasets: pick the window that overlaps most, and say so.</a:t>
            </a:r>
            <a:endParaRPr lang="en-US" sz="1125" dirty="0"/>
          </a:p>
          <a:p>
            <a:pPr marL="100012" indent="-100012" algn="l">
              <a:lnSpc>
                <a:spcPct val="125000"/>
              </a:lnSpc>
              <a:buSzPct val="100000"/>
              <a:buChar char="•"/>
              <a:tabLst>
                <a:tab pos="100012" algn="l"/>
              </a:tabLst>
            </a:pP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Boundaries first, then years. A year or two of gap is fine.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881562" y="2755702"/>
            <a:ext cx="3524250" cy="506611"/>
          </a:xfrm>
          <a:prstGeom prst="roundRect">
            <a:avLst>
              <a:gd name="adj" fmla="val 13161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995862" y="2822376"/>
            <a:ext cx="3401378" cy="39231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Jordan: </a:t>
            </a:r>
            <a:r>
              <a:rPr lang="en-US" sz="1050" dirty="0">
                <a:solidFill>
                  <a:srgbClr val="050708"/>
                </a:solidFill>
                <a:highlight>
                  <a:srgbClr val="E6F4FC"/>
                </a:highlight>
                <a:latin typeface="Tahoma" pitchFamily="34" charset="0"/>
                <a:ea typeface="Tahoma" pitchFamily="34" charset="-122"/>
                <a:cs typeface="Tahoma" pitchFamily="34" charset="-120"/>
              </a:rPr>
              <a:t>Civic 2016 to 2019, every year. SES 2013 to 2017, gap noted in methods.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3875" y="3924300"/>
            <a:ext cx="6286500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333A3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Want a refresher after today? </a:t>
            </a:r>
            <a:r>
              <a:rPr lang="en-US" sz="1125" b="1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NaNDA's guide to geographies</a:t>
            </a:r>
            <a:endParaRPr lang="en-US" sz="1125" dirty="0"/>
          </a:p>
        </p:txBody>
      </p:sp>
      <p:pic>
        <p:nvPicPr>
          <p:cNvPr id="1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25" y="3524250"/>
            <a:ext cx="952500" cy="952500"/>
          </a:xfrm>
          <a:prstGeom prst="rect">
            <a:avLst/>
          </a:prstGeom>
        </p:spPr>
      </p:pic>
      <p:pic>
        <p:nvPicPr>
          <p:cNvPr id="16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17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D521FE69-52E4-43C2-9185-67BAF84DAC75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29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728788"/>
            <a:ext cx="93470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 3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2033588"/>
            <a:ext cx="3895725" cy="781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2902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23875" y="2928938"/>
            <a:ext cx="5181124" cy="2723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a dataset yourself: a five-minute scavenger hunt.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42872377-F713-46CD-ACA0-7F98B1176F54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30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3262312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Scavenger hunt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3875" y="809625"/>
            <a:ext cx="6568297" cy="460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974"/>
              </a:lnSpc>
              <a:buNone/>
            </a:pPr>
            <a:r>
              <a:rPr lang="en-US" sz="120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Pick one prompt. Search NaNDA on ICPSR, find a dataset that fits, and post its name in the chat.</a:t>
            </a:r>
            <a:endParaRPr lang="en-US" sz="1200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42875"/>
            <a:ext cx="1143000" cy="114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3875" y="1438275"/>
            <a:ext cx="2609850" cy="1724025"/>
          </a:xfrm>
          <a:prstGeom prst="roundRect">
            <a:avLst>
              <a:gd name="adj" fmla="val 3867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19138" y="1614488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00088" y="1614488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9138" y="2033588"/>
            <a:ext cx="244125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Food access: grocery stores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9138" y="2351708"/>
            <a:ext cx="8015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447800" y="2351708"/>
            <a:ext cx="16397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9138" y="2566913"/>
            <a:ext cx="766762" cy="39231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447800" y="2566913"/>
            <a:ext cx="1535382" cy="39231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tract, 2010 boundaries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67075" y="1438275"/>
            <a:ext cx="2609850" cy="1724025"/>
          </a:xfrm>
          <a:prstGeom prst="roundRect">
            <a:avLst>
              <a:gd name="adj" fmla="val 3867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462338" y="1614488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443288" y="1614488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62338" y="2033588"/>
            <a:ext cx="2285905" cy="4647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Getting around: public transit stops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462338" y="2574578"/>
            <a:ext cx="8015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91000" y="2574578"/>
            <a:ext cx="16397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2016 to 2018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62338" y="2789783"/>
            <a:ext cx="8015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91000" y="2789783"/>
            <a:ext cx="16397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ZCTA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10275" y="1438275"/>
            <a:ext cx="2609850" cy="1724025"/>
          </a:xfrm>
          <a:prstGeom prst="roundRect">
            <a:avLst>
              <a:gd name="adj" fmla="val 3867"/>
            </a:avLst>
          </a:prstGeom>
          <a:solidFill>
            <a:srgbClr val="D8E1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6205538" y="1614488"/>
            <a:ext cx="304800" cy="304800"/>
          </a:xfrm>
          <a:prstGeom prst="ellipse">
            <a:avLst/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186488" y="1614488"/>
            <a:ext cx="342900" cy="3238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05538" y="2033588"/>
            <a:ext cx="2285905" cy="4647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Staying connected: Internet access at home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205538" y="2574578"/>
            <a:ext cx="8015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Years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934200" y="2574578"/>
            <a:ext cx="16397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2015 to 2019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05538" y="2789783"/>
            <a:ext cx="8015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525C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Geography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34200" y="2789783"/>
            <a:ext cx="1639729" cy="205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Census tract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23875" y="3886200"/>
            <a:ext cx="8096250" cy="447675"/>
          </a:xfrm>
          <a:prstGeom prst="roundRect">
            <a:avLst>
              <a:gd name="adj" fmla="val 14894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714375" y="4006453"/>
            <a:ext cx="4424288" cy="22621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Tip: 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 a single plain word, like </a:t>
            </a:r>
            <a:r>
              <a:rPr lang="en-US" sz="1125" i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grocery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</a:t>
            </a:r>
            <a:r>
              <a:rPr lang="en-US" sz="1125" i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transit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or </a:t>
            </a:r>
            <a:r>
              <a:rPr lang="en-US" sz="1125" i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internet</a:t>
            </a:r>
            <a:r>
              <a:rPr lang="en-US" sz="1125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en-US" sz="1125" dirty="0"/>
          </a:p>
        </p:txBody>
      </p:sp>
      <p:pic>
        <p:nvPicPr>
          <p:cNvPr id="32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33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FD75FED5-9851-4D03-9DE3-0F7BC968FA1A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31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728788"/>
            <a:ext cx="934708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 4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2033588"/>
            <a:ext cx="4485446" cy="781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82902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Your turn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23875" y="2928938"/>
            <a:ext cx="4851416" cy="52566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one dataset you would actually consider using for your own research question.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C8757E10-AE30-483E-B9FA-E11F867D8E08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32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23875" y="381000"/>
            <a:ext cx="5446230" cy="36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0000"/>
          </a:bodyPr>
          <a:lstStyle/>
          <a:p>
            <a:pPr marL="0" indent="0" algn="l">
              <a:lnSpc>
                <a:spcPct val="95584"/>
              </a:lnSpc>
              <a:buNone/>
            </a:pPr>
            <a:r>
              <a:rPr lang="en-US" sz="240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the next 8 minutes run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3875" y="942975"/>
            <a:ext cx="3069952" cy="266700"/>
          </a:xfrm>
          <a:prstGeom prst="roundRect">
            <a:avLst>
              <a:gd name="adj" fmla="val 25000"/>
            </a:avLst>
          </a:prstGeom>
          <a:solidFill>
            <a:srgbClr val="004A9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7225" y="942975"/>
            <a:ext cx="28953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 to 4 min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0977" y="942975"/>
            <a:ext cx="3069952" cy="266700"/>
          </a:xfrm>
          <a:prstGeom prst="roundRect">
            <a:avLst>
              <a:gd name="adj" fmla="val 25000"/>
            </a:avLst>
          </a:prstGeom>
          <a:solidFill>
            <a:srgbClr val="1D9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784327" y="942975"/>
            <a:ext cx="2895350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to 7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78080" y="942975"/>
            <a:ext cx="1842046" cy="266700"/>
          </a:xfrm>
          <a:prstGeom prst="roundRect">
            <a:avLst>
              <a:gd name="adj" fmla="val 25000"/>
            </a:avLst>
          </a:prstGeom>
          <a:solidFill>
            <a:srgbClr val="CDEA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11430" y="942975"/>
            <a:ext cx="1630607" cy="285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to 8 min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7225" y="1323975"/>
            <a:ext cx="308357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 on your own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7225" y="1594470"/>
            <a:ext cx="2887350" cy="79236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Fill in Where, When and What for your project. Browse topics on the NaNDA website, then open the dataset on ICPSR for its files and variables.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84327" y="1323975"/>
            <a:ext cx="3083578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Share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84327" y="1594470"/>
            <a:ext cx="2887350" cy="40570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the chat or unmute: dataset, geography, years, and why it fits.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11430" y="1323975"/>
            <a:ext cx="1732880" cy="241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837"/>
              </a:lnSpc>
              <a:buNone/>
            </a:pPr>
            <a:r>
              <a:rPr lang="en-US" sz="1350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Questions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11430" y="1594470"/>
            <a:ext cx="1622606" cy="59903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050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Anything about finding, downloading, or linking a dataset.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3875" y="3309938"/>
            <a:ext cx="8096250" cy="1023938"/>
          </a:xfrm>
          <a:prstGeom prst="roundRect">
            <a:avLst>
              <a:gd name="adj" fmla="val 6512"/>
            </a:avLst>
          </a:prstGeom>
          <a:solidFill>
            <a:srgbClr val="E6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4375" y="3462338"/>
            <a:ext cx="704850" cy="76467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7805"/>
              </a:lnSpc>
              <a:buNone/>
            </a:pPr>
            <a:r>
              <a:rPr lang="en-US" sz="1275" b="1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Stuck?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504950" y="3462338"/>
            <a:ext cx="2292420" cy="76467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12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sure what location data you have? </a:t>
            </a:r>
            <a:r>
              <a:rPr lang="en-US" sz="1012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 your codebook or data use agreement.</a:t>
            </a:r>
            <a:endParaRPr lang="en-US" sz="1012" dirty="0"/>
          </a:p>
        </p:txBody>
      </p:sp>
      <p:sp>
        <p:nvSpPr>
          <p:cNvPr id="19" name="Text 17"/>
          <p:cNvSpPr/>
          <p:nvPr/>
        </p:nvSpPr>
        <p:spPr>
          <a:xfrm>
            <a:off x="3854425" y="3462338"/>
            <a:ext cx="2292420" cy="76467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12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Have ZIP codes? </a:t>
            </a:r>
            <a:r>
              <a:rPr lang="en-US" sz="1012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Crosswalk to ZCTAs first.</a:t>
            </a:r>
            <a:endParaRPr lang="en-US" sz="1012" dirty="0"/>
          </a:p>
        </p:txBody>
      </p:sp>
      <p:sp>
        <p:nvSpPr>
          <p:cNvPr id="20" name="Text 18"/>
          <p:cNvSpPr/>
          <p:nvPr/>
        </p:nvSpPr>
        <p:spPr>
          <a:xfrm>
            <a:off x="6203900" y="3462338"/>
            <a:ext cx="2292496" cy="76467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12" b="1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Can't find your topic? </a:t>
            </a:r>
            <a:r>
              <a:rPr lang="en-US" sz="1012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Try browsing the </a:t>
            </a:r>
            <a:r>
              <a:rPr lang="en-US" sz="1012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NaNDA data page</a:t>
            </a:r>
            <a:r>
              <a:rPr lang="en-US" sz="1012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 Still stuck? Email </a:t>
            </a:r>
            <a:r>
              <a:rPr lang="en-US" sz="1012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nanda-admin@umich.edu</a:t>
            </a:r>
            <a:r>
              <a:rPr lang="en-US" sz="1012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, or </a:t>
            </a:r>
            <a:r>
              <a:rPr lang="en-US" sz="1012" u="sng" dirty="0">
                <a:solidFill>
                  <a:srgbClr val="004A98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 Office Hours</a:t>
            </a:r>
            <a:r>
              <a:rPr lang="en-US" sz="1012" dirty="0">
                <a:solidFill>
                  <a:srgbClr val="05070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</a:t>
            </a:r>
            <a:endParaRPr lang="en-US" sz="1012" dirty="0"/>
          </a:p>
        </p:txBody>
      </p:sp>
      <p:pic>
        <p:nvPicPr>
          <p:cNvPr id="21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38650"/>
            <a:ext cx="1323975" cy="228600"/>
          </a:xfrm>
          <a:prstGeom prst="rect">
            <a:avLst/>
          </a:prstGeom>
        </p:spPr>
      </p:pic>
      <p:sp>
        <p:nvSpPr>
          <p:cNvPr id="22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3AECC445-EA3D-4E00-869A-55D7A7870E89}" type="slidenum">
              <a:rPr lang="en-US" sz="1000">
                <a:solidFill>
                  <a:srgbClr val="525C63"/>
                </a:solidFill>
                <a:latin typeface="Tahoma"/>
                <a:cs typeface="Tahoma"/>
              </a:rPr>
              <a:t>33</a:t>
            </a:fld>
            <a:endParaRPr lang="en-US" sz="1000">
              <a:solidFill>
                <a:srgbClr val="525C63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1428750"/>
            <a:ext cx="1185840" cy="2047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kern="0" spc="90" dirty="0">
                <a:solidFill>
                  <a:srgbClr val="59D3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WRAP-UP</a:t>
            </a:r>
            <a:endParaRPr lang="en-US" sz="112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23875" y="1733550"/>
            <a:ext cx="5762625" cy="48004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9132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Keep your handout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23875" y="2857500"/>
            <a:ext cx="4905375" cy="77896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E6F4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When we reconvene, share one takeaway with the full group. The handout stays open after today, and the scavenger hunt answers are at the bottom.</a:t>
            </a:r>
            <a:endParaRPr lang="en-US" sz="1425" dirty="0"/>
          </a:p>
        </p:txBody>
      </p:sp>
      <p:pic>
        <p:nvPicPr>
          <p:cNvPr id="5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443038"/>
            <a:ext cx="2857500" cy="2257425"/>
          </a:xfrm>
          <a:prstGeom prst="rect">
            <a:avLst/>
          </a:prstGeom>
        </p:spPr>
      </p:pic>
      <p:sp>
        <p:nvSpPr>
          <p:cNvPr id="6" name="Slide Number"/>
          <p:cNvSpPr txBox="1"/>
          <p:nvPr/>
        </p:nvSpPr>
        <p:spPr>
          <a:xfrm>
            <a:off x="7920125" y="4438650"/>
            <a:ext cx="700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fld id="{98D7FC73-DA78-4C4F-BD13-136673974276}" type="slidenum">
              <a:rPr lang="en-US" sz="1000">
                <a:solidFill>
                  <a:srgbClr val="CDEAF8"/>
                </a:solidFill>
                <a:latin typeface="Tahoma"/>
                <a:cs typeface="Tahoma"/>
              </a:rPr>
              <a:t>34</a:t>
            </a:fld>
            <a:endParaRPr lang="en-US" sz="1000">
              <a:solidFill>
                <a:srgbClr val="CDEAF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3175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2660</Words>
  <Application>Microsoft Office PowerPoint</Application>
  <PresentationFormat>On-screen Show (16:9)</PresentationFormat>
  <Paragraphs>551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Tahoma</vt:lpstr>
      <vt:lpstr>Office Theme</vt:lpstr>
      <vt:lpstr>Choosing Your First NaNDA Dataset</vt:lpstr>
      <vt:lpstr>Three questions, one dataset</vt:lpstr>
      <vt:lpstr>Meet Jordan Ellis</vt:lpstr>
      <vt:lpstr>Where?</vt:lpstr>
      <vt:lpstr>Census tracts and ZCTAs</vt:lpstr>
      <vt:lpstr>The Census geography hierarchy</vt:lpstr>
      <vt:lpstr>Tracts and ZCTAs</vt:lpstr>
      <vt:lpstr>How a FIPS code grows</vt:lpstr>
      <vt:lpstr>ZCTA codes are a separate system</vt:lpstr>
      <vt:lpstr>Geographic boundaries</vt:lpstr>
      <vt:lpstr>Which geographic boundaries fit Jordan's research?</vt:lpstr>
      <vt:lpstr>The answer is A: Census Tract 2010</vt:lpstr>
      <vt:lpstr>Jordan's boundaries: 2010</vt:lpstr>
      <vt:lpstr>NaNDA location variables</vt:lpstr>
      <vt:lpstr>Search NaNDA for 2010 census tract datasets</vt:lpstr>
      <vt:lpstr>Where, so far</vt:lpstr>
      <vt:lpstr>When?</vt:lpstr>
      <vt:lpstr>Two kinds of timing</vt:lpstr>
      <vt:lpstr>Yearly dataset</vt:lpstr>
      <vt:lpstr>Which years does Jordan use?</vt:lpstr>
      <vt:lpstr>The answer is B: every interview year</vt:lpstr>
      <vt:lpstr>One year, or every year?</vt:lpstr>
      <vt:lpstr>Period dataset</vt:lpstr>
      <vt:lpstr>Socioeconomic Status: the files</vt:lpstr>
      <vt:lpstr>Which 5-year window fits Jordan's research?</vt:lpstr>
      <vt:lpstr>The answer is A: 2013 to 2017</vt:lpstr>
      <vt:lpstr>What if Jordan's interviews ran 2011 to 2014?</vt:lpstr>
      <vt:lpstr>Period dataset: neighborhood poverty</vt:lpstr>
      <vt:lpstr>Where and When, so far</vt:lpstr>
      <vt:lpstr>What?</vt:lpstr>
      <vt:lpstr>Scavenger hunt</vt:lpstr>
      <vt:lpstr>Your turn</vt:lpstr>
      <vt:lpstr>How the next 8 minutes run</vt:lpstr>
      <vt:lpstr>Keep your handout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29</cp:revision>
  <dcterms:created xsi:type="dcterms:W3CDTF">2026-09-24T20:41:43Z</dcterms:created>
  <dcterms:modified xsi:type="dcterms:W3CDTF">2026-09-30T21:01:23Z</dcterms:modified>
</cp:coreProperties>
</file>